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notesSlides/notesSlide2.xml" ContentType="application/vnd.openxmlformats-officedocument.presentationml.notesSlide+xml"/>
  <Override PartName="/ppt/tags/tag10.xml" ContentType="application/vnd.openxmlformats-officedocument.presentationml.tags+xml"/>
  <Override PartName="/ppt/notesSlides/notesSlide3.xml" ContentType="application/vnd.openxmlformats-officedocument.presentationml.notesSlide+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notesSlides/notesSlide5.xml" ContentType="application/vnd.openxmlformats-officedocument.presentationml.notesSlide+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notesSlides/notesSlide7.xml" ContentType="application/vnd.openxmlformats-officedocument.presentationml.notesSlide+xml"/>
  <Override PartName="/ppt/tags/tag15.xml" ContentType="application/vnd.openxmlformats-officedocument.presentationml.tags+xml"/>
  <Override PartName="/ppt/notesSlides/notesSlide8.xml" ContentType="application/vnd.openxmlformats-officedocument.presentationml.notesSlide+xml"/>
  <Override PartName="/ppt/tags/tag16.xml" ContentType="application/vnd.openxmlformats-officedocument.presentationml.tags+xml"/>
  <Override PartName="/ppt/notesSlides/notesSlide9.xml" ContentType="application/vnd.openxmlformats-officedocument.presentationml.notesSlide+xml"/>
  <Override PartName="/ppt/tags/tag17.xml" ContentType="application/vnd.openxmlformats-officedocument.presentationml.tags+xml"/>
  <Override PartName="/ppt/notesSlides/notesSlide10.xml" ContentType="application/vnd.openxmlformats-officedocument.presentationml.notesSlide+xml"/>
  <Override PartName="/ppt/tags/tag18.xml" ContentType="application/vnd.openxmlformats-officedocument.presentationml.tags+xml"/>
  <Override PartName="/ppt/notesSlides/notesSlide11.xml" ContentType="application/vnd.openxmlformats-officedocument.presentationml.notesSlide+xml"/>
  <Override PartName="/ppt/tags/tag19.xml" ContentType="application/vnd.openxmlformats-officedocument.presentationml.tags+xml"/>
  <Override PartName="/ppt/notesSlides/notesSlide12.xml" ContentType="application/vnd.openxmlformats-officedocument.presentationml.notesSlide+xml"/>
  <Override PartName="/ppt/tags/tag20.xml" ContentType="application/vnd.openxmlformats-officedocument.presentationml.tags+xml"/>
  <Override PartName="/ppt/notesSlides/notesSlide13.xml" ContentType="application/vnd.openxmlformats-officedocument.presentationml.notesSlide+xml"/>
  <Override PartName="/ppt/tags/tag21.xml" ContentType="application/vnd.openxmlformats-officedocument.presentationml.tags+xml"/>
  <Override PartName="/ppt/notesSlides/notesSlide14.xml" ContentType="application/vnd.openxmlformats-officedocument.presentationml.notesSlide+xml"/>
  <Override PartName="/ppt/tags/tag22.xml" ContentType="application/vnd.openxmlformats-officedocument.presentationml.tags+xml"/>
  <Override PartName="/ppt/notesSlides/notesSlide15.xml" ContentType="application/vnd.openxmlformats-officedocument.presentationml.notesSlide+xml"/>
  <Override PartName="/ppt/tags/tag23.xml" ContentType="application/vnd.openxmlformats-officedocument.presentationml.tags+xml"/>
  <Override PartName="/ppt/notesSlides/notesSlide16.xml" ContentType="application/vnd.openxmlformats-officedocument.presentationml.notesSlide+xml"/>
  <Override PartName="/ppt/tags/tag24.xml" ContentType="application/vnd.openxmlformats-officedocument.presentationml.tags+xml"/>
  <Override PartName="/ppt/notesSlides/notesSlide17.xml" ContentType="application/vnd.openxmlformats-officedocument.presentationml.notesSlide+xml"/>
  <Override PartName="/ppt/tags/tag25.xml" ContentType="application/vnd.openxmlformats-officedocument.presentationml.tags+xml"/>
  <Override PartName="/ppt/notesSlides/notesSlide18.xml" ContentType="application/vnd.openxmlformats-officedocument.presentationml.notesSlide+xml"/>
  <Override PartName="/ppt/tags/tag26.xml" ContentType="application/vnd.openxmlformats-officedocument.presentationml.tags+xml"/>
  <Override PartName="/ppt/notesSlides/notesSlide19.xml" ContentType="application/vnd.openxmlformats-officedocument.presentationml.notesSlide+xml"/>
  <Override PartName="/ppt/tags/tag27.xml" ContentType="application/vnd.openxmlformats-officedocument.presentationml.tags+xml"/>
  <Override PartName="/ppt/notesSlides/notesSlide20.xml" ContentType="application/vnd.openxmlformats-officedocument.presentationml.notesSlide+xml"/>
  <Override PartName="/ppt/tags/tag28.xml" ContentType="application/vnd.openxmlformats-officedocument.presentationml.tags+xml"/>
  <Override PartName="/ppt/notesSlides/notesSlide21.xml" ContentType="application/vnd.openxmlformats-officedocument.presentationml.notesSlide+xml"/>
  <Override PartName="/ppt/tags/tag29.xml" ContentType="application/vnd.openxmlformats-officedocument.presentationml.tags+xml"/>
  <Override PartName="/ppt/notesSlides/notesSlide22.xml" ContentType="application/vnd.openxmlformats-officedocument.presentationml.notesSlide+xml"/>
  <Override PartName="/ppt/tags/tag30.xml" ContentType="application/vnd.openxmlformats-officedocument.presentationml.tags+xml"/>
  <Override PartName="/ppt/notesSlides/notesSlide23.xml" ContentType="application/vnd.openxmlformats-officedocument.presentationml.notesSlide+xml"/>
  <Override PartName="/ppt/tags/tag31.xml" ContentType="application/vnd.openxmlformats-officedocument.presentationml.tags+xml"/>
  <Override PartName="/ppt/notesSlides/notesSlide24.xml" ContentType="application/vnd.openxmlformats-officedocument.presentationml.notesSlide+xml"/>
  <Override PartName="/ppt/tags/tag32.xml" ContentType="application/vnd.openxmlformats-officedocument.presentationml.tags+xml"/>
  <Override PartName="/ppt/notesSlides/notesSlide25.xml" ContentType="application/vnd.openxmlformats-officedocument.presentationml.notesSlide+xml"/>
  <Override PartName="/ppt/tags/tag33.xml" ContentType="application/vnd.openxmlformats-officedocument.presentationml.tags+xml"/>
  <Override PartName="/ppt/notesSlides/notesSlide26.xml" ContentType="application/vnd.openxmlformats-officedocument.presentationml.notesSlide+xml"/>
  <Override PartName="/ppt/tags/tag34.xml" ContentType="application/vnd.openxmlformats-officedocument.presentationml.tags+xml"/>
  <Override PartName="/ppt/notesSlides/notesSlide27.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notesSlides/notesSlide28.xml" ContentType="application/vnd.openxmlformats-officedocument.presentationml.notesSlide+xml"/>
  <Override PartName="/ppt/tags/tag44.xml" ContentType="application/vnd.openxmlformats-officedocument.presentationml.tags+xml"/>
  <Override PartName="/ppt/notesSlides/notesSlide29.xml" ContentType="application/vnd.openxmlformats-officedocument.presentationml.notesSlide+xml"/>
  <Override PartName="/ppt/tags/tag45.xml" ContentType="application/vnd.openxmlformats-officedocument.presentationml.tags+xml"/>
  <Override PartName="/ppt/notesSlides/notesSlide30.xml" ContentType="application/vnd.openxmlformats-officedocument.presentationml.notesSlide+xml"/>
  <Override PartName="/ppt/tags/tag46.xml" ContentType="application/vnd.openxmlformats-officedocument.presentationml.tags+xml"/>
  <Override PartName="/ppt/notesSlides/notesSlide31.xml" ContentType="application/vnd.openxmlformats-officedocument.presentationml.notesSlide+xml"/>
  <Override PartName="/ppt/tags/tag47.xml" ContentType="application/vnd.openxmlformats-officedocument.presentationml.tags+xml"/>
  <Override PartName="/ppt/notesSlides/notesSlide32.xml" ContentType="application/vnd.openxmlformats-officedocument.presentationml.notesSlide+xml"/>
  <Override PartName="/ppt/tags/tag48.xml" ContentType="application/vnd.openxmlformats-officedocument.presentationml.tags+xml"/>
  <Override PartName="/ppt/notesSlides/notesSlide33.xml" ContentType="application/vnd.openxmlformats-officedocument.presentationml.notesSlide+xml"/>
  <Override PartName="/ppt/tags/tag49.xml" ContentType="application/vnd.openxmlformats-officedocument.presentationml.tags+xml"/>
  <Override PartName="/ppt/notesSlides/notesSlide34.xml" ContentType="application/vnd.openxmlformats-officedocument.presentationml.notesSlide+xml"/>
  <Override PartName="/ppt/tags/tag50.xml" ContentType="application/vnd.openxmlformats-officedocument.presentationml.tags+xml"/>
  <Override PartName="/ppt/notesSlides/notesSlide35.xml" ContentType="application/vnd.openxmlformats-officedocument.presentationml.notesSlide+xml"/>
  <Override PartName="/ppt/tags/tag51.xml" ContentType="application/vnd.openxmlformats-officedocument.presentationml.tags+xml"/>
  <Override PartName="/ppt/notesSlides/notesSlide36.xml" ContentType="application/vnd.openxmlformats-officedocument.presentationml.notesSlide+xml"/>
  <Override PartName="/ppt/tags/tag52.xml" ContentType="application/vnd.openxmlformats-officedocument.presentationml.tags+xml"/>
  <Override PartName="/ppt/notesSlides/notesSlide37.xml" ContentType="application/vnd.openxmlformats-officedocument.presentationml.notesSlide+xml"/>
  <Override PartName="/ppt/tags/tag53.xml" ContentType="application/vnd.openxmlformats-officedocument.presentationml.tags+xml"/>
  <Override PartName="/ppt/notesSlides/notesSlide38.xml" ContentType="application/vnd.openxmlformats-officedocument.presentationml.notesSlide+xml"/>
  <Override PartName="/ppt/tags/tag54.xml" ContentType="application/vnd.openxmlformats-officedocument.presentationml.tags+xml"/>
  <Override PartName="/ppt/notesSlides/notesSlide39.xml" ContentType="application/vnd.openxmlformats-officedocument.presentationml.notesSlide+xml"/>
  <Override PartName="/ppt/tags/tag55.xml" ContentType="application/vnd.openxmlformats-officedocument.presentationml.tags+xml"/>
  <Override PartName="/ppt/notesSlides/notesSlide40.xml" ContentType="application/vnd.openxmlformats-officedocument.presentationml.notesSlide+xml"/>
  <Override PartName="/ppt/tags/tag56.xml" ContentType="application/vnd.openxmlformats-officedocument.presentationml.tags+xml"/>
  <Override PartName="/ppt/notesSlides/notesSlide41.xml" ContentType="application/vnd.openxmlformats-officedocument.presentationml.notesSlide+xml"/>
  <Override PartName="/ppt/tags/tag57.xml" ContentType="application/vnd.openxmlformats-officedocument.presentationml.tags+xml"/>
  <Override PartName="/ppt/notesSlides/notesSlide42.xml" ContentType="application/vnd.openxmlformats-officedocument.presentationml.notesSlide+xml"/>
  <Override PartName="/ppt/tags/tag58.xml" ContentType="application/vnd.openxmlformats-officedocument.presentationml.tags+xml"/>
  <Override PartName="/ppt/notesSlides/notesSlide43.xml" ContentType="application/vnd.openxmlformats-officedocument.presentationml.notesSlide+xml"/>
  <Override PartName="/ppt/tags/tag59.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6"/>
  </p:notesMasterIdLst>
  <p:handoutMasterIdLst>
    <p:handoutMasterId r:id="rId47"/>
  </p:handoutMasterIdLst>
  <p:sldIdLst>
    <p:sldId id="259" r:id="rId2"/>
    <p:sldId id="313" r:id="rId3"/>
    <p:sldId id="424" r:id="rId4"/>
    <p:sldId id="446" r:id="rId5"/>
    <p:sldId id="447" r:id="rId6"/>
    <p:sldId id="423" r:id="rId7"/>
    <p:sldId id="373" r:id="rId8"/>
    <p:sldId id="391" r:id="rId9"/>
    <p:sldId id="393" r:id="rId10"/>
    <p:sldId id="449" r:id="rId11"/>
    <p:sldId id="450" r:id="rId12"/>
    <p:sldId id="451" r:id="rId13"/>
    <p:sldId id="452" r:id="rId14"/>
    <p:sldId id="453" r:id="rId15"/>
    <p:sldId id="454" r:id="rId16"/>
    <p:sldId id="455" r:id="rId17"/>
    <p:sldId id="456" r:id="rId18"/>
    <p:sldId id="457" r:id="rId19"/>
    <p:sldId id="458" r:id="rId20"/>
    <p:sldId id="459" r:id="rId21"/>
    <p:sldId id="460" r:id="rId22"/>
    <p:sldId id="461" r:id="rId23"/>
    <p:sldId id="462" r:id="rId24"/>
    <p:sldId id="463" r:id="rId25"/>
    <p:sldId id="464" r:id="rId26"/>
    <p:sldId id="465" r:id="rId27"/>
    <p:sldId id="466" r:id="rId28"/>
    <p:sldId id="483" r:id="rId29"/>
    <p:sldId id="467" r:id="rId30"/>
    <p:sldId id="468" r:id="rId31"/>
    <p:sldId id="469" r:id="rId32"/>
    <p:sldId id="470" r:id="rId33"/>
    <p:sldId id="471" r:id="rId34"/>
    <p:sldId id="472" r:id="rId35"/>
    <p:sldId id="473" r:id="rId36"/>
    <p:sldId id="474" r:id="rId37"/>
    <p:sldId id="475" r:id="rId38"/>
    <p:sldId id="476" r:id="rId39"/>
    <p:sldId id="477" r:id="rId40"/>
    <p:sldId id="478" r:id="rId41"/>
    <p:sldId id="479" r:id="rId42"/>
    <p:sldId id="480" r:id="rId43"/>
    <p:sldId id="481" r:id="rId44"/>
    <p:sldId id="482" r:id="rId45"/>
  </p:sldIdLst>
  <p:sldSz cx="12192000" cy="6858000"/>
  <p:notesSz cx="6858000" cy="9144000"/>
  <p:custDataLst>
    <p:tags r:id="rId48"/>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37" userDrawn="1">
          <p15:clr>
            <a:srgbClr val="A4A3A4"/>
          </p15:clr>
        </p15:guide>
        <p15:guide id="3" pos="483" userDrawn="1">
          <p15:clr>
            <a:srgbClr val="A4A3A4"/>
          </p15:clr>
        </p15:guide>
        <p15:guide id="4" pos="7151" userDrawn="1">
          <p15:clr>
            <a:srgbClr val="A4A3A4"/>
          </p15:clr>
        </p15:guide>
        <p15:guide id="5" pos="36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8"/>
    <a:srgbClr val="3333CC"/>
    <a:srgbClr val="2C5BA7"/>
    <a:srgbClr val="0000CC"/>
    <a:srgbClr val="0000FF"/>
    <a:srgbClr val="FF94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747" autoAdjust="0"/>
    <p:restoredTop sz="94660"/>
  </p:normalViewPr>
  <p:slideViewPr>
    <p:cSldViewPr snapToGrid="0">
      <p:cViewPr varScale="1">
        <p:scale>
          <a:sx n="91" d="100"/>
          <a:sy n="91" d="100"/>
        </p:scale>
        <p:origin x="466" y="67"/>
      </p:cViewPr>
      <p:guideLst>
        <p:guide pos="3840"/>
        <p:guide orient="horz" pos="2137"/>
        <p:guide pos="483"/>
        <p:guide pos="7151"/>
        <p:guide pos="3636"/>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2026/8/17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3341694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2026/8/17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4107751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24824182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2</a:t>
            </a:fld>
            <a:endParaRPr lang="zh-CN" altLang="en-US"/>
          </a:p>
        </p:txBody>
      </p:sp>
    </p:spTree>
    <p:extLst>
      <p:ext uri="{BB962C8B-B14F-4D97-AF65-F5344CB8AC3E}">
        <p14:creationId xmlns:p14="http://schemas.microsoft.com/office/powerpoint/2010/main" val="26920884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57051-BA9E-EFA7-80DF-2FA79B377DC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BA7DE9-1AA3-1E1F-E98C-51B13B876B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40AF4F-AD8B-0B3B-3ACB-0EA66F4AFE3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2976405-1209-999C-274A-24975770314B}"/>
              </a:ext>
            </a:extLst>
          </p:cNvPr>
          <p:cNvSpPr>
            <a:spLocks noGrp="1"/>
          </p:cNvSpPr>
          <p:nvPr>
            <p:ph type="sldNum" sz="quarter" idx="10"/>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205048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CE9EE-AA4C-2E64-5099-E7D3AD575F1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C5096EA-CC90-9191-5FDA-299DFF4290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1C575A-BE59-0D76-5684-7102CD486C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D288940-2EA7-616D-E87D-54DE04029087}"/>
              </a:ext>
            </a:extLst>
          </p:cNvPr>
          <p:cNvSpPr>
            <a:spLocks noGrp="1"/>
          </p:cNvSpPr>
          <p:nvPr>
            <p:ph type="sldNum" sz="quarter" idx="10"/>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14477809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AD428-DB8C-55C3-B7F1-BFE41F0E1C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88DA41-227D-A1E8-4AB2-27D68F5D8F8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2DC68D7-9576-54B3-458B-28D51E22F68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28F20E2-C839-CB98-C596-2694C3F1E9BE}"/>
              </a:ext>
            </a:extLst>
          </p:cNvPr>
          <p:cNvSpPr>
            <a:spLocks noGrp="1"/>
          </p:cNvSpPr>
          <p:nvPr>
            <p:ph type="sldNum" sz="quarter" idx="10"/>
          </p:nvPr>
        </p:nvSpPr>
        <p:spPr/>
        <p:txBody>
          <a:bodyPr/>
          <a:lstStyle/>
          <a:p>
            <a:fld id="{A6837353-30EB-4A48-80EB-173D804AEFBD}" type="slidenum">
              <a:rPr lang="zh-CN" altLang="en-US" smtClean="0"/>
              <a:t>5</a:t>
            </a:fld>
            <a:endParaRPr lang="zh-CN" altLang="en-US"/>
          </a:p>
        </p:txBody>
      </p:sp>
    </p:spTree>
    <p:extLst>
      <p:ext uri="{BB962C8B-B14F-4D97-AF65-F5344CB8AC3E}">
        <p14:creationId xmlns:p14="http://schemas.microsoft.com/office/powerpoint/2010/main" val="1275780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95A83-45DA-2FA9-DEEF-D82324E788C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86C248-2FA7-50FF-BE8F-FA30437D077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68062B-45CF-771F-507E-0B3A3EB2CA2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80D9CC5-5ED7-FE58-4463-FA2690E983FB}"/>
              </a:ext>
            </a:extLst>
          </p:cNvPr>
          <p:cNvSpPr>
            <a:spLocks noGrp="1"/>
          </p:cNvSpPr>
          <p:nvPr>
            <p:ph type="sldNum" sz="quarter" idx="10"/>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192814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34063317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1C14F-F575-2229-751E-5888A24B8A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AE0253-B7A7-0266-FAC0-6B6D93BC293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9AA89A0-B745-5A86-C347-F6415773C7E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401AF2-BCBC-597D-6B70-38083D08D870}"/>
              </a:ext>
            </a:extLst>
          </p:cNvPr>
          <p:cNvSpPr>
            <a:spLocks noGrp="1"/>
          </p:cNvSpPr>
          <p:nvPr>
            <p:ph type="sldNum" sz="quarter" idx="10"/>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20957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68AB2-1D01-6A6D-ED7E-32B60DC4922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B0506D-C27E-D3E7-52D7-A55972AEB8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2BD57B-D449-3C9F-0D9B-7A4E5B6AE94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C5BC34A-11FF-A871-04BF-72C63BB20924}"/>
              </a:ext>
            </a:extLst>
          </p:cNvPr>
          <p:cNvSpPr>
            <a:spLocks noGrp="1"/>
          </p:cNvSpPr>
          <p:nvPr>
            <p:ph type="sldNum" sz="quarter" idx="10"/>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34574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085B8-F8F6-82CD-FCD9-C1EAFDC94C0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DCFAFEA-B5B2-8F1E-1448-CAB7E7DE68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DB818E-709B-1E0E-2D63-6C4763C36F0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45E7A84-D303-C21A-8211-067C5A1219CD}"/>
              </a:ext>
            </a:extLst>
          </p:cNvPr>
          <p:cNvSpPr>
            <a:spLocks noGrp="1"/>
          </p:cNvSpPr>
          <p:nvPr>
            <p:ph type="sldNum" sz="quarter" idx="10"/>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30679244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DCA5B8-31A0-471D-72B1-AE9BA53C033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A503D8B-6413-E033-B9BA-15FF60EC1E7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0FC0AD5-2915-80EC-0134-A561AA309B2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6F4D53-0281-6597-B1DA-0CF8CD5F90F5}"/>
              </a:ext>
            </a:extLst>
          </p:cNvPr>
          <p:cNvSpPr>
            <a:spLocks noGrp="1"/>
          </p:cNvSpPr>
          <p:nvPr>
            <p:ph type="sldNum" sz="quarter" idx="10"/>
          </p:nvPr>
        </p:nvSpPr>
        <p:spPr/>
        <p:txBody>
          <a:bodyPr/>
          <a:lstStyle/>
          <a:p>
            <a:fld id="{A6837353-30EB-4A48-80EB-173D804AEFBD}" type="slidenum">
              <a:rPr lang="zh-CN" altLang="en-US" smtClean="0"/>
              <a:t>11</a:t>
            </a:fld>
            <a:endParaRPr lang="zh-CN" altLang="en-US"/>
          </a:p>
        </p:txBody>
      </p:sp>
    </p:spTree>
    <p:extLst>
      <p:ext uri="{BB962C8B-B14F-4D97-AF65-F5344CB8AC3E}">
        <p14:creationId xmlns:p14="http://schemas.microsoft.com/office/powerpoint/2010/main" val="2238431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C3E4F-1205-C8A8-E531-E41B842832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57C4AFE-4B87-C0B9-B9BB-742DBD34DD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DCD7EF-039B-FE6B-5B6B-09404C55B8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E24868D-A830-E82C-B9A7-62A40AF43486}"/>
              </a:ext>
            </a:extLst>
          </p:cNvPr>
          <p:cNvSpPr>
            <a:spLocks noGrp="1"/>
          </p:cNvSpPr>
          <p:nvPr>
            <p:ph type="sldNum" sz="quarter" idx="10"/>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2691197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23130-0D19-260C-F48A-3E8EC35E41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E1349E-C7A9-C636-FB95-40E1A06C5C3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D23620C-D05E-18A2-5D5A-49996384FA0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02E2F0D-20DA-AC83-6B80-50B3BDF06CAB}"/>
              </a:ext>
            </a:extLst>
          </p:cNvPr>
          <p:cNvSpPr>
            <a:spLocks noGrp="1"/>
          </p:cNvSpPr>
          <p:nvPr>
            <p:ph type="sldNum" sz="quarter" idx="10"/>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2796150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526F4-BD25-7CDB-2082-69C51A99E8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3B6419F-5FFF-0A73-CB94-0A35127F0E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438F1D-F8F1-9ECF-1B7B-372971028DA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E07F5A7-7194-D722-42C0-6B190414CF5D}"/>
              </a:ext>
            </a:extLst>
          </p:cNvPr>
          <p:cNvSpPr>
            <a:spLocks noGrp="1"/>
          </p:cNvSpPr>
          <p:nvPr>
            <p:ph type="sldNum" sz="quarter" idx="10"/>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2677754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A7D287-88AA-E3A8-B74E-61D9689CA9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07EA08-7193-38D7-9605-AAA3AC1EF0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71357C0-24AB-5868-1802-0A7CA4970D8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5BCF7D3-7A3E-A22A-990D-F22E50CAAB6C}"/>
              </a:ext>
            </a:extLst>
          </p:cNvPr>
          <p:cNvSpPr>
            <a:spLocks noGrp="1"/>
          </p:cNvSpPr>
          <p:nvPr>
            <p:ph type="sldNum" sz="quarter" idx="10"/>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41109844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D1D0A-FEF3-1080-3419-E5A311E64F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C3F5A1-8837-98B4-65C0-AD49565A140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EE72CA-85C9-6AF1-C8BB-20E7EE32C49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D6E9004-C859-AE95-1748-7A3F184E932F}"/>
              </a:ext>
            </a:extLst>
          </p:cNvPr>
          <p:cNvSpPr>
            <a:spLocks noGrp="1"/>
          </p:cNvSpPr>
          <p:nvPr>
            <p:ph type="sldNum" sz="quarter" idx="10"/>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2582587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17677-2931-8F05-9D0A-D65656FF75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CFC4F75-326B-4BCF-8C83-66080B82748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94CFAE-3851-BEBA-55AE-EADCAE3F7D3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2BEA1A5-C9DF-07C3-9544-F4C1D675AB96}"/>
              </a:ext>
            </a:extLst>
          </p:cNvPr>
          <p:cNvSpPr>
            <a:spLocks noGrp="1"/>
          </p:cNvSpPr>
          <p:nvPr>
            <p:ph type="sldNum" sz="quarter" idx="10"/>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2589496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FE612-746F-2094-1442-28507216EF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0346E09-9B19-4408-30C5-DAE20BC6175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A58C0A-D64E-FA15-AC25-361B61B781A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969C91E-F0EF-B6CD-EFCA-584483D5A640}"/>
              </a:ext>
            </a:extLst>
          </p:cNvPr>
          <p:cNvSpPr>
            <a:spLocks noGrp="1"/>
          </p:cNvSpPr>
          <p:nvPr>
            <p:ph type="sldNum" sz="quarter" idx="10"/>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51291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7864D-D418-3DE8-5F85-1EEE1A38DD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EFFB9CA-2340-8E35-87CF-C80A096FE0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5393CAB-7871-5183-F862-EFF0CEF47BC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3CB2154-F24E-B52E-EDEE-2DD215AEAFF2}"/>
              </a:ext>
            </a:extLst>
          </p:cNvPr>
          <p:cNvSpPr>
            <a:spLocks noGrp="1"/>
          </p:cNvSpPr>
          <p:nvPr>
            <p:ph type="sldNum" sz="quarter" idx="10"/>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21355134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1791A-F693-3B8B-CE69-DC7AA6FAA3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A10BDD-8910-0C00-4EB0-50B73664FC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402FA23-181F-3915-7A45-601B059C664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CF33A3C-F90D-E667-EDFC-92B6FB4EE749}"/>
              </a:ext>
            </a:extLst>
          </p:cNvPr>
          <p:cNvSpPr>
            <a:spLocks noGrp="1"/>
          </p:cNvSpPr>
          <p:nvPr>
            <p:ph type="sldNum" sz="quarter" idx="10"/>
          </p:nvPr>
        </p:nvSpPr>
        <p:spPr/>
        <p:txBody>
          <a:bodyPr/>
          <a:lstStyle/>
          <a:p>
            <a:fld id="{A6837353-30EB-4A48-80EB-173D804AEFBD}" type="slidenum">
              <a:rPr lang="zh-CN" altLang="en-US" smtClean="0"/>
              <a:t>20</a:t>
            </a:fld>
            <a:endParaRPr lang="zh-CN" altLang="en-US"/>
          </a:p>
        </p:txBody>
      </p:sp>
    </p:spTree>
    <p:extLst>
      <p:ext uri="{BB962C8B-B14F-4D97-AF65-F5344CB8AC3E}">
        <p14:creationId xmlns:p14="http://schemas.microsoft.com/office/powerpoint/2010/main" val="2627515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FE7D-0F5F-10DC-1549-A543B8107E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BC254B-2265-E2B0-E2E1-A52D6CCBDC6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2C2221-2914-AE6F-8018-26DE5368355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F530A70-5932-4846-BCF1-033CB2A0F1DC}"/>
              </a:ext>
            </a:extLst>
          </p:cNvPr>
          <p:cNvSpPr>
            <a:spLocks noGrp="1"/>
          </p:cNvSpPr>
          <p:nvPr>
            <p:ph type="sldNum" sz="quarter" idx="10"/>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6474693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C970F-08B1-F4A0-207F-BF17BB7FEB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378BD6-7876-93E6-C226-32D8329E5DB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3964B5-84AC-C2E3-5796-7D5A8D7A31D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29A897-B328-1C63-C312-02B2259F72CE}"/>
              </a:ext>
            </a:extLst>
          </p:cNvPr>
          <p:cNvSpPr>
            <a:spLocks noGrp="1"/>
          </p:cNvSpPr>
          <p:nvPr>
            <p:ph type="sldNum" sz="quarter" idx="10"/>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5173877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F9F16-1E65-E316-01FD-F0422FAF229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8373B9-D090-0C68-AFBE-456C3D07C7F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22EE07F-A08C-B3E0-47AE-D67081702F9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2807D31-C0A9-1022-F628-9C5F04EEAF4C}"/>
              </a:ext>
            </a:extLst>
          </p:cNvPr>
          <p:cNvSpPr>
            <a:spLocks noGrp="1"/>
          </p:cNvSpPr>
          <p:nvPr>
            <p:ph type="sldNum" sz="quarter" idx="10"/>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317948852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B198A-D3AB-1FCC-F283-B334DC9607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639060-222E-3AD9-16B0-4146F44B886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2F4350D-488D-1F3E-D05A-24C03686FCD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525FE5F-97BF-47CA-44E9-F76925F84A51}"/>
              </a:ext>
            </a:extLst>
          </p:cNvPr>
          <p:cNvSpPr>
            <a:spLocks noGrp="1"/>
          </p:cNvSpPr>
          <p:nvPr>
            <p:ph type="sldNum" sz="quarter" idx="10"/>
          </p:nvPr>
        </p:nvSpPr>
        <p:spPr/>
        <p:txBody>
          <a:bodyPr/>
          <a:lstStyle/>
          <a:p>
            <a:fld id="{A6837353-30EB-4A48-80EB-173D804AEFBD}" type="slidenum">
              <a:rPr lang="zh-CN" altLang="en-US" smtClean="0"/>
              <a:t>24</a:t>
            </a:fld>
            <a:endParaRPr lang="zh-CN" altLang="en-US"/>
          </a:p>
        </p:txBody>
      </p:sp>
    </p:spTree>
    <p:extLst>
      <p:ext uri="{BB962C8B-B14F-4D97-AF65-F5344CB8AC3E}">
        <p14:creationId xmlns:p14="http://schemas.microsoft.com/office/powerpoint/2010/main" val="40733605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AEBCE-9B20-0534-CB7D-759798F015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90CB862-0179-43D8-D4D1-0F678276783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A786FD8-2D66-E10A-80BB-80BFD58619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EE481A5-BC9D-A6B0-4C08-F750A185995E}"/>
              </a:ext>
            </a:extLst>
          </p:cNvPr>
          <p:cNvSpPr>
            <a:spLocks noGrp="1"/>
          </p:cNvSpPr>
          <p:nvPr>
            <p:ph type="sldNum" sz="quarter" idx="10"/>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20630144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5FBBF-20DC-6AA9-D223-C31D3E4139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1DA4E65-2B08-33BD-7462-4FC1B14985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AF72FA-23AD-6186-ACF4-BADEA02B2A5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CE21C1F-3470-7915-6E8A-AC8BE4B7A709}"/>
              </a:ext>
            </a:extLst>
          </p:cNvPr>
          <p:cNvSpPr>
            <a:spLocks noGrp="1"/>
          </p:cNvSpPr>
          <p:nvPr>
            <p:ph type="sldNum" sz="quarter" idx="10"/>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1552348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2F8F9-575A-306F-999B-83B81567EF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FCD35C9-1461-8F10-87FB-54D99BCBC37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EED8CC-A98F-75C2-1989-2F666F44829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E71357D-B569-80BC-FD60-790B033238DC}"/>
              </a:ext>
            </a:extLst>
          </p:cNvPr>
          <p:cNvSpPr>
            <a:spLocks noGrp="1"/>
          </p:cNvSpPr>
          <p:nvPr>
            <p:ph type="sldNum" sz="quarter" idx="10"/>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22521790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4CCA5-72C6-1031-23F2-3B5BBF4327C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5669167-B3EA-395E-69FE-C6EEA5D23E8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D5B41C-13EC-A607-D869-B616CC07F2E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0F1D8D2-9744-C4CB-25B8-1236468C6FFE}"/>
              </a:ext>
            </a:extLst>
          </p:cNvPr>
          <p:cNvSpPr>
            <a:spLocks noGrp="1"/>
          </p:cNvSpPr>
          <p:nvPr>
            <p:ph type="sldNum" sz="quarter" idx="10"/>
          </p:nvPr>
        </p:nvSpPr>
        <p:spPr/>
        <p:txBody>
          <a:bodyPr/>
          <a:lstStyle/>
          <a:p>
            <a:fld id="{A6837353-30EB-4A48-80EB-173D804AEFBD}" type="slidenum">
              <a:rPr lang="zh-CN" altLang="en-US" smtClean="0"/>
              <a:t>28</a:t>
            </a:fld>
            <a:endParaRPr lang="zh-CN" altLang="en-US"/>
          </a:p>
        </p:txBody>
      </p:sp>
    </p:spTree>
    <p:extLst>
      <p:ext uri="{BB962C8B-B14F-4D97-AF65-F5344CB8AC3E}">
        <p14:creationId xmlns:p14="http://schemas.microsoft.com/office/powerpoint/2010/main" val="1945955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73782-66C4-4E07-87EE-C1E72AB6973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B0C91A-EC9A-31FA-8422-9C1926CF2A6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4D681F-02F3-A183-8DB5-49DC02AA465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5CBF912-4B0C-B8B2-ED98-E360A3390D41}"/>
              </a:ext>
            </a:extLst>
          </p:cNvPr>
          <p:cNvSpPr>
            <a:spLocks noGrp="1"/>
          </p:cNvSpPr>
          <p:nvPr>
            <p:ph type="sldNum" sz="quarter" idx="10"/>
          </p:nvPr>
        </p:nvSpPr>
        <p:spPr/>
        <p:txBody>
          <a:bodyPr/>
          <a:lstStyle/>
          <a:p>
            <a:fld id="{A6837353-30EB-4A48-80EB-173D804AEFBD}" type="slidenum">
              <a:rPr lang="zh-CN" altLang="en-US" smtClean="0"/>
              <a:t>29</a:t>
            </a:fld>
            <a:endParaRPr lang="zh-CN" altLang="en-US"/>
          </a:p>
        </p:txBody>
      </p:sp>
    </p:spTree>
    <p:extLst>
      <p:ext uri="{BB962C8B-B14F-4D97-AF65-F5344CB8AC3E}">
        <p14:creationId xmlns:p14="http://schemas.microsoft.com/office/powerpoint/2010/main" val="1877632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2F2E3-2DDA-B7F1-7B4B-1F7C4407C53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EE8FE4-708D-1EDB-B5B8-A3307E593E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F78628-2900-9959-DE74-42119020CA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CD7008C-CCB9-5364-493C-EA0592C024D2}"/>
              </a:ext>
            </a:extLst>
          </p:cNvPr>
          <p:cNvSpPr>
            <a:spLocks noGrp="1"/>
          </p:cNvSpPr>
          <p:nvPr>
            <p:ph type="sldNum" sz="quarter" idx="10"/>
          </p:nvPr>
        </p:nvSpPr>
        <p:spPr/>
        <p:txBody>
          <a:bodyPr/>
          <a:lstStyle/>
          <a:p>
            <a:fld id="{A6837353-30EB-4A48-80EB-173D804AEFBD}" type="slidenum">
              <a:rPr lang="zh-CN" altLang="en-US" smtClean="0"/>
              <a:t>30</a:t>
            </a:fld>
            <a:endParaRPr lang="zh-CN" altLang="en-US"/>
          </a:p>
        </p:txBody>
      </p:sp>
    </p:spTree>
    <p:extLst>
      <p:ext uri="{BB962C8B-B14F-4D97-AF65-F5344CB8AC3E}">
        <p14:creationId xmlns:p14="http://schemas.microsoft.com/office/powerpoint/2010/main" val="17403276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6F55A-0E64-76F0-E45D-B199ACDE9D2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1192E18-1D52-FCB2-ACCA-42BC9B865A5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13A60C-6024-AD11-94CD-22D0A0490B0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EC605A5-6351-7556-BDF6-5F251DE2ED81}"/>
              </a:ext>
            </a:extLst>
          </p:cNvPr>
          <p:cNvSpPr>
            <a:spLocks noGrp="1"/>
          </p:cNvSpPr>
          <p:nvPr>
            <p:ph type="sldNum" sz="quarter" idx="10"/>
          </p:nvPr>
        </p:nvSpPr>
        <p:spPr/>
        <p:txBody>
          <a:bodyPr/>
          <a:lstStyle/>
          <a:p>
            <a:fld id="{A6837353-30EB-4A48-80EB-173D804AEFBD}" type="slidenum">
              <a:rPr lang="zh-CN" altLang="en-US" smtClean="0"/>
              <a:t>31</a:t>
            </a:fld>
            <a:endParaRPr lang="zh-CN" altLang="en-US"/>
          </a:p>
        </p:txBody>
      </p:sp>
    </p:spTree>
    <p:extLst>
      <p:ext uri="{BB962C8B-B14F-4D97-AF65-F5344CB8AC3E}">
        <p14:creationId xmlns:p14="http://schemas.microsoft.com/office/powerpoint/2010/main" val="5180877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9F87CE-0806-35E3-68AD-DF5DF41CA4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F482354-9563-5B60-667D-2D24FFF9E3B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224385-EDDF-B6E0-6E00-12A34B8CE28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38AB766-B132-105D-2C6B-D709E06ECD96}"/>
              </a:ext>
            </a:extLst>
          </p:cNvPr>
          <p:cNvSpPr>
            <a:spLocks noGrp="1"/>
          </p:cNvSpPr>
          <p:nvPr>
            <p:ph type="sldNum" sz="quarter" idx="10"/>
          </p:nvPr>
        </p:nvSpPr>
        <p:spPr/>
        <p:txBody>
          <a:bodyPr/>
          <a:lstStyle/>
          <a:p>
            <a:fld id="{A6837353-30EB-4A48-80EB-173D804AEFBD}" type="slidenum">
              <a:rPr lang="zh-CN" altLang="en-US" smtClean="0"/>
              <a:t>32</a:t>
            </a:fld>
            <a:endParaRPr lang="zh-CN" altLang="en-US"/>
          </a:p>
        </p:txBody>
      </p:sp>
    </p:spTree>
    <p:extLst>
      <p:ext uri="{BB962C8B-B14F-4D97-AF65-F5344CB8AC3E}">
        <p14:creationId xmlns:p14="http://schemas.microsoft.com/office/powerpoint/2010/main" val="39085130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31F2AF-6E25-32E8-7F0B-823EDB007A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2A4E7A2-5F75-686A-84D8-EEA4D6417E4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CC27EE-170E-38FD-795A-28411D31D29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D8791A5-91F9-E490-C350-EA428CC31DA0}"/>
              </a:ext>
            </a:extLst>
          </p:cNvPr>
          <p:cNvSpPr>
            <a:spLocks noGrp="1"/>
          </p:cNvSpPr>
          <p:nvPr>
            <p:ph type="sldNum" sz="quarter" idx="10"/>
          </p:nvPr>
        </p:nvSpPr>
        <p:spPr/>
        <p:txBody>
          <a:bodyPr/>
          <a:lstStyle/>
          <a:p>
            <a:fld id="{A6837353-30EB-4A48-80EB-173D804AEFBD}" type="slidenum">
              <a:rPr lang="zh-CN" altLang="en-US" smtClean="0"/>
              <a:t>33</a:t>
            </a:fld>
            <a:endParaRPr lang="zh-CN" altLang="en-US"/>
          </a:p>
        </p:txBody>
      </p:sp>
    </p:spTree>
    <p:extLst>
      <p:ext uri="{BB962C8B-B14F-4D97-AF65-F5344CB8AC3E}">
        <p14:creationId xmlns:p14="http://schemas.microsoft.com/office/powerpoint/2010/main" val="30392148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E7CEA-80F3-EC86-3199-AC7022D3EF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726380E-456D-138A-C694-52C884707E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7348B5-F705-21FE-73D4-83BD9677169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49F3604-5DE1-8CE7-07E7-7A040F221969}"/>
              </a:ext>
            </a:extLst>
          </p:cNvPr>
          <p:cNvSpPr>
            <a:spLocks noGrp="1"/>
          </p:cNvSpPr>
          <p:nvPr>
            <p:ph type="sldNum" sz="quarter" idx="10"/>
          </p:nvPr>
        </p:nvSpPr>
        <p:spPr/>
        <p:txBody>
          <a:bodyPr/>
          <a:lstStyle/>
          <a:p>
            <a:fld id="{A6837353-30EB-4A48-80EB-173D804AEFBD}" type="slidenum">
              <a:rPr lang="zh-CN" altLang="en-US" smtClean="0"/>
              <a:t>34</a:t>
            </a:fld>
            <a:endParaRPr lang="zh-CN" altLang="en-US"/>
          </a:p>
        </p:txBody>
      </p:sp>
    </p:spTree>
    <p:extLst>
      <p:ext uri="{BB962C8B-B14F-4D97-AF65-F5344CB8AC3E}">
        <p14:creationId xmlns:p14="http://schemas.microsoft.com/office/powerpoint/2010/main" val="359259536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DEEBC-AA86-C3B4-FA7B-02BE723C2A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B12317A-34B9-3E88-A7A2-554D5530AF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05AC7E-8583-B9D3-31F2-724C9B277A8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A9CA346-E32C-85D0-2ACD-EF707474C9A4}"/>
              </a:ext>
            </a:extLst>
          </p:cNvPr>
          <p:cNvSpPr>
            <a:spLocks noGrp="1"/>
          </p:cNvSpPr>
          <p:nvPr>
            <p:ph type="sldNum" sz="quarter" idx="10"/>
          </p:nvPr>
        </p:nvSpPr>
        <p:spPr/>
        <p:txBody>
          <a:bodyPr/>
          <a:lstStyle/>
          <a:p>
            <a:fld id="{A6837353-30EB-4A48-80EB-173D804AEFBD}" type="slidenum">
              <a:rPr lang="zh-CN" altLang="en-US" smtClean="0"/>
              <a:t>35</a:t>
            </a:fld>
            <a:endParaRPr lang="zh-CN" altLang="en-US"/>
          </a:p>
        </p:txBody>
      </p:sp>
    </p:spTree>
    <p:extLst>
      <p:ext uri="{BB962C8B-B14F-4D97-AF65-F5344CB8AC3E}">
        <p14:creationId xmlns:p14="http://schemas.microsoft.com/office/powerpoint/2010/main" val="27992718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C12A3-EF09-8E9F-F9DC-4A716E959B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B5C0CB-54C0-BED9-1152-61F41353D6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D01A1D-0E05-22E3-57EA-2913F0A3DFD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2D976F0-F46E-04C3-B320-284849CFFFFE}"/>
              </a:ext>
            </a:extLst>
          </p:cNvPr>
          <p:cNvSpPr>
            <a:spLocks noGrp="1"/>
          </p:cNvSpPr>
          <p:nvPr>
            <p:ph type="sldNum" sz="quarter" idx="10"/>
          </p:nvPr>
        </p:nvSpPr>
        <p:spPr/>
        <p:txBody>
          <a:bodyPr/>
          <a:lstStyle/>
          <a:p>
            <a:fld id="{A6837353-30EB-4A48-80EB-173D804AEFBD}" type="slidenum">
              <a:rPr lang="zh-CN" altLang="en-US" smtClean="0"/>
              <a:t>36</a:t>
            </a:fld>
            <a:endParaRPr lang="zh-CN" altLang="en-US"/>
          </a:p>
        </p:txBody>
      </p:sp>
    </p:spTree>
    <p:extLst>
      <p:ext uri="{BB962C8B-B14F-4D97-AF65-F5344CB8AC3E}">
        <p14:creationId xmlns:p14="http://schemas.microsoft.com/office/powerpoint/2010/main" val="294647901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B5F6B-5DB4-8941-75BB-203F586913B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9D8B436-E08B-B97F-5567-95CAF54A289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932F08C-A0D8-BF51-7E4B-F42D9ABB931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E19F83A-38FB-D195-8FA7-4817F7FA697E}"/>
              </a:ext>
            </a:extLst>
          </p:cNvPr>
          <p:cNvSpPr>
            <a:spLocks noGrp="1"/>
          </p:cNvSpPr>
          <p:nvPr>
            <p:ph type="sldNum" sz="quarter" idx="10"/>
          </p:nvPr>
        </p:nvSpPr>
        <p:spPr/>
        <p:txBody>
          <a:bodyPr/>
          <a:lstStyle/>
          <a:p>
            <a:fld id="{A6837353-30EB-4A48-80EB-173D804AEFBD}" type="slidenum">
              <a:rPr lang="zh-CN" altLang="en-US" smtClean="0"/>
              <a:t>37</a:t>
            </a:fld>
            <a:endParaRPr lang="zh-CN" altLang="en-US"/>
          </a:p>
        </p:txBody>
      </p:sp>
    </p:spTree>
    <p:extLst>
      <p:ext uri="{BB962C8B-B14F-4D97-AF65-F5344CB8AC3E}">
        <p14:creationId xmlns:p14="http://schemas.microsoft.com/office/powerpoint/2010/main" val="32643938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3B33-727B-9A6A-05F9-C2BB9462F1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7DDCE58-3C03-A34E-1C8B-534CD6D50EB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790C50-5610-6C17-E7BF-27582F17F26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CDCA261-7FC5-5FFB-FD2E-8F82D6151CD9}"/>
              </a:ext>
            </a:extLst>
          </p:cNvPr>
          <p:cNvSpPr>
            <a:spLocks noGrp="1"/>
          </p:cNvSpPr>
          <p:nvPr>
            <p:ph type="sldNum" sz="quarter" idx="10"/>
          </p:nvPr>
        </p:nvSpPr>
        <p:spPr/>
        <p:txBody>
          <a:bodyPr/>
          <a:lstStyle/>
          <a:p>
            <a:fld id="{A6837353-30EB-4A48-80EB-173D804AEFBD}" type="slidenum">
              <a:rPr lang="zh-CN" altLang="en-US" smtClean="0"/>
              <a:t>38</a:t>
            </a:fld>
            <a:endParaRPr lang="zh-CN" altLang="en-US"/>
          </a:p>
        </p:txBody>
      </p:sp>
    </p:spTree>
    <p:extLst>
      <p:ext uri="{BB962C8B-B14F-4D97-AF65-F5344CB8AC3E}">
        <p14:creationId xmlns:p14="http://schemas.microsoft.com/office/powerpoint/2010/main" val="5975152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A2B93-95AD-EDEF-6EDA-0514BA0DD0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CADBDB7-3F6F-9393-A258-E93D98CC23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282A62-5CD4-0758-975A-E1F7251FF15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869CED9-EA83-7F98-AB5A-B4A77AE83D98}"/>
              </a:ext>
            </a:extLst>
          </p:cNvPr>
          <p:cNvSpPr>
            <a:spLocks noGrp="1"/>
          </p:cNvSpPr>
          <p:nvPr>
            <p:ph type="sldNum" sz="quarter" idx="10"/>
          </p:nvPr>
        </p:nvSpPr>
        <p:spPr/>
        <p:txBody>
          <a:bodyPr/>
          <a:lstStyle/>
          <a:p>
            <a:fld id="{A6837353-30EB-4A48-80EB-173D804AEFBD}" type="slidenum">
              <a:rPr lang="zh-CN" altLang="en-US" smtClean="0"/>
              <a:t>39</a:t>
            </a:fld>
            <a:endParaRPr lang="zh-CN" altLang="en-US"/>
          </a:p>
        </p:txBody>
      </p:sp>
    </p:spTree>
    <p:extLst>
      <p:ext uri="{BB962C8B-B14F-4D97-AF65-F5344CB8AC3E}">
        <p14:creationId xmlns:p14="http://schemas.microsoft.com/office/powerpoint/2010/main" val="7522341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F6BDF-D3D1-0ACF-60E7-92E990FE37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3E9027B-F44A-0761-3648-4294DE3951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FE31237-852A-6D4E-35BC-1D81EDEB4A9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E8F8641-78B8-824F-A64A-4D45438DF2C6}"/>
              </a:ext>
            </a:extLst>
          </p:cNvPr>
          <p:cNvSpPr>
            <a:spLocks noGrp="1"/>
          </p:cNvSpPr>
          <p:nvPr>
            <p:ph type="sldNum" sz="quarter" idx="10"/>
          </p:nvPr>
        </p:nvSpPr>
        <p:spPr/>
        <p:txBody>
          <a:bodyPr/>
          <a:lstStyle/>
          <a:p>
            <a:fld id="{A6837353-30EB-4A48-80EB-173D804AEFBD}" type="slidenum">
              <a:rPr lang="zh-CN" altLang="en-US" smtClean="0"/>
              <a:t>40</a:t>
            </a:fld>
            <a:endParaRPr lang="zh-CN" altLang="en-US"/>
          </a:p>
        </p:txBody>
      </p:sp>
    </p:spTree>
    <p:extLst>
      <p:ext uri="{BB962C8B-B14F-4D97-AF65-F5344CB8AC3E}">
        <p14:creationId xmlns:p14="http://schemas.microsoft.com/office/powerpoint/2010/main" val="140884988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24B8B-A98F-71BE-EBEF-4FC6B05C5CD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53AA14-29FD-F853-9BFA-DA7F651DE4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7251578-CB9E-6DFD-46C3-FB8E104F20D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EE9D1D7-EF00-00E3-58F7-BA6FF6A00BAD}"/>
              </a:ext>
            </a:extLst>
          </p:cNvPr>
          <p:cNvSpPr>
            <a:spLocks noGrp="1"/>
          </p:cNvSpPr>
          <p:nvPr>
            <p:ph type="sldNum" sz="quarter" idx="10"/>
          </p:nvPr>
        </p:nvSpPr>
        <p:spPr/>
        <p:txBody>
          <a:bodyPr/>
          <a:lstStyle/>
          <a:p>
            <a:fld id="{A6837353-30EB-4A48-80EB-173D804AEFBD}" type="slidenum">
              <a:rPr lang="zh-CN" altLang="en-US" smtClean="0"/>
              <a:t>41</a:t>
            </a:fld>
            <a:endParaRPr lang="zh-CN" altLang="en-US"/>
          </a:p>
        </p:txBody>
      </p:sp>
    </p:spTree>
    <p:extLst>
      <p:ext uri="{BB962C8B-B14F-4D97-AF65-F5344CB8AC3E}">
        <p14:creationId xmlns:p14="http://schemas.microsoft.com/office/powerpoint/2010/main" val="41636267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7E888-DB9F-9490-58A2-9961229F35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EF50BD-BDB9-DC94-0C6D-C9D16257D90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BAE2C9A-8652-5142-5261-30DBC6286EE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8542545-49FE-5CB3-B920-F56A845FC7C9}"/>
              </a:ext>
            </a:extLst>
          </p:cNvPr>
          <p:cNvSpPr>
            <a:spLocks noGrp="1"/>
          </p:cNvSpPr>
          <p:nvPr>
            <p:ph type="sldNum" sz="quarter" idx="10"/>
          </p:nvPr>
        </p:nvSpPr>
        <p:spPr/>
        <p:txBody>
          <a:bodyPr/>
          <a:lstStyle/>
          <a:p>
            <a:fld id="{A6837353-30EB-4A48-80EB-173D804AEFBD}" type="slidenum">
              <a:rPr lang="zh-CN" altLang="en-US" smtClean="0"/>
              <a:t>42</a:t>
            </a:fld>
            <a:endParaRPr lang="zh-CN" altLang="en-US"/>
          </a:p>
        </p:txBody>
      </p:sp>
    </p:spTree>
    <p:extLst>
      <p:ext uri="{BB962C8B-B14F-4D97-AF65-F5344CB8AC3E}">
        <p14:creationId xmlns:p14="http://schemas.microsoft.com/office/powerpoint/2010/main" val="29485221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10467-A7D9-9F11-5531-EE00A85778B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759DA62-3FF3-F1EF-7ADF-6B7F38EE86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3ACC00-D159-4BC4-CCAA-21486D8A494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DD06377-D0C4-8822-0CAC-FF337A3E5358}"/>
              </a:ext>
            </a:extLst>
          </p:cNvPr>
          <p:cNvSpPr>
            <a:spLocks noGrp="1"/>
          </p:cNvSpPr>
          <p:nvPr>
            <p:ph type="sldNum" sz="quarter" idx="10"/>
          </p:nvPr>
        </p:nvSpPr>
        <p:spPr/>
        <p:txBody>
          <a:bodyPr/>
          <a:lstStyle/>
          <a:p>
            <a:fld id="{A6837353-30EB-4A48-80EB-173D804AEFBD}" type="slidenum">
              <a:rPr lang="zh-CN" altLang="en-US" smtClean="0"/>
              <a:t>43</a:t>
            </a:fld>
            <a:endParaRPr lang="zh-CN" altLang="en-US"/>
          </a:p>
        </p:txBody>
      </p:sp>
    </p:spTree>
    <p:extLst>
      <p:ext uri="{BB962C8B-B14F-4D97-AF65-F5344CB8AC3E}">
        <p14:creationId xmlns:p14="http://schemas.microsoft.com/office/powerpoint/2010/main" val="1165931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75EA3-821A-8D77-26F3-707143F1D6E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4C0DC4C-87EE-7462-7288-2C38AEB98B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522034-1B04-F196-AC79-7802945C5A6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A990A27-317C-0009-552A-03CA9915D1D7}"/>
              </a:ext>
            </a:extLst>
          </p:cNvPr>
          <p:cNvSpPr>
            <a:spLocks noGrp="1"/>
          </p:cNvSpPr>
          <p:nvPr>
            <p:ph type="sldNum" sz="quarter" idx="10"/>
          </p:nvPr>
        </p:nvSpPr>
        <p:spPr/>
        <p:txBody>
          <a:bodyPr/>
          <a:lstStyle/>
          <a:p>
            <a:fld id="{A6837353-30EB-4A48-80EB-173D804AEFBD}" type="slidenum">
              <a:rPr lang="zh-CN" altLang="en-US" smtClean="0"/>
              <a:t>44</a:t>
            </a:fld>
            <a:endParaRPr lang="zh-CN" altLang="en-US"/>
          </a:p>
        </p:txBody>
      </p:sp>
    </p:spTree>
    <p:extLst>
      <p:ext uri="{BB962C8B-B14F-4D97-AF65-F5344CB8AC3E}">
        <p14:creationId xmlns:p14="http://schemas.microsoft.com/office/powerpoint/2010/main" val="1227790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矩形 2"/>
          <p:cNvSpPr/>
          <p:nvPr userDrawn="1"/>
        </p:nvSpPr>
        <p:spPr>
          <a:xfrm>
            <a:off x="0" y="5867553"/>
            <a:ext cx="6096000" cy="923330"/>
          </a:xfrm>
          <a:prstGeom prst="rect">
            <a:avLst/>
          </a:prstGeom>
        </p:spPr>
        <p:txBody>
          <a:bodyPr>
            <a:spAutoFit/>
          </a:bodyPr>
          <a:lstStyle/>
          <a:p>
            <a:r>
              <a:rPr lang="zh-CN" altLang="en-US" sz="1800" dirty="0">
                <a:solidFill>
                  <a:schemeClr val="bg1">
                    <a:lumMod val="85000"/>
                  </a:schemeClr>
                </a:solidFill>
                <a:latin typeface="微软雅黑" panose="020B0503020204020204" pitchFamily="34" charset="-122"/>
                <a:ea typeface="微软雅黑" panose="020B0503020204020204" pitchFamily="34" charset="-122"/>
              </a:rPr>
              <a:t>不得将觅知网的</a:t>
            </a:r>
            <a:r>
              <a:rPr lang="en-US" altLang="zh-CN" sz="1800" dirty="0">
                <a:solidFill>
                  <a:schemeClr val="bg1">
                    <a:lumMod val="85000"/>
                  </a:schemeClr>
                </a:solidFill>
                <a:latin typeface="微软雅黑" panose="020B0503020204020204" pitchFamily="34" charset="-122"/>
                <a:ea typeface="微软雅黑" panose="020B0503020204020204" pitchFamily="34" charset="-122"/>
              </a:rPr>
              <a:t>PPT</a:t>
            </a:r>
            <a:r>
              <a:rPr lang="zh-CN" altLang="en-US" sz="1800" dirty="0">
                <a:solidFill>
                  <a:schemeClr val="bg1">
                    <a:lumMod val="85000"/>
                  </a:schemeClr>
                </a:solidFill>
                <a:latin typeface="微软雅黑" panose="020B0503020204020204" pitchFamily="34" charset="-122"/>
                <a:ea typeface="微软雅黑" panose="020B0503020204020204" pitchFamily="34" charset="-122"/>
              </a:rPr>
              <a:t>模板、</a:t>
            </a:r>
            <a:r>
              <a:rPr lang="en-US" altLang="zh-CN" sz="1800" dirty="0">
                <a:solidFill>
                  <a:schemeClr val="bg1">
                    <a:lumMod val="85000"/>
                  </a:schemeClr>
                </a:solidFill>
                <a:latin typeface="微软雅黑" panose="020B0503020204020204" pitchFamily="34" charset="-122"/>
                <a:ea typeface="微软雅黑" panose="020B0503020204020204" pitchFamily="34" charset="-122"/>
              </a:rPr>
              <a:t>PPT</a:t>
            </a:r>
            <a:r>
              <a:rPr lang="zh-CN" altLang="en-US" sz="1800" dirty="0">
                <a:solidFill>
                  <a:schemeClr val="bg1">
                    <a:lumMod val="85000"/>
                  </a:schemeClr>
                </a:solidFill>
                <a:latin typeface="微软雅黑" panose="020B0503020204020204" pitchFamily="34" charset="-122"/>
                <a:ea typeface="微软雅黑" panose="020B0503020204020204" pitchFamily="34" charset="-122"/>
              </a:rPr>
              <a:t>素材，本身用于再出售，或者出租、出借、转让、分销、发布或者作为礼物供他人使用，不得转授权、出卖、转让本协议或者本协议中的权利。</a:t>
            </a:r>
            <a:endParaRPr lang="zh-CN" altLang="en-US" dirty="0">
              <a:solidFill>
                <a:schemeClr val="bg1">
                  <a:lumMod val="85000"/>
                </a:schemeClr>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9EAD85-B801-4B8A-897A-44ADE610D77A}"/>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534456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3.pn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2.png"/><Relationship Id="rId2" Type="http://schemas.openxmlformats.org/officeDocument/2006/relationships/tags" Target="../tags/tag2.xml"/><Relationship Id="rId1" Type="http://schemas.openxmlformats.org/officeDocument/2006/relationships/themeOverride" Target="../theme/themeOverride1.xml"/><Relationship Id="rId6" Type="http://schemas.openxmlformats.org/officeDocument/2006/relationships/tags" Target="../tags/tag6.xml"/><Relationship Id="rId11" Type="http://schemas.openxmlformats.org/officeDocument/2006/relationships/image" Target="../media/image1.png"/><Relationship Id="rId5" Type="http://schemas.openxmlformats.org/officeDocument/2006/relationships/tags" Target="../tags/tag5.xml"/><Relationship Id="rId15" Type="http://schemas.openxmlformats.org/officeDocument/2006/relationships/image" Target="../media/image5.png"/><Relationship Id="rId10" Type="http://schemas.openxmlformats.org/officeDocument/2006/relationships/notesSlide" Target="../notesSlides/notesSlide1.xml"/><Relationship Id="rId4" Type="http://schemas.openxmlformats.org/officeDocument/2006/relationships/tags" Target="../tags/tag4.xml"/><Relationship Id="rId9" Type="http://schemas.openxmlformats.org/officeDocument/2006/relationships/slideLayout" Target="../slideLayouts/slideLayout2.xml"/><Relationship Id="rId1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1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image" Target="../media/image9.jpeg"/><Relationship Id="rId5" Type="http://schemas.openxmlformats.org/officeDocument/2006/relationships/image" Target="../media/image5.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3.xml"/><Relationship Id="rId5" Type="http://schemas.openxmlformats.org/officeDocument/2006/relationships/image" Target="../media/image5.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image" Target="../media/image10.wmf"/><Relationship Id="rId5"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15.xml"/><Relationship Id="rId5" Type="http://schemas.openxmlformats.org/officeDocument/2006/relationships/image" Target="../media/image5.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16.xml"/><Relationship Id="rId6" Type="http://schemas.openxmlformats.org/officeDocument/2006/relationships/image" Target="../media/image11.png"/><Relationship Id="rId5"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12.wmf"/><Relationship Id="rId5" Type="http://schemas.openxmlformats.org/officeDocument/2006/relationships/image" Target="../media/image5.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13.emf"/><Relationship Id="rId2" Type="http://schemas.openxmlformats.org/officeDocument/2006/relationships/slideLayout" Target="../slideLayouts/slideLayout2.xml"/><Relationship Id="rId1" Type="http://schemas.openxmlformats.org/officeDocument/2006/relationships/tags" Target="../tags/tag18.xml"/><Relationship Id="rId6" Type="http://schemas.openxmlformats.org/officeDocument/2006/relationships/oleObject" Target="../embeddings/oleObject1.bin"/><Relationship Id="rId5" Type="http://schemas.openxmlformats.org/officeDocument/2006/relationships/image" Target="../media/image5.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14.wmf"/><Relationship Id="rId5" Type="http://schemas.openxmlformats.org/officeDocument/2006/relationships/image" Target="../media/image5.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image" Target="../media/image15.png"/><Relationship Id="rId5"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image" Target="../media/image16.png"/><Relationship Id="rId5" Type="http://schemas.openxmlformats.org/officeDocument/2006/relationships/image" Target="../media/image5.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17.png"/><Relationship Id="rId5" Type="http://schemas.openxmlformats.org/officeDocument/2006/relationships/image" Target="../media/image5.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23.xml"/><Relationship Id="rId6" Type="http://schemas.openxmlformats.org/officeDocument/2006/relationships/image" Target="../media/image18.png"/><Relationship Id="rId5" Type="http://schemas.openxmlformats.org/officeDocument/2006/relationships/image" Target="../media/image5.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24.xml"/><Relationship Id="rId5" Type="http://schemas.openxmlformats.org/officeDocument/2006/relationships/image" Target="../media/image5.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25.xml"/><Relationship Id="rId5" Type="http://schemas.openxmlformats.org/officeDocument/2006/relationships/image" Target="../media/image5.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26.xml"/><Relationship Id="rId6" Type="http://schemas.openxmlformats.org/officeDocument/2006/relationships/image" Target="../media/image19.png"/><Relationship Id="rId5" Type="http://schemas.openxmlformats.org/officeDocument/2006/relationships/image" Target="../media/image5.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7.xml"/><Relationship Id="rId5" Type="http://schemas.openxmlformats.org/officeDocument/2006/relationships/image" Target="../media/image5.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8.xml"/><Relationship Id="rId5" Type="http://schemas.openxmlformats.org/officeDocument/2006/relationships/image" Target="../media/image5.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9.xml"/><Relationship Id="rId5" Type="http://schemas.openxmlformats.org/officeDocument/2006/relationships/image" Target="../media/image5.png"/><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30.xml"/><Relationship Id="rId5" Type="http://schemas.openxmlformats.org/officeDocument/2006/relationships/image" Target="../media/image5.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31.xml"/><Relationship Id="rId6" Type="http://schemas.openxmlformats.org/officeDocument/2006/relationships/image" Target="../media/image20.png"/><Relationship Id="rId5" Type="http://schemas.openxmlformats.org/officeDocument/2006/relationships/image" Target="../media/image5.png"/><Relationship Id="rId4" Type="http://schemas.openxmlformats.org/officeDocument/2006/relationships/image" Target="../media/image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2.xml"/><Relationship Id="rId6" Type="http://schemas.openxmlformats.org/officeDocument/2006/relationships/image" Target="../media/image21.png"/><Relationship Id="rId5" Type="http://schemas.openxmlformats.org/officeDocument/2006/relationships/image" Target="../media/image5.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22.png"/><Relationship Id="rId5" Type="http://schemas.openxmlformats.org/officeDocument/2006/relationships/image" Target="../media/image5.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34.xml"/><Relationship Id="rId5" Type="http://schemas.openxmlformats.org/officeDocument/2006/relationships/image" Target="../media/image5.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8" Type="http://schemas.openxmlformats.org/officeDocument/2006/relationships/tags" Target="../tags/tag42.xml"/><Relationship Id="rId13" Type="http://schemas.openxmlformats.org/officeDocument/2006/relationships/image" Target="../media/image5.png"/><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6.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notesSlide" Target="../notesSlides/notesSlide28.xml"/><Relationship Id="rId5" Type="http://schemas.openxmlformats.org/officeDocument/2006/relationships/tags" Target="../tags/tag39.xml"/><Relationship Id="rId10" Type="http://schemas.openxmlformats.org/officeDocument/2006/relationships/slideLayout" Target="../slideLayouts/slideLayout2.xml"/><Relationship Id="rId4" Type="http://schemas.openxmlformats.org/officeDocument/2006/relationships/tags" Target="../tags/tag38.xml"/><Relationship Id="rId9" Type="http://schemas.openxmlformats.org/officeDocument/2006/relationships/tags" Target="../tags/tag4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44.xml"/><Relationship Id="rId6" Type="http://schemas.openxmlformats.org/officeDocument/2006/relationships/image" Target="../media/image24.png"/><Relationship Id="rId5" Type="http://schemas.openxmlformats.org/officeDocument/2006/relationships/image" Target="../media/image5.png"/><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45.xml"/><Relationship Id="rId5" Type="http://schemas.openxmlformats.org/officeDocument/2006/relationships/image" Target="../media/image5.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notesSlide" Target="../notesSlides/notesSlide31.xml"/><Relationship Id="rId7"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46.xml"/><Relationship Id="rId6" Type="http://schemas.openxmlformats.org/officeDocument/2006/relationships/image" Target="../media/image25.png"/><Relationship Id="rId5" Type="http://schemas.openxmlformats.org/officeDocument/2006/relationships/image" Target="../media/image5.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32.xml"/><Relationship Id="rId7"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47.xml"/><Relationship Id="rId6" Type="http://schemas.openxmlformats.org/officeDocument/2006/relationships/image" Target="../media/image28.png"/><Relationship Id="rId5" Type="http://schemas.openxmlformats.org/officeDocument/2006/relationships/image" Target="../media/image5.png"/><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tags" Target="../tags/tag48.xml"/><Relationship Id="rId6" Type="http://schemas.openxmlformats.org/officeDocument/2006/relationships/image" Target="../media/image31.png"/><Relationship Id="rId5" Type="http://schemas.openxmlformats.org/officeDocument/2006/relationships/image" Target="../media/image5.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tags" Target="../tags/tag49.xml"/><Relationship Id="rId5" Type="http://schemas.openxmlformats.org/officeDocument/2006/relationships/image" Target="../media/image5.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tags" Target="../tags/tag50.xml"/><Relationship Id="rId5" Type="http://schemas.openxmlformats.org/officeDocument/2006/relationships/image" Target="../media/image5.png"/><Relationship Id="rId4" Type="http://schemas.openxmlformats.org/officeDocument/2006/relationships/image" Target="../media/image6.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33.png"/><Relationship Id="rId2" Type="http://schemas.openxmlformats.org/officeDocument/2006/relationships/slideLayout" Target="../slideLayouts/slideLayout2.xml"/><Relationship Id="rId1" Type="http://schemas.openxmlformats.org/officeDocument/2006/relationships/tags" Target="../tags/tag51.xml"/><Relationship Id="rId6" Type="http://schemas.openxmlformats.org/officeDocument/2006/relationships/image" Target="../media/image32.png"/><Relationship Id="rId5" Type="http://schemas.openxmlformats.org/officeDocument/2006/relationships/image" Target="../media/image5.png"/><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2.xml"/><Relationship Id="rId1" Type="http://schemas.openxmlformats.org/officeDocument/2006/relationships/tags" Target="../tags/tag52.xml"/><Relationship Id="rId5" Type="http://schemas.openxmlformats.org/officeDocument/2006/relationships/image" Target="../media/image5.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2.xml"/><Relationship Id="rId1" Type="http://schemas.openxmlformats.org/officeDocument/2006/relationships/tags" Target="../tags/tag53.xml"/><Relationship Id="rId6" Type="http://schemas.openxmlformats.org/officeDocument/2006/relationships/image" Target="../media/image34.png"/><Relationship Id="rId5" Type="http://schemas.openxmlformats.org/officeDocument/2006/relationships/image" Target="../media/image5.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2.xml"/><Relationship Id="rId1" Type="http://schemas.openxmlformats.org/officeDocument/2006/relationships/tags" Target="../tags/tag54.xml"/><Relationship Id="rId5" Type="http://schemas.openxmlformats.org/officeDocument/2006/relationships/image" Target="../media/image5.png"/><Relationship Id="rId4" Type="http://schemas.openxmlformats.org/officeDocument/2006/relationships/image" Target="../media/image6.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2.xml"/><Relationship Id="rId1" Type="http://schemas.openxmlformats.org/officeDocument/2006/relationships/tags" Target="../tags/tag55.xml"/><Relationship Id="rId5" Type="http://schemas.openxmlformats.org/officeDocument/2006/relationships/image" Target="../media/image5.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tags" Target="../tags/tag56.xml"/><Relationship Id="rId5" Type="http://schemas.openxmlformats.org/officeDocument/2006/relationships/image" Target="../media/image5.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2.xml"/><Relationship Id="rId1" Type="http://schemas.openxmlformats.org/officeDocument/2006/relationships/tags" Target="../tags/tag57.xml"/><Relationship Id="rId5" Type="http://schemas.openxmlformats.org/officeDocument/2006/relationships/image" Target="../media/image5.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tags" Target="../tags/tag58.xml"/><Relationship Id="rId6" Type="http://schemas.openxmlformats.org/officeDocument/2006/relationships/image" Target="../media/image35.png"/><Relationship Id="rId5" Type="http://schemas.openxmlformats.org/officeDocument/2006/relationships/image" Target="../media/image5.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2.xml"/><Relationship Id="rId1" Type="http://schemas.openxmlformats.org/officeDocument/2006/relationships/tags" Target="../tags/tag59.xml"/><Relationship Id="rId5" Type="http://schemas.openxmlformats.org/officeDocument/2006/relationships/image" Target="../media/image5.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矩形 6">
            <a:extLst>
              <a:ext uri="{FF2B5EF4-FFF2-40B4-BE49-F238E27FC236}">
                <a16:creationId xmlns:a16="http://schemas.microsoft.com/office/drawing/2014/main" id="{5D37A102-9C33-4CB2-81D9-903C465706A3}"/>
              </a:ext>
            </a:extLst>
          </p:cNvPr>
          <p:cNvSpPr/>
          <p:nvPr>
            <p:custDataLst>
              <p:tags r:id="rId2"/>
            </p:custDataLst>
          </p:nvPr>
        </p:nvSpPr>
        <p:spPr>
          <a:xfrm>
            <a:off x="19050" y="1026530"/>
            <a:ext cx="2705100" cy="2647950"/>
          </a:xfrm>
          <a:prstGeom prst="rect">
            <a:avLst/>
          </a:prstGeom>
          <a:blipFill>
            <a:blip r:embed="rId11"/>
            <a:stretch>
              <a:fillRect l="-18073" r="-17905"/>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PA_矩形 7">
            <a:extLst>
              <a:ext uri="{FF2B5EF4-FFF2-40B4-BE49-F238E27FC236}">
                <a16:creationId xmlns:a16="http://schemas.microsoft.com/office/drawing/2014/main" id="{440B61B1-5198-43F8-A2AD-E35A6B7CA6F2}"/>
              </a:ext>
            </a:extLst>
          </p:cNvPr>
          <p:cNvSpPr/>
          <p:nvPr>
            <p:custDataLst>
              <p:tags r:id="rId3"/>
            </p:custDataLst>
          </p:nvPr>
        </p:nvSpPr>
        <p:spPr>
          <a:xfrm>
            <a:off x="2705100" y="1022350"/>
            <a:ext cx="2800350" cy="1359340"/>
          </a:xfrm>
          <a:prstGeom prst="rect">
            <a:avLst/>
          </a:prstGeom>
          <a:blipFill>
            <a:blip r:embed="rId12"/>
            <a:stretch>
              <a:fillRect t="-19661" b="-19293"/>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PA_矩形 8">
            <a:extLst>
              <a:ext uri="{FF2B5EF4-FFF2-40B4-BE49-F238E27FC236}">
                <a16:creationId xmlns:a16="http://schemas.microsoft.com/office/drawing/2014/main" id="{0E35B24D-6C7B-4430-95D3-596C88F88D74}"/>
              </a:ext>
            </a:extLst>
          </p:cNvPr>
          <p:cNvSpPr/>
          <p:nvPr>
            <p:custDataLst>
              <p:tags r:id="rId4"/>
            </p:custDataLst>
          </p:nvPr>
        </p:nvSpPr>
        <p:spPr>
          <a:xfrm>
            <a:off x="2724150" y="2336800"/>
            <a:ext cx="2800350" cy="1337679"/>
          </a:xfrm>
          <a:prstGeom prst="rect">
            <a:avLst/>
          </a:prstGeom>
          <a:blipFill>
            <a:blip r:embed="rId13"/>
            <a:stretch>
              <a:fillRect t="-21190" b="-20784"/>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PA_文本框 11">
            <a:extLst>
              <a:ext uri="{FF2B5EF4-FFF2-40B4-BE49-F238E27FC236}">
                <a16:creationId xmlns:a16="http://schemas.microsoft.com/office/drawing/2014/main" id="{7E9EB336-825A-4BC8-87C3-272010511B6D}"/>
              </a:ext>
            </a:extLst>
          </p:cNvPr>
          <p:cNvSpPr txBox="1"/>
          <p:nvPr>
            <p:custDataLst>
              <p:tags r:id="rId5"/>
            </p:custDataLst>
          </p:nvPr>
        </p:nvSpPr>
        <p:spPr>
          <a:xfrm>
            <a:off x="0" y="4690500"/>
            <a:ext cx="11961364" cy="830997"/>
          </a:xfrm>
          <a:prstGeom prst="rect">
            <a:avLst/>
          </a:prstGeom>
          <a:noFill/>
        </p:spPr>
        <p:txBody>
          <a:bodyPr wrap="square" rtlCol="0">
            <a:spAutoFit/>
          </a:bodyPr>
          <a:lstStyle/>
          <a:p>
            <a:pPr algn="ctr"/>
            <a:r>
              <a:rPr lang="en-US" altLang="zh-CN" sz="4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XSRP</a:t>
            </a:r>
            <a:r>
              <a:rPr lang="zh-CN" altLang="en-US" sz="4800" b="1" dirty="0">
                <a:solidFill>
                  <a:schemeClr val="tx1">
                    <a:lumMod val="85000"/>
                    <a:lumOff val="15000"/>
                  </a:schemeClr>
                </a:solidFill>
                <a:latin typeface="宋体" panose="02010600030101010101" pitchFamily="2" charset="-122"/>
                <a:ea typeface="宋体" panose="02010600030101010101" pitchFamily="2" charset="-122"/>
                <a:cs typeface="Times New Roman" panose="02020603050405020304" pitchFamily="18" charset="0"/>
              </a:rPr>
              <a:t>软件无线电平台</a:t>
            </a:r>
            <a:r>
              <a:rPr lang="en-US" altLang="zh-CN" sz="4800" b="1" dirty="0">
                <a:solidFill>
                  <a:schemeClr val="tx1">
                    <a:lumMod val="85000"/>
                    <a:lumOff val="15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800" b="1" dirty="0">
                <a:solidFill>
                  <a:schemeClr val="tx1">
                    <a:lumMod val="85000"/>
                    <a:lumOff val="15000"/>
                  </a:schemeClr>
                </a:solidFill>
                <a:latin typeface="宋体" panose="02010600030101010101" pitchFamily="2" charset="-122"/>
                <a:ea typeface="宋体" panose="02010600030101010101" pitchFamily="2" charset="-122"/>
                <a:cs typeface="Times New Roman" panose="02020603050405020304" pitchFamily="18" charset="0"/>
              </a:rPr>
              <a:t>TD-LTE</a:t>
            </a:r>
            <a:r>
              <a:rPr lang="zh-CN" altLang="en-US" sz="2800" b="1" dirty="0">
                <a:solidFill>
                  <a:schemeClr val="tx1">
                    <a:lumMod val="85000"/>
                    <a:lumOff val="15000"/>
                  </a:schemeClr>
                </a:solidFill>
                <a:latin typeface="宋体" panose="02010600030101010101" pitchFamily="2" charset="-122"/>
                <a:ea typeface="宋体" panose="02010600030101010101" pitchFamily="2" charset="-122"/>
                <a:cs typeface="Times New Roman" panose="02020603050405020304" pitchFamily="18" charset="0"/>
              </a:rPr>
              <a:t>物理层链路协议实现</a:t>
            </a:r>
          </a:p>
        </p:txBody>
      </p:sp>
      <p:grpSp>
        <p:nvGrpSpPr>
          <p:cNvPr id="4" name="组合 3">
            <a:extLst>
              <a:ext uri="{FF2B5EF4-FFF2-40B4-BE49-F238E27FC236}">
                <a16:creationId xmlns:a16="http://schemas.microsoft.com/office/drawing/2014/main" id="{6EB7CEE8-1FDE-4518-A3DC-B9A2A13D16AA}"/>
              </a:ext>
            </a:extLst>
          </p:cNvPr>
          <p:cNvGrpSpPr/>
          <p:nvPr/>
        </p:nvGrpSpPr>
        <p:grpSpPr>
          <a:xfrm>
            <a:off x="5505450" y="1022350"/>
            <a:ext cx="6686550" cy="2652130"/>
            <a:chOff x="5562600" y="1022350"/>
            <a:chExt cx="6629400" cy="2647950"/>
          </a:xfrm>
        </p:grpSpPr>
        <p:sp>
          <p:nvSpPr>
            <p:cNvPr id="2" name="PA_矩形 1">
              <a:extLst>
                <a:ext uri="{FF2B5EF4-FFF2-40B4-BE49-F238E27FC236}">
                  <a16:creationId xmlns:a16="http://schemas.microsoft.com/office/drawing/2014/main" id="{8181C224-4D98-4A0A-B44F-C02776D7220A}"/>
                </a:ext>
              </a:extLst>
            </p:cNvPr>
            <p:cNvSpPr/>
            <p:nvPr>
              <p:custDataLst>
                <p:tags r:id="rId6"/>
              </p:custDataLst>
            </p:nvPr>
          </p:nvSpPr>
          <p:spPr>
            <a:xfrm>
              <a:off x="5562600" y="1022350"/>
              <a:ext cx="6629400" cy="2647950"/>
            </a:xfrm>
            <a:prstGeom prst="rect">
              <a:avLst/>
            </a:prstGeom>
            <a:blipFill>
              <a:blip r:embed="rId14"/>
              <a:stretch>
                <a:fillRect/>
              </a:stretch>
            </a:blip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4A98064F-560D-463D-A688-A904B7BB5741}"/>
                </a:ext>
              </a:extLst>
            </p:cNvPr>
            <p:cNvGrpSpPr/>
            <p:nvPr/>
          </p:nvGrpSpPr>
          <p:grpSpPr>
            <a:xfrm>
              <a:off x="5562600" y="1022350"/>
              <a:ext cx="6629400" cy="2647949"/>
              <a:chOff x="5562600" y="1022350"/>
              <a:chExt cx="6629400" cy="2647949"/>
            </a:xfrm>
          </p:grpSpPr>
          <p:sp>
            <p:nvSpPr>
              <p:cNvPr id="14" name="PA_矩形 13">
                <a:extLst>
                  <a:ext uri="{FF2B5EF4-FFF2-40B4-BE49-F238E27FC236}">
                    <a16:creationId xmlns:a16="http://schemas.microsoft.com/office/drawing/2014/main" id="{9FC3584E-A51C-4C9E-9D36-609EB9B02F16}"/>
                  </a:ext>
                </a:extLst>
              </p:cNvPr>
              <p:cNvSpPr/>
              <p:nvPr>
                <p:custDataLst>
                  <p:tags r:id="rId7"/>
                </p:custDataLst>
              </p:nvPr>
            </p:nvSpPr>
            <p:spPr>
              <a:xfrm>
                <a:off x="5562600" y="1022350"/>
                <a:ext cx="6629400" cy="2647949"/>
              </a:xfrm>
              <a:prstGeom prst="rect">
                <a:avLst/>
              </a:prstGeom>
              <a:solidFill>
                <a:schemeClr val="accent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PA_文本框 18">
                <a:extLst>
                  <a:ext uri="{FF2B5EF4-FFF2-40B4-BE49-F238E27FC236}">
                    <a16:creationId xmlns:a16="http://schemas.microsoft.com/office/drawing/2014/main" id="{1C2FEA35-0846-47B5-81E6-7AB93F2B08D2}"/>
                  </a:ext>
                </a:extLst>
              </p:cNvPr>
              <p:cNvSpPr txBox="1"/>
              <p:nvPr>
                <p:custDataLst>
                  <p:tags r:id="rId8"/>
                </p:custDataLst>
              </p:nvPr>
            </p:nvSpPr>
            <p:spPr>
              <a:xfrm>
                <a:off x="6086475" y="2217454"/>
                <a:ext cx="5915025" cy="1323439"/>
              </a:xfrm>
              <a:prstGeom prst="rect">
                <a:avLst/>
              </a:prstGeom>
              <a:noFill/>
            </p:spPr>
            <p:txBody>
              <a:bodyPr wrap="square" rtlCol="0">
                <a:spAutoFit/>
              </a:bodyPr>
              <a:lstStyle>
                <a:defPPr>
                  <a:defRPr lang="en-US"/>
                </a:defPPr>
                <a:lvl1pPr algn="r">
                  <a:defRPr sz="4000" b="1">
                    <a:solidFill>
                      <a:schemeClr val="accent4">
                        <a:lumMod val="40000"/>
                        <a:lumOff val="60000"/>
                      </a:schemeClr>
                    </a:solidFill>
                  </a:defRPr>
                </a:lvl1pPr>
              </a:lstStyle>
              <a:p>
                <a:r>
                  <a:rPr lang="en-US" altLang="zh-CN" dirty="0" err="1"/>
                  <a:t>eXtensible</a:t>
                </a:r>
                <a:r>
                  <a:rPr lang="en-US" altLang="zh-CN" dirty="0"/>
                  <a:t> Software Radio </a:t>
                </a:r>
                <a:r>
                  <a:rPr lang="en-US" altLang="zh-CN" dirty="0" err="1"/>
                  <a:t>Platfoom</a:t>
                </a:r>
                <a:endParaRPr lang="zh-CN" altLang="en-US" dirty="0"/>
              </a:p>
            </p:txBody>
          </p:sp>
        </p:grpSp>
      </p:grpSp>
      <p:pic>
        <p:nvPicPr>
          <p:cNvPr id="27" name="图片 26">
            <a:extLst>
              <a:ext uri="{FF2B5EF4-FFF2-40B4-BE49-F238E27FC236}">
                <a16:creationId xmlns:a16="http://schemas.microsoft.com/office/drawing/2014/main" id="{7938E9D2-605B-4184-A44C-C793F619BBC7}"/>
              </a:ext>
            </a:extLst>
          </p:cNvPr>
          <p:cNvPicPr>
            <a:picLocks noChangeAspect="1"/>
          </p:cNvPicPr>
          <p:nvPr/>
        </p:nvPicPr>
        <p:blipFill>
          <a:blip r:embed="rId15"/>
          <a:stretch>
            <a:fillRect/>
          </a:stretch>
        </p:blipFill>
        <p:spPr>
          <a:xfrm>
            <a:off x="10879834" y="6398789"/>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356159625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750" fill="hold"/>
                                        <p:tgtEl>
                                          <p:spTgt spid="4"/>
                                        </p:tgtEl>
                                        <p:attrNameLst>
                                          <p:attrName>ppt_x</p:attrName>
                                        </p:attrNameLst>
                                      </p:cBhvr>
                                      <p:tavLst>
                                        <p:tav tm="0">
                                          <p:val>
                                            <p:strVal val="1+#ppt_w/2"/>
                                          </p:val>
                                        </p:tav>
                                        <p:tav tm="100000">
                                          <p:val>
                                            <p:strVal val="#ppt_x"/>
                                          </p:val>
                                        </p:tav>
                                      </p:tavLst>
                                    </p:anim>
                                    <p:anim calcmode="lin" valueType="num">
                                      <p:cBhvr additive="base">
                                        <p:cTn id="8" dur="75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750" fill="hold"/>
                                        <p:tgtEl>
                                          <p:spTgt spid="7"/>
                                        </p:tgtEl>
                                        <p:attrNameLst>
                                          <p:attrName>ppt_x</p:attrName>
                                        </p:attrNameLst>
                                      </p:cBhvr>
                                      <p:tavLst>
                                        <p:tav tm="0">
                                          <p:val>
                                            <p:strVal val="0-#ppt_w/2"/>
                                          </p:val>
                                        </p:tav>
                                        <p:tav tm="100000">
                                          <p:val>
                                            <p:strVal val="#ppt_x"/>
                                          </p:val>
                                        </p:tav>
                                      </p:tavLst>
                                    </p:anim>
                                    <p:anim calcmode="lin" valueType="num">
                                      <p:cBhvr additive="base">
                                        <p:cTn id="12" dur="75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750"/>
                            </p:stCondLst>
                            <p:childTnLst>
                              <p:par>
                                <p:cTn id="14" presetID="42"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750"/>
                                        <p:tgtEl>
                                          <p:spTgt spid="8"/>
                                        </p:tgtEl>
                                      </p:cBhvr>
                                    </p:animEffect>
                                    <p:anim calcmode="lin" valueType="num">
                                      <p:cBhvr>
                                        <p:cTn id="17" dur="750" fill="hold"/>
                                        <p:tgtEl>
                                          <p:spTgt spid="8"/>
                                        </p:tgtEl>
                                        <p:attrNameLst>
                                          <p:attrName>ppt_x</p:attrName>
                                        </p:attrNameLst>
                                      </p:cBhvr>
                                      <p:tavLst>
                                        <p:tav tm="0">
                                          <p:val>
                                            <p:strVal val="#ppt_x"/>
                                          </p:val>
                                        </p:tav>
                                        <p:tav tm="100000">
                                          <p:val>
                                            <p:strVal val="#ppt_x"/>
                                          </p:val>
                                        </p:tav>
                                      </p:tavLst>
                                    </p:anim>
                                    <p:anim calcmode="lin" valueType="num">
                                      <p:cBhvr>
                                        <p:cTn id="18" dur="750" fill="hold"/>
                                        <p:tgtEl>
                                          <p:spTgt spid="8"/>
                                        </p:tgtEl>
                                        <p:attrNameLst>
                                          <p:attrName>ppt_y</p:attrName>
                                        </p:attrNameLst>
                                      </p:cBhvr>
                                      <p:tavLst>
                                        <p:tav tm="0">
                                          <p:val>
                                            <p:strVal val="#ppt_y+.1"/>
                                          </p:val>
                                        </p:tav>
                                        <p:tav tm="100000">
                                          <p:val>
                                            <p:strVal val="#ppt_y"/>
                                          </p:val>
                                        </p:tav>
                                      </p:tavLst>
                                    </p:anim>
                                  </p:childTnLst>
                                </p:cTn>
                              </p:par>
                              <p:par>
                                <p:cTn id="19" presetID="47"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750"/>
                                        <p:tgtEl>
                                          <p:spTgt spid="9"/>
                                        </p:tgtEl>
                                      </p:cBhvr>
                                    </p:animEffect>
                                    <p:anim calcmode="lin" valueType="num">
                                      <p:cBhvr>
                                        <p:cTn id="22" dur="750" fill="hold"/>
                                        <p:tgtEl>
                                          <p:spTgt spid="9"/>
                                        </p:tgtEl>
                                        <p:attrNameLst>
                                          <p:attrName>ppt_x</p:attrName>
                                        </p:attrNameLst>
                                      </p:cBhvr>
                                      <p:tavLst>
                                        <p:tav tm="0">
                                          <p:val>
                                            <p:strVal val="#ppt_x"/>
                                          </p:val>
                                        </p:tav>
                                        <p:tav tm="100000">
                                          <p:val>
                                            <p:strVal val="#ppt_x"/>
                                          </p:val>
                                        </p:tav>
                                      </p:tavLst>
                                    </p:anim>
                                    <p:anim calcmode="lin" valueType="num">
                                      <p:cBhvr>
                                        <p:cTn id="23" dur="750" fill="hold"/>
                                        <p:tgtEl>
                                          <p:spTgt spid="9"/>
                                        </p:tgtEl>
                                        <p:attrNameLst>
                                          <p:attrName>ppt_y</p:attrName>
                                        </p:attrNameLst>
                                      </p:cBhvr>
                                      <p:tavLst>
                                        <p:tav tm="0">
                                          <p:val>
                                            <p:strVal val="#ppt_y-.1"/>
                                          </p:val>
                                        </p:tav>
                                        <p:tav tm="100000">
                                          <p:val>
                                            <p:strVal val="#ppt_y"/>
                                          </p:val>
                                        </p:tav>
                                      </p:tavLst>
                                    </p:anim>
                                  </p:childTnLst>
                                </p:cTn>
                              </p:par>
                            </p:childTnLst>
                          </p:cTn>
                        </p:par>
                        <p:par>
                          <p:cTn id="24" fill="hold">
                            <p:stCondLst>
                              <p:cond delay="1500"/>
                            </p:stCondLst>
                            <p:childTnLst>
                              <p:par>
                                <p:cTn id="25" presetID="22" presetClass="entr" presetSubtype="8" fill="hold" grpId="0" nodeType="afterEffect">
                                  <p:stCondLst>
                                    <p:cond delay="0"/>
                                  </p:stCondLst>
                                  <p:iterate type="lt">
                                    <p:tmPct val="10000"/>
                                  </p:iterate>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文本框 6">
            <a:extLst>
              <a:ext uri="{FF2B5EF4-FFF2-40B4-BE49-F238E27FC236}">
                <a16:creationId xmlns:a16="http://schemas.microsoft.com/office/drawing/2014/main" id="{5CF0CAFA-3E66-44D4-AABD-5B054996BEFF}"/>
              </a:ext>
            </a:extLst>
          </p:cNvPr>
          <p:cNvSpPr txBox="1"/>
          <p:nvPr>
            <p:custDataLst>
              <p:tags r:id="rId1"/>
            </p:custDataLst>
          </p:nvPr>
        </p:nvSpPr>
        <p:spPr>
          <a:xfrm>
            <a:off x="1191407" y="236414"/>
            <a:ext cx="4904593" cy="584775"/>
          </a:xfrm>
          <a:prstGeom prst="rect">
            <a:avLst/>
          </a:prstGeom>
          <a:noFill/>
        </p:spPr>
        <p:txBody>
          <a:bodyPr wrap="square" rtlCol="0">
            <a:spAutoFit/>
          </a:bodyPr>
          <a:lstStyle/>
          <a:p>
            <a:r>
              <a:rPr lang="en-US" altLang="zh-CN"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TD-LTE</a:t>
            </a:r>
            <a:r>
              <a:rPr lang="zh-CN" alt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物理层协议简介：</a:t>
            </a:r>
          </a:p>
        </p:txBody>
      </p:sp>
      <p:sp>
        <p:nvSpPr>
          <p:cNvPr id="20" name="矩形 19">
            <a:extLst>
              <a:ext uri="{FF2B5EF4-FFF2-40B4-BE49-F238E27FC236}">
                <a16:creationId xmlns:a16="http://schemas.microsoft.com/office/drawing/2014/main" id="{01DA0DD1-FB16-4AA8-83BA-0355CE1D4E70}"/>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9ED0783-AB8C-49EF-93B8-460366FCF7AA}"/>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934497DD-15D3-41DD-A3FC-FBCFA21D8500}"/>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E2244758-F0D0-444F-9FB0-F09D6685BD75}"/>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5A669A86-BE7D-4098-AD3B-67D0C7C6BAD9}"/>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E9990B47-A5FD-497D-9923-C77A155DC3D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1FA55862-8673-5A99-563F-4DAFB6CA7F51}"/>
              </a:ext>
            </a:extLst>
          </p:cNvPr>
          <p:cNvSpPr txBox="1"/>
          <p:nvPr/>
        </p:nvSpPr>
        <p:spPr>
          <a:xfrm>
            <a:off x="789833" y="1075398"/>
            <a:ext cx="5306168" cy="3822650"/>
          </a:xfrm>
          <a:prstGeom prst="rect">
            <a:avLst/>
          </a:prstGeom>
          <a:noFill/>
        </p:spPr>
        <p:txBody>
          <a:bodyPr wrap="square" rtlCol="0">
            <a:spAutoFit/>
          </a:bodyPr>
          <a:lstStyle/>
          <a:p>
            <a:pPr>
              <a:lnSpc>
                <a:spcPct val="150000"/>
              </a:lnSpc>
            </a:pPr>
            <a:r>
              <a:rPr lang="en-US" altLang="zh-CN" b="1" dirty="0"/>
              <a:t>    LTE</a:t>
            </a:r>
            <a:r>
              <a:rPr lang="en-US" altLang="zh-CN" dirty="0"/>
              <a:t>(</a:t>
            </a:r>
            <a:r>
              <a:rPr lang="zh-CN" altLang="en-US" dirty="0"/>
              <a:t>长期演进技术</a:t>
            </a:r>
            <a:r>
              <a:rPr lang="en-US" altLang="zh-CN" dirty="0"/>
              <a:t>)</a:t>
            </a:r>
            <a:r>
              <a:rPr lang="zh-CN" altLang="en-US" dirty="0"/>
              <a:t>作为第四代移动通信技术</a:t>
            </a:r>
            <a:r>
              <a:rPr lang="en-US" altLang="zh-CN" dirty="0"/>
              <a:t>(4G)</a:t>
            </a:r>
            <a:r>
              <a:rPr lang="zh-CN" altLang="en-US" dirty="0"/>
              <a:t>的核心，标志着移动通信进入了一个全新的高速数据传输四时代。</a:t>
            </a:r>
            <a:r>
              <a:rPr lang="en-US" altLang="zh-CN" dirty="0"/>
              <a:t>TD-LTE</a:t>
            </a:r>
            <a:r>
              <a:rPr lang="zh-CN" altLang="en-US" dirty="0"/>
              <a:t>物理层是无线通信链路的最底层，负责在无线信道上实现比特流的传输。</a:t>
            </a:r>
            <a:endParaRPr lang="en-US" altLang="zh-CN" dirty="0"/>
          </a:p>
          <a:p>
            <a:pPr>
              <a:lnSpc>
                <a:spcPct val="150000"/>
              </a:lnSpc>
            </a:pPr>
            <a:r>
              <a:rPr lang="en-US" altLang="zh-CN" dirty="0"/>
              <a:t>    </a:t>
            </a:r>
            <a:r>
              <a:rPr lang="zh-CN" altLang="en-US" dirty="0"/>
              <a:t>物理层的设计包括了调制解调技术、编码解码技术、多址接入技术、资源分配机制以及传输技术等多个方面，这些都是确保无线信号有效传输和高效利用无线频谱资源的关键技术</a:t>
            </a:r>
            <a:endParaRPr lang="en-US" altLang="zh-CN" dirty="0"/>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68194577-BE31-335E-1467-A130EDFEC2F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8D16CF4B-4EB7-050C-F404-438DCEAE85F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pic>
        <p:nvPicPr>
          <p:cNvPr id="5" name="图片 4">
            <a:extLst>
              <a:ext uri="{FF2B5EF4-FFF2-40B4-BE49-F238E27FC236}">
                <a16:creationId xmlns:a16="http://schemas.microsoft.com/office/drawing/2014/main" id="{4DFFD77D-E758-04D8-2678-0312A7C09C35}"/>
              </a:ext>
            </a:extLst>
          </p:cNvPr>
          <p:cNvPicPr>
            <a:picLocks noChangeAspect="1"/>
          </p:cNvPicPr>
          <p:nvPr/>
        </p:nvPicPr>
        <p:blipFill>
          <a:blip r:embed="rId6"/>
          <a:stretch>
            <a:fillRect/>
          </a:stretch>
        </p:blipFill>
        <p:spPr>
          <a:xfrm>
            <a:off x="6505575" y="2171857"/>
            <a:ext cx="4571429" cy="2514286"/>
          </a:xfrm>
          <a:prstGeom prst="rect">
            <a:avLst/>
          </a:prstGeom>
        </p:spPr>
      </p:pic>
    </p:spTree>
    <p:extLst>
      <p:ext uri="{BB962C8B-B14F-4D97-AF65-F5344CB8AC3E}">
        <p14:creationId xmlns:p14="http://schemas.microsoft.com/office/powerpoint/2010/main" val="25896456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8C394-DD99-2118-84C7-2C1E6655413E}"/>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DD2225E-2E89-881D-136A-69AEBEBE7376}"/>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B9B22BB-29D0-DFC8-BED0-7C2F89D9E7A3}"/>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A0EDD9F5-42B3-740E-EE04-CD6987D738FB}"/>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CD5E9783-E4E3-8BE8-ADE1-9AF9C291D7C8}"/>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34B01128-41D4-BB68-5A96-4E4B5AFC31E4}"/>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08E39F3F-4F79-929C-55C0-726EE6B2EBBF}"/>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2BEA3A35-349C-6892-A619-2C39A1D2FA74}"/>
              </a:ext>
            </a:extLst>
          </p:cNvPr>
          <p:cNvSpPr txBox="1"/>
          <p:nvPr/>
        </p:nvSpPr>
        <p:spPr>
          <a:xfrm>
            <a:off x="789832" y="1075398"/>
            <a:ext cx="10610390" cy="5207644"/>
          </a:xfrm>
          <a:prstGeom prst="rect">
            <a:avLst/>
          </a:prstGeom>
          <a:noFill/>
        </p:spPr>
        <p:txBody>
          <a:bodyPr wrap="square" rtlCol="0">
            <a:spAutoFit/>
          </a:bodyPr>
          <a:lstStyle/>
          <a:p>
            <a:pPr>
              <a:lnSpc>
                <a:spcPct val="150000"/>
              </a:lnSpc>
            </a:pPr>
            <a:r>
              <a:rPr lang="en-US" altLang="zh-CN" b="1" dirty="0"/>
              <a:t>TD-LTE</a:t>
            </a:r>
            <a:r>
              <a:rPr lang="zh-CN" altLang="en-US" b="1" dirty="0"/>
              <a:t>下行链路的信号传输</a:t>
            </a:r>
          </a:p>
          <a:p>
            <a:pPr>
              <a:lnSpc>
                <a:spcPct val="150000"/>
              </a:lnSpc>
            </a:pPr>
            <a:r>
              <a:rPr lang="zh-CN" altLang="en-US" dirty="0"/>
              <a:t>    在</a:t>
            </a:r>
            <a:r>
              <a:rPr lang="en-US" altLang="zh-CN" dirty="0"/>
              <a:t>LTE</a:t>
            </a:r>
            <a:r>
              <a:rPr lang="zh-CN" altLang="en-US" dirty="0"/>
              <a:t>系统中，下行链路信号传输的核心是帧结构的设计，它直接关系到数据的高效传输和资源的有效利用。</a:t>
            </a:r>
            <a:endParaRPr lang="en-US" altLang="zh-CN" dirty="0"/>
          </a:p>
          <a:p>
            <a:pPr>
              <a:lnSpc>
                <a:spcPct val="150000"/>
              </a:lnSpc>
            </a:pPr>
            <a:r>
              <a:rPr lang="en-US" altLang="zh-CN" dirty="0"/>
              <a:t>    LTE</a:t>
            </a:r>
            <a:r>
              <a:rPr lang="zh-CN" altLang="en-US" dirty="0"/>
              <a:t>的帧结构是基于无线帧和子帧的概念，其中无线帧为</a:t>
            </a:r>
            <a:r>
              <a:rPr lang="en-US" altLang="zh-CN" dirty="0"/>
              <a:t>10</a:t>
            </a:r>
            <a:r>
              <a:rPr lang="zh-CN" altLang="en-US" dirty="0"/>
              <a:t>毫秒时长，由</a:t>
            </a:r>
            <a:r>
              <a:rPr lang="en-US" altLang="zh-CN" dirty="0"/>
              <a:t>10</a:t>
            </a:r>
            <a:r>
              <a:rPr lang="zh-CN" altLang="en-US" dirty="0"/>
              <a:t>个</a:t>
            </a:r>
            <a:r>
              <a:rPr lang="en-US" altLang="zh-CN" dirty="0"/>
              <a:t>1</a:t>
            </a:r>
            <a:r>
              <a:rPr lang="zh-CN" altLang="en-US" dirty="0"/>
              <a:t>毫秒的子帧组成。每个子帧进一步分为两个</a:t>
            </a:r>
            <a:r>
              <a:rPr lang="en-US" altLang="zh-CN" dirty="0"/>
              <a:t>0.5</a:t>
            </a:r>
            <a:r>
              <a:rPr lang="zh-CN" altLang="en-US" dirty="0"/>
              <a:t>毫秒的时隙，每个时隙包含多个</a:t>
            </a:r>
            <a:r>
              <a:rPr lang="en-US" altLang="zh-CN" dirty="0"/>
              <a:t>OFDM</a:t>
            </a:r>
            <a:r>
              <a:rPr lang="zh-CN" altLang="en-US" dirty="0"/>
              <a:t>符号。每个</a:t>
            </a:r>
            <a:r>
              <a:rPr lang="en-US" altLang="zh-CN" dirty="0"/>
              <a:t>OFDM</a:t>
            </a:r>
            <a:r>
              <a:rPr lang="zh-CN" altLang="en-US" dirty="0"/>
              <a:t>符号承载着一定数量的调制符号，这些符号会根据链路质量选择合适的调制方式，如</a:t>
            </a:r>
            <a:r>
              <a:rPr lang="en-US" altLang="zh-CN" dirty="0"/>
              <a:t>QPSK</a:t>
            </a:r>
            <a:r>
              <a:rPr lang="zh-CN" altLang="en-US" dirty="0"/>
              <a:t>、</a:t>
            </a:r>
            <a:r>
              <a:rPr lang="en-US" altLang="zh-CN" dirty="0"/>
              <a:t>16QAM</a:t>
            </a:r>
            <a:r>
              <a:rPr lang="zh-CN" altLang="en-US" dirty="0"/>
              <a:t>、</a:t>
            </a:r>
            <a:r>
              <a:rPr lang="en-US" altLang="zh-CN" dirty="0"/>
              <a:t>64QAM</a:t>
            </a:r>
            <a:r>
              <a:rPr lang="zh-CN" altLang="en-US" dirty="0"/>
              <a:t>。</a:t>
            </a:r>
            <a:endParaRPr lang="en-US" altLang="zh-CN" dirty="0"/>
          </a:p>
          <a:p>
            <a:pPr>
              <a:lnSpc>
                <a:spcPct val="150000"/>
              </a:lnSpc>
            </a:pPr>
            <a:r>
              <a:rPr lang="zh-CN" altLang="en-US" dirty="0"/>
              <a:t>    在资源映射方面，</a:t>
            </a:r>
            <a:r>
              <a:rPr lang="en-US" altLang="zh-CN" dirty="0"/>
              <a:t>LTE</a:t>
            </a:r>
            <a:r>
              <a:rPr lang="zh-CN" altLang="en-US" dirty="0"/>
              <a:t>采用了资源块</a:t>
            </a:r>
            <a:r>
              <a:rPr lang="en-US" altLang="zh-CN" dirty="0"/>
              <a:t>(Resource </a:t>
            </a:r>
            <a:r>
              <a:rPr lang="en-US" altLang="zh-CN" dirty="0" err="1"/>
              <a:t>Block,RB</a:t>
            </a:r>
            <a:r>
              <a:rPr lang="en-US" altLang="zh-CN" dirty="0"/>
              <a:t>)</a:t>
            </a:r>
            <a:r>
              <a:rPr lang="zh-CN" altLang="en-US" dirty="0"/>
              <a:t>的概念，一个资源块由</a:t>
            </a:r>
            <a:r>
              <a:rPr lang="en-US" altLang="zh-CN" dirty="0"/>
              <a:t>12</a:t>
            </a:r>
            <a:r>
              <a:rPr lang="zh-CN" altLang="en-US" dirty="0"/>
              <a:t>个连续的子载波和一个时隙组成，这为频率和时间资源的分配提供了基础。</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BB769AC6-740A-9262-E457-C06781CBC419}"/>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5070146F-B644-6AB6-527B-4789FD67EB54}"/>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PA_文本框 6">
            <a:extLst>
              <a:ext uri="{FF2B5EF4-FFF2-40B4-BE49-F238E27FC236}">
                <a16:creationId xmlns:a16="http://schemas.microsoft.com/office/drawing/2014/main" id="{8FC6F591-C0B2-5219-4FAD-68ECE0732985}"/>
              </a:ext>
            </a:extLst>
          </p:cNvPr>
          <p:cNvSpPr txBox="1"/>
          <p:nvPr>
            <p:custDataLst>
              <p:tags r:id="rId1"/>
            </p:custDataLst>
          </p:nvPr>
        </p:nvSpPr>
        <p:spPr>
          <a:xfrm>
            <a:off x="1191407" y="236414"/>
            <a:ext cx="4904593" cy="584775"/>
          </a:xfrm>
          <a:prstGeom prst="rect">
            <a:avLst/>
          </a:prstGeom>
          <a:noFill/>
        </p:spPr>
        <p:txBody>
          <a:bodyPr wrap="square" rtlCol="0">
            <a:spAutoFit/>
          </a:bodyPr>
          <a:lstStyle/>
          <a:p>
            <a:r>
              <a:rPr lang="en-US" altLang="zh-CN"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TD-LTE</a:t>
            </a:r>
            <a:r>
              <a:rPr lang="zh-CN" alt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物理层协议简介：</a:t>
            </a:r>
          </a:p>
        </p:txBody>
      </p:sp>
    </p:spTree>
    <p:extLst>
      <p:ext uri="{BB962C8B-B14F-4D97-AF65-F5344CB8AC3E}">
        <p14:creationId xmlns:p14="http://schemas.microsoft.com/office/powerpoint/2010/main" val="25678489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750"/>
                                        <p:tgtEl>
                                          <p:spTgt spid="2"/>
                                        </p:tgtEl>
                                      </p:cBhvr>
                                    </p:animEffect>
                                    <p:anim calcmode="lin" valueType="num">
                                      <p:cBhvr>
                                        <p:cTn id="19" dur="750" fill="hold"/>
                                        <p:tgtEl>
                                          <p:spTgt spid="2"/>
                                        </p:tgtEl>
                                        <p:attrNameLst>
                                          <p:attrName>ppt_x</p:attrName>
                                        </p:attrNameLst>
                                      </p:cBhvr>
                                      <p:tavLst>
                                        <p:tav tm="0">
                                          <p:val>
                                            <p:strVal val="#ppt_x"/>
                                          </p:val>
                                        </p:tav>
                                        <p:tav tm="100000">
                                          <p:val>
                                            <p:strVal val="#ppt_x"/>
                                          </p:val>
                                        </p:tav>
                                      </p:tavLst>
                                    </p:anim>
                                    <p:anim calcmode="lin" valueType="num">
                                      <p:cBhvr>
                                        <p:cTn id="20" dur="750" fill="hold"/>
                                        <p:tgtEl>
                                          <p:spTgt spid="2"/>
                                        </p:tgtEl>
                                        <p:attrNameLst>
                                          <p:attrName>ppt_y</p:attrName>
                                        </p:attrNameLst>
                                      </p:cBhvr>
                                      <p:tavLst>
                                        <p:tav tm="0">
                                          <p:val>
                                            <p:strVal val="#ppt_y+.1"/>
                                          </p:val>
                                        </p:tav>
                                        <p:tav tm="100000">
                                          <p:val>
                                            <p:strVal val="#ppt_y"/>
                                          </p:val>
                                        </p:tav>
                                      </p:tavLst>
                                    </p:anim>
                                  </p:childTnLst>
                                </p:cTn>
                              </p:par>
                            </p:childTnLst>
                          </p:cTn>
                        </p:par>
                        <p:par>
                          <p:cTn id="21" fill="hold">
                            <p:stCondLst>
                              <p:cond delay="750"/>
                            </p:stCondLst>
                            <p:childTnLst>
                              <p:par>
                                <p:cTn id="22" presetID="29"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2"/>
                                          </p:val>
                                        </p:tav>
                                        <p:tav tm="100000">
                                          <p:val>
                                            <p:strVal val="#ppt_x"/>
                                          </p:val>
                                        </p:tav>
                                      </p:tavLst>
                                    </p:anim>
                                    <p:anim calcmode="lin" valueType="num">
                                      <p:cBhvr>
                                        <p:cTn id="25" dur="5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72554-371F-E0E3-75E8-5C08BBA614F1}"/>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6A82D57E-0DDC-3D1E-1685-5951CAAF8254}"/>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090D5D0-6520-383F-E51A-A8C4B83861E1}"/>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93625B81-B269-775D-A590-BBB7ACDDAF14}"/>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D19CD5F7-8F90-9A9C-E0DD-34ABE7B57A3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FC0E2CBD-1D6F-C280-A42B-AB5593A31EE3}"/>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ABCD5453-3DEE-F123-FFBC-DCFFD173A252}"/>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B6487D32-6438-DE3E-3C8D-D46E00865E43}"/>
              </a:ext>
            </a:extLst>
          </p:cNvPr>
          <p:cNvSpPr txBox="1"/>
          <p:nvPr/>
        </p:nvSpPr>
        <p:spPr>
          <a:xfrm>
            <a:off x="334464" y="1035205"/>
            <a:ext cx="5590871" cy="7285136"/>
          </a:xfrm>
          <a:prstGeom prst="rect">
            <a:avLst/>
          </a:prstGeom>
          <a:noFill/>
        </p:spPr>
        <p:txBody>
          <a:bodyPr wrap="square" rtlCol="0">
            <a:spAutoFit/>
          </a:bodyPr>
          <a:lstStyle/>
          <a:p>
            <a:pPr>
              <a:lnSpc>
                <a:spcPct val="150000"/>
              </a:lnSpc>
            </a:pPr>
            <a:r>
              <a:rPr lang="en-US" altLang="zh-CN" b="1" dirty="0">
                <a:solidFill>
                  <a:srgbClr val="FF0000"/>
                </a:solidFill>
              </a:rPr>
              <a:t>TD-LTE</a:t>
            </a:r>
            <a:r>
              <a:rPr lang="zh-CN" altLang="en-US" b="1" dirty="0">
                <a:solidFill>
                  <a:srgbClr val="FF0000"/>
                </a:solidFill>
              </a:rPr>
              <a:t>帧结构</a:t>
            </a:r>
          </a:p>
          <a:p>
            <a:pPr>
              <a:lnSpc>
                <a:spcPct val="150000"/>
              </a:lnSpc>
            </a:pPr>
            <a:r>
              <a:rPr lang="zh-CN" altLang="en-US" dirty="0"/>
              <a:t>    </a:t>
            </a:r>
            <a:r>
              <a:rPr lang="en-US" altLang="zh-CN" dirty="0"/>
              <a:t>LTE</a:t>
            </a:r>
            <a:r>
              <a:rPr lang="zh-CN" altLang="en-US" dirty="0"/>
              <a:t>帧结构：帧长</a:t>
            </a:r>
            <a:r>
              <a:rPr lang="en-US" altLang="zh-CN" dirty="0"/>
              <a:t>10ms</a:t>
            </a:r>
            <a:r>
              <a:rPr lang="zh-CN" altLang="en-US" dirty="0"/>
              <a:t>，共</a:t>
            </a:r>
            <a:r>
              <a:rPr lang="en-US" altLang="zh-CN" dirty="0"/>
              <a:t>20</a:t>
            </a:r>
            <a:r>
              <a:rPr lang="zh-CN" altLang="en-US" dirty="0"/>
              <a:t>个时隙，时隙长度为</a:t>
            </a:r>
            <a:r>
              <a:rPr lang="en-US" altLang="zh-CN" dirty="0"/>
              <a:t>0.5ms</a:t>
            </a:r>
            <a:r>
              <a:rPr lang="zh-CN" altLang="en-US" dirty="0"/>
              <a:t>，一个子帧由相邻的两个时隙组成，时长</a:t>
            </a:r>
            <a:r>
              <a:rPr lang="en-US" altLang="zh-CN" dirty="0"/>
              <a:t>1ms</a:t>
            </a:r>
            <a:r>
              <a:rPr lang="zh-CN" altLang="en-US" dirty="0"/>
              <a:t>，数据采集率为</a:t>
            </a:r>
            <a:r>
              <a:rPr lang="en-US" altLang="zh-CN" dirty="0"/>
              <a:t>30.72MHZ</a:t>
            </a:r>
            <a:r>
              <a:rPr lang="zh-CN" altLang="en-US" dirty="0"/>
              <a:t>，故每个子帧有</a:t>
            </a:r>
            <a:r>
              <a:rPr lang="en-US" altLang="zh-CN" dirty="0"/>
              <a:t>30720</a:t>
            </a:r>
            <a:r>
              <a:rPr lang="zh-CN" altLang="en-US" dirty="0"/>
              <a:t>个数据。</a:t>
            </a:r>
            <a:endParaRPr lang="en-US" altLang="zh-CN" dirty="0"/>
          </a:p>
          <a:p>
            <a:pPr>
              <a:lnSpc>
                <a:spcPct val="150000"/>
              </a:lnSpc>
            </a:pPr>
            <a:r>
              <a:rPr lang="en-US" altLang="zh-CN" dirty="0"/>
              <a:t>    1</a:t>
            </a:r>
            <a:r>
              <a:rPr lang="zh-CN" altLang="en-US" dirty="0"/>
              <a:t>个子帧</a:t>
            </a:r>
            <a:r>
              <a:rPr lang="en-US" altLang="zh-CN" dirty="0"/>
              <a:t>14</a:t>
            </a:r>
            <a:r>
              <a:rPr lang="zh-CN" altLang="en-US" dirty="0"/>
              <a:t>个</a:t>
            </a:r>
            <a:r>
              <a:rPr lang="en-US" altLang="zh-CN" dirty="0"/>
              <a:t>OFDM</a:t>
            </a:r>
            <a:r>
              <a:rPr lang="zh-CN" altLang="en-US" dirty="0"/>
              <a:t>符号，每个时隙</a:t>
            </a:r>
            <a:r>
              <a:rPr lang="en-US" altLang="zh-CN" dirty="0"/>
              <a:t>7</a:t>
            </a:r>
            <a:r>
              <a:rPr lang="zh-CN" altLang="en-US" dirty="0"/>
              <a:t>个</a:t>
            </a:r>
            <a:r>
              <a:rPr lang="en-US" altLang="zh-CN" dirty="0"/>
              <a:t>OFDM</a:t>
            </a:r>
            <a:r>
              <a:rPr lang="zh-CN" altLang="en-US" dirty="0"/>
              <a:t>符号，有用数据占</a:t>
            </a:r>
            <a:r>
              <a:rPr lang="en-US" altLang="zh-CN" dirty="0"/>
              <a:t>6*2</a:t>
            </a:r>
            <a:r>
              <a:rPr lang="zh-CN" altLang="en-US" dirty="0"/>
              <a:t>个符号，导频数据占</a:t>
            </a:r>
            <a:r>
              <a:rPr lang="en-US" altLang="zh-CN" dirty="0"/>
              <a:t>1*2</a:t>
            </a:r>
            <a:r>
              <a:rPr lang="zh-CN" altLang="en-US" dirty="0"/>
              <a:t>个符号，导频数据占据符号位置</a:t>
            </a:r>
            <a:r>
              <a:rPr lang="en-US" altLang="zh-CN" dirty="0"/>
              <a:t>3</a:t>
            </a:r>
            <a:r>
              <a:rPr lang="zh-CN" altLang="en-US" dirty="0"/>
              <a:t>、</a:t>
            </a:r>
            <a:r>
              <a:rPr lang="en-US" altLang="zh-CN" dirty="0"/>
              <a:t>10</a:t>
            </a:r>
            <a:r>
              <a:rPr lang="zh-CN" altLang="en-US" dirty="0"/>
              <a:t>（从</a:t>
            </a:r>
            <a:r>
              <a:rPr lang="en-US" altLang="zh-CN" dirty="0"/>
              <a:t>0</a:t>
            </a:r>
            <a:r>
              <a:rPr lang="zh-CN" altLang="en-US" dirty="0"/>
              <a:t>开始，</a:t>
            </a:r>
            <a:r>
              <a:rPr lang="en-US" altLang="zh-CN" dirty="0"/>
              <a:t>0~13</a:t>
            </a:r>
            <a:r>
              <a:rPr lang="zh-CN" altLang="en-US" dirty="0"/>
              <a:t>）</a:t>
            </a:r>
            <a:endParaRPr lang="en-US" altLang="zh-CN" dirty="0"/>
          </a:p>
          <a:p>
            <a:pPr>
              <a:lnSpc>
                <a:spcPct val="150000"/>
              </a:lnSpc>
            </a:pPr>
            <a:r>
              <a:rPr lang="en-US" altLang="zh-CN" dirty="0"/>
              <a:t>    </a:t>
            </a:r>
            <a:r>
              <a:rPr lang="zh-CN" altLang="en-US" dirty="0"/>
              <a:t>在</a:t>
            </a:r>
            <a:r>
              <a:rPr lang="en-US" altLang="zh-CN" dirty="0"/>
              <a:t>LTE</a:t>
            </a:r>
            <a:r>
              <a:rPr lang="zh-CN" altLang="en-US" dirty="0"/>
              <a:t>（</a:t>
            </a:r>
            <a:r>
              <a:rPr lang="en-US" altLang="zh-CN" dirty="0"/>
              <a:t>Long Term Evolution</a:t>
            </a:r>
            <a:r>
              <a:rPr lang="zh-CN" altLang="en-US" dirty="0"/>
              <a:t>）中，</a:t>
            </a:r>
            <a:r>
              <a:rPr lang="en-US" altLang="zh-CN" dirty="0"/>
              <a:t>Resource Block</a:t>
            </a:r>
            <a:r>
              <a:rPr lang="zh-CN" altLang="en-US" dirty="0"/>
              <a:t>（</a:t>
            </a:r>
            <a:r>
              <a:rPr lang="en-US" altLang="zh-CN" dirty="0"/>
              <a:t>RB</a:t>
            </a:r>
            <a:r>
              <a:rPr lang="zh-CN" altLang="en-US" dirty="0"/>
              <a:t>）是资源分配的基本单位。本项目中，总共</a:t>
            </a:r>
            <a:r>
              <a:rPr lang="en-US" altLang="zh-CN" dirty="0"/>
              <a:t>100</a:t>
            </a:r>
            <a:r>
              <a:rPr lang="zh-CN" altLang="en-US" dirty="0"/>
              <a:t>个</a:t>
            </a:r>
            <a:r>
              <a:rPr lang="en-US" altLang="zh-CN" dirty="0"/>
              <a:t>RB</a:t>
            </a:r>
            <a:r>
              <a:rPr lang="zh-CN" altLang="en-US" dirty="0"/>
              <a:t>，每个</a:t>
            </a:r>
            <a:r>
              <a:rPr lang="en-US" altLang="zh-CN" dirty="0"/>
              <a:t>RB</a:t>
            </a:r>
            <a:r>
              <a:rPr lang="zh-CN" altLang="en-US" dirty="0"/>
              <a:t>由频域上连续</a:t>
            </a:r>
            <a:r>
              <a:rPr lang="en-US" altLang="zh-CN" dirty="0"/>
              <a:t>12</a:t>
            </a:r>
            <a:r>
              <a:rPr lang="zh-CN" altLang="en-US" dirty="0"/>
              <a:t>个子载波组成，故子载波数为</a:t>
            </a:r>
            <a:r>
              <a:rPr lang="en-US" altLang="zh-CN" dirty="0"/>
              <a:t>1200</a:t>
            </a:r>
            <a:r>
              <a:rPr lang="zh-CN" altLang="en-US" dirty="0"/>
              <a:t>。由于每个子载波的间隔为</a:t>
            </a:r>
            <a:r>
              <a:rPr lang="en-US" altLang="zh-CN" dirty="0"/>
              <a:t>15kHz</a:t>
            </a:r>
            <a:r>
              <a:rPr lang="zh-CN" altLang="en-US" dirty="0"/>
              <a:t>，因此一个</a:t>
            </a:r>
            <a:r>
              <a:rPr lang="en-US" altLang="zh-CN" dirty="0"/>
              <a:t>RB</a:t>
            </a:r>
            <a:r>
              <a:rPr lang="zh-CN" altLang="en-US" dirty="0"/>
              <a:t>的带宽为</a:t>
            </a:r>
            <a:r>
              <a:rPr lang="en-US" altLang="zh-CN" dirty="0"/>
              <a:t>180kHz</a:t>
            </a:r>
            <a:r>
              <a:rPr lang="zh-CN" altLang="en-US" dirty="0"/>
              <a:t>（</a:t>
            </a:r>
            <a:r>
              <a:rPr lang="en-US" altLang="zh-CN" dirty="0"/>
              <a:t>12</a:t>
            </a:r>
            <a:r>
              <a:rPr lang="zh-CN" altLang="en-US" dirty="0"/>
              <a:t>个子载波</a:t>
            </a:r>
            <a:r>
              <a:rPr lang="en-US" altLang="zh-CN" dirty="0"/>
              <a:t>×15kHz/</a:t>
            </a:r>
            <a:r>
              <a:rPr lang="zh-CN" altLang="en-US" dirty="0"/>
              <a:t>子载波）。</a:t>
            </a:r>
            <a:endParaRPr lang="en-US" altLang="zh-CN" dirty="0"/>
          </a:p>
          <a:p>
            <a:pPr>
              <a:lnSpc>
                <a:spcPct val="150000"/>
              </a:lnSpc>
            </a:pP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1D546AEB-6B8F-3191-C3FA-EAEDFC89B3BA}"/>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0A367564-D2CB-1F8A-9149-48357325CAF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PA_文本框 6">
            <a:extLst>
              <a:ext uri="{FF2B5EF4-FFF2-40B4-BE49-F238E27FC236}">
                <a16:creationId xmlns:a16="http://schemas.microsoft.com/office/drawing/2014/main" id="{8352DCBD-6229-2821-95C8-628AC4852B2E}"/>
              </a:ext>
            </a:extLst>
          </p:cNvPr>
          <p:cNvSpPr txBox="1"/>
          <p:nvPr>
            <p:custDataLst>
              <p:tags r:id="rId1"/>
            </p:custDataLst>
          </p:nvPr>
        </p:nvSpPr>
        <p:spPr>
          <a:xfrm>
            <a:off x="1191407" y="236414"/>
            <a:ext cx="4904593" cy="584775"/>
          </a:xfrm>
          <a:prstGeom prst="rect">
            <a:avLst/>
          </a:prstGeom>
          <a:noFill/>
        </p:spPr>
        <p:txBody>
          <a:bodyPr wrap="square" rtlCol="0">
            <a:spAutoFit/>
          </a:bodyPr>
          <a:lstStyle/>
          <a:p>
            <a:r>
              <a:rPr lang="en-US" altLang="zh-CN"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TD-LTE</a:t>
            </a:r>
            <a:r>
              <a:rPr lang="zh-CN" alt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物理层协议简介：</a:t>
            </a:r>
          </a:p>
        </p:txBody>
      </p:sp>
      <p:pic>
        <p:nvPicPr>
          <p:cNvPr id="3" name="图片 2" descr="IMG_256">
            <a:extLst>
              <a:ext uri="{FF2B5EF4-FFF2-40B4-BE49-F238E27FC236}">
                <a16:creationId xmlns:a16="http://schemas.microsoft.com/office/drawing/2014/main" id="{39CF6842-B75C-E176-EC4E-C862E7E7C100}"/>
              </a:ext>
            </a:extLst>
          </p:cNvPr>
          <p:cNvPicPr>
            <a:picLocks noChangeAspect="1"/>
          </p:cNvPicPr>
          <p:nvPr/>
        </p:nvPicPr>
        <p:blipFill>
          <a:blip r:embed="rId6"/>
          <a:stretch>
            <a:fillRect/>
          </a:stretch>
        </p:blipFill>
        <p:spPr>
          <a:xfrm>
            <a:off x="5925335" y="1520737"/>
            <a:ext cx="6221807" cy="4216872"/>
          </a:xfrm>
          <a:prstGeom prst="rect">
            <a:avLst/>
          </a:prstGeom>
          <a:noFill/>
          <a:ln w="9525">
            <a:noFill/>
          </a:ln>
        </p:spPr>
      </p:pic>
    </p:spTree>
    <p:extLst>
      <p:ext uri="{BB962C8B-B14F-4D97-AF65-F5344CB8AC3E}">
        <p14:creationId xmlns:p14="http://schemas.microsoft.com/office/powerpoint/2010/main" val="367987083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750"/>
                                        <p:tgtEl>
                                          <p:spTgt spid="2"/>
                                        </p:tgtEl>
                                      </p:cBhvr>
                                    </p:animEffect>
                                    <p:anim calcmode="lin" valueType="num">
                                      <p:cBhvr>
                                        <p:cTn id="19" dur="750" fill="hold"/>
                                        <p:tgtEl>
                                          <p:spTgt spid="2"/>
                                        </p:tgtEl>
                                        <p:attrNameLst>
                                          <p:attrName>ppt_x</p:attrName>
                                        </p:attrNameLst>
                                      </p:cBhvr>
                                      <p:tavLst>
                                        <p:tav tm="0">
                                          <p:val>
                                            <p:strVal val="#ppt_x"/>
                                          </p:val>
                                        </p:tav>
                                        <p:tav tm="100000">
                                          <p:val>
                                            <p:strVal val="#ppt_x"/>
                                          </p:val>
                                        </p:tav>
                                      </p:tavLst>
                                    </p:anim>
                                    <p:anim calcmode="lin" valueType="num">
                                      <p:cBhvr>
                                        <p:cTn id="20" dur="750" fill="hold"/>
                                        <p:tgtEl>
                                          <p:spTgt spid="2"/>
                                        </p:tgtEl>
                                        <p:attrNameLst>
                                          <p:attrName>ppt_y</p:attrName>
                                        </p:attrNameLst>
                                      </p:cBhvr>
                                      <p:tavLst>
                                        <p:tav tm="0">
                                          <p:val>
                                            <p:strVal val="#ppt_y+.1"/>
                                          </p:val>
                                        </p:tav>
                                        <p:tav tm="100000">
                                          <p:val>
                                            <p:strVal val="#ppt_y"/>
                                          </p:val>
                                        </p:tav>
                                      </p:tavLst>
                                    </p:anim>
                                  </p:childTnLst>
                                </p:cTn>
                              </p:par>
                            </p:childTnLst>
                          </p:cTn>
                        </p:par>
                        <p:par>
                          <p:cTn id="21" fill="hold">
                            <p:stCondLst>
                              <p:cond delay="750"/>
                            </p:stCondLst>
                            <p:childTnLst>
                              <p:par>
                                <p:cTn id="22" presetID="29"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2"/>
                                          </p:val>
                                        </p:tav>
                                        <p:tav tm="100000">
                                          <p:val>
                                            <p:strVal val="#ppt_x"/>
                                          </p:val>
                                        </p:tav>
                                      </p:tavLst>
                                    </p:anim>
                                    <p:anim calcmode="lin" valueType="num">
                                      <p:cBhvr>
                                        <p:cTn id="25" dur="5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4BB98-2F27-E7E9-FCB8-8E8E375ADA71}"/>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9736EC7B-6F43-F0D2-8756-F1DD11DF8E37}"/>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0387F69-0596-F918-CF43-3C1D0F0FAFCB}"/>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5E4CC44F-9F14-7CC3-1A75-DC3F790DBB05}"/>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3F2DE9E2-F3E1-5FCB-7F81-AF787D29E05B}"/>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F9DBB2DB-1F9A-D595-25A1-BD42DFA811DE}"/>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87A511E4-6514-661E-7C92-1825858F8E31}"/>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33455D4C-449A-8D4E-4D23-D4495AB9E0EB}"/>
              </a:ext>
            </a:extLst>
          </p:cNvPr>
          <p:cNvSpPr txBox="1"/>
          <p:nvPr/>
        </p:nvSpPr>
        <p:spPr>
          <a:xfrm>
            <a:off x="334464" y="1035205"/>
            <a:ext cx="10768965" cy="1375826"/>
          </a:xfrm>
          <a:prstGeom prst="rect">
            <a:avLst/>
          </a:prstGeom>
          <a:noFill/>
        </p:spPr>
        <p:txBody>
          <a:bodyPr wrap="square" rtlCol="0">
            <a:spAutoFit/>
          </a:bodyPr>
          <a:lstStyle/>
          <a:p>
            <a:pPr>
              <a:lnSpc>
                <a:spcPct val="150000"/>
              </a:lnSpc>
            </a:pPr>
            <a:r>
              <a:rPr lang="en-US" altLang="zh-CN" b="1" dirty="0"/>
              <a:t>TD-LTE</a:t>
            </a:r>
            <a:r>
              <a:rPr lang="zh-CN" altLang="en-US" b="1" dirty="0"/>
              <a:t>物理层协议整体链路：</a:t>
            </a:r>
          </a:p>
          <a:p>
            <a:pPr>
              <a:lnSpc>
                <a:spcPct val="150000"/>
              </a:lnSpc>
            </a:pPr>
            <a:r>
              <a:rPr lang="zh-CN" altLang="en-US" dirty="0"/>
              <a:t>    </a:t>
            </a:r>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    </a:t>
            </a:r>
          </a:p>
          <a:p>
            <a:pPr>
              <a:lnSpc>
                <a:spcPct val="150000"/>
              </a:lnSpc>
            </a:pP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5A5E7D27-B9D7-8E35-801D-D01FDCF0CE01}"/>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86ECCA7B-BB79-D537-9863-9C2CB8800712}"/>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PA_文本框 6">
            <a:extLst>
              <a:ext uri="{FF2B5EF4-FFF2-40B4-BE49-F238E27FC236}">
                <a16:creationId xmlns:a16="http://schemas.microsoft.com/office/drawing/2014/main" id="{74530436-EE01-0EB7-AEFC-3319408A2E25}"/>
              </a:ext>
            </a:extLst>
          </p:cNvPr>
          <p:cNvSpPr txBox="1"/>
          <p:nvPr>
            <p:custDataLst>
              <p:tags r:id="rId1"/>
            </p:custDataLst>
          </p:nvPr>
        </p:nvSpPr>
        <p:spPr>
          <a:xfrm>
            <a:off x="1191407" y="236414"/>
            <a:ext cx="4904593" cy="584775"/>
          </a:xfrm>
          <a:prstGeom prst="rect">
            <a:avLst/>
          </a:prstGeom>
          <a:noFill/>
        </p:spPr>
        <p:txBody>
          <a:bodyPr wrap="square" rtlCol="0">
            <a:spAutoFit/>
          </a:bodyPr>
          <a:lstStyle/>
          <a:p>
            <a:r>
              <a:rPr lang="en-US" altLang="zh-CN"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TD-LTE</a:t>
            </a:r>
            <a:r>
              <a:rPr lang="zh-CN" altLang="en-US" sz="3200" dirty="0">
                <a:solidFill>
                  <a:schemeClr val="tx1">
                    <a:lumMod val="85000"/>
                    <a:lumOff val="15000"/>
                  </a:schemeClr>
                </a:solidFill>
                <a:latin typeface="Times New Roman" panose="02020603050405020304" pitchFamily="18" charset="0"/>
                <a:ea typeface="+mj-ea"/>
                <a:cs typeface="Times New Roman" panose="02020603050405020304" pitchFamily="18" charset="0"/>
              </a:rPr>
              <a:t>物理层协议简介：</a:t>
            </a:r>
          </a:p>
        </p:txBody>
      </p:sp>
      <p:pic>
        <p:nvPicPr>
          <p:cNvPr id="5" name="图片 4">
            <a:extLst>
              <a:ext uri="{FF2B5EF4-FFF2-40B4-BE49-F238E27FC236}">
                <a16:creationId xmlns:a16="http://schemas.microsoft.com/office/drawing/2014/main" id="{74B4FF3C-12C6-17D4-FF94-73BA6992309D}"/>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4073734" y="810347"/>
            <a:ext cx="4316639" cy="5783767"/>
          </a:xfrm>
          <a:prstGeom prst="rect">
            <a:avLst/>
          </a:prstGeom>
          <a:noFill/>
          <a:ln>
            <a:noFill/>
          </a:ln>
        </p:spPr>
      </p:pic>
    </p:spTree>
    <p:extLst>
      <p:ext uri="{BB962C8B-B14F-4D97-AF65-F5344CB8AC3E}">
        <p14:creationId xmlns:p14="http://schemas.microsoft.com/office/powerpoint/2010/main" val="27327580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750"/>
                                        <p:tgtEl>
                                          <p:spTgt spid="2"/>
                                        </p:tgtEl>
                                      </p:cBhvr>
                                    </p:animEffect>
                                    <p:anim calcmode="lin" valueType="num">
                                      <p:cBhvr>
                                        <p:cTn id="19" dur="750" fill="hold"/>
                                        <p:tgtEl>
                                          <p:spTgt spid="2"/>
                                        </p:tgtEl>
                                        <p:attrNameLst>
                                          <p:attrName>ppt_x</p:attrName>
                                        </p:attrNameLst>
                                      </p:cBhvr>
                                      <p:tavLst>
                                        <p:tav tm="0">
                                          <p:val>
                                            <p:strVal val="#ppt_x"/>
                                          </p:val>
                                        </p:tav>
                                        <p:tav tm="100000">
                                          <p:val>
                                            <p:strVal val="#ppt_x"/>
                                          </p:val>
                                        </p:tav>
                                      </p:tavLst>
                                    </p:anim>
                                    <p:anim calcmode="lin" valueType="num">
                                      <p:cBhvr>
                                        <p:cTn id="20" dur="750" fill="hold"/>
                                        <p:tgtEl>
                                          <p:spTgt spid="2"/>
                                        </p:tgtEl>
                                        <p:attrNameLst>
                                          <p:attrName>ppt_y</p:attrName>
                                        </p:attrNameLst>
                                      </p:cBhvr>
                                      <p:tavLst>
                                        <p:tav tm="0">
                                          <p:val>
                                            <p:strVal val="#ppt_y+.1"/>
                                          </p:val>
                                        </p:tav>
                                        <p:tav tm="100000">
                                          <p:val>
                                            <p:strVal val="#ppt_y"/>
                                          </p:val>
                                        </p:tav>
                                      </p:tavLst>
                                    </p:anim>
                                  </p:childTnLst>
                                </p:cTn>
                              </p:par>
                            </p:childTnLst>
                          </p:cTn>
                        </p:par>
                        <p:par>
                          <p:cTn id="21" fill="hold">
                            <p:stCondLst>
                              <p:cond delay="750"/>
                            </p:stCondLst>
                            <p:childTnLst>
                              <p:par>
                                <p:cTn id="22" presetID="29" presetClass="entr" presetSubtype="0"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ppt_x</p:attrName>
                                        </p:attrNameLst>
                                      </p:cBhvr>
                                      <p:tavLst>
                                        <p:tav tm="0">
                                          <p:val>
                                            <p:strVal val="#ppt_x-.2"/>
                                          </p:val>
                                        </p:tav>
                                        <p:tav tm="100000">
                                          <p:val>
                                            <p:strVal val="#ppt_x"/>
                                          </p:val>
                                        </p:tav>
                                      </p:tavLst>
                                    </p:anim>
                                    <p:anim calcmode="lin" valueType="num">
                                      <p:cBhvr>
                                        <p:cTn id="25" dur="5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FB048-5100-C4B6-1507-6FF18675F68F}"/>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75DDC42E-3CE6-9E6D-D6E4-521BBF52D8E9}"/>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FD9617C2-587C-BE41-62BF-B8FB410292BD}"/>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F909E58-1849-F9C0-F91C-E2057488042F}"/>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5E5184BD-841C-CFEF-A8AC-8827774A5E80}"/>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2A88CB9B-F1BD-F63D-AE8B-16110B7B8B2D}"/>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A94356A3-F851-BC0A-1A6D-AD24B9262D22}"/>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AC1E983F-AD30-658B-B85D-86B8C33C172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F31F8038-D046-7216-7F2C-52E5A50659DB}"/>
              </a:ext>
            </a:extLst>
          </p:cNvPr>
          <p:cNvSpPr txBox="1"/>
          <p:nvPr/>
        </p:nvSpPr>
        <p:spPr>
          <a:xfrm>
            <a:off x="789832" y="1075398"/>
            <a:ext cx="10610390" cy="267445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信源生成</a:t>
            </a:r>
            <a:r>
              <a:rPr lang="zh-CN" altLang="en-US" sz="2400" b="1"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b="1"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pPr>
            <a:r>
              <a:rPr lang="en-US" altLang="zh-CN" dirty="0"/>
              <a:t>    LTE</a:t>
            </a:r>
            <a:r>
              <a:rPr lang="zh-CN" altLang="en-US" dirty="0"/>
              <a:t>符号数</a:t>
            </a:r>
            <a:r>
              <a:rPr lang="en-US" altLang="zh-CN" dirty="0"/>
              <a:t>14</a:t>
            </a:r>
            <a:r>
              <a:rPr lang="zh-CN" altLang="en-US" dirty="0"/>
              <a:t>个，上行子帧分给导频的资源有两个符号，有用数据</a:t>
            </a:r>
            <a:r>
              <a:rPr lang="en-US" altLang="zh-CN" dirty="0" err="1"/>
              <a:t>LTE_num</a:t>
            </a:r>
            <a:r>
              <a:rPr lang="en-US" altLang="zh-CN" dirty="0"/>
              <a:t>=12</a:t>
            </a:r>
            <a:r>
              <a:rPr lang="zh-CN" altLang="en-US" dirty="0"/>
              <a:t>个符号。子载波数目</a:t>
            </a:r>
            <a:r>
              <a:rPr lang="en-US" altLang="zh-CN" dirty="0" err="1"/>
              <a:t>subcarryrnum</a:t>
            </a:r>
            <a:r>
              <a:rPr lang="en-US" altLang="zh-CN" dirty="0"/>
              <a:t>=1200</a:t>
            </a:r>
            <a:r>
              <a:rPr lang="zh-CN" altLang="en-US" dirty="0"/>
              <a:t>（</a:t>
            </a:r>
            <a:r>
              <a:rPr lang="en-US" altLang="zh-CN" dirty="0"/>
              <a:t>100</a:t>
            </a:r>
            <a:r>
              <a:rPr lang="zh-CN" altLang="en-US" dirty="0"/>
              <a:t>个</a:t>
            </a:r>
            <a:r>
              <a:rPr lang="en-US" altLang="zh-CN" dirty="0"/>
              <a:t>RB</a:t>
            </a:r>
            <a:r>
              <a:rPr lang="zh-CN" altLang="en-US" dirty="0"/>
              <a:t>）。调制方式</a:t>
            </a:r>
            <a:r>
              <a:rPr lang="en-US" altLang="zh-CN" dirty="0"/>
              <a:t>QPSK </a:t>
            </a:r>
            <a:r>
              <a:rPr lang="zh-CN" altLang="en-US" dirty="0"/>
              <a:t>一个调制符号对应</a:t>
            </a:r>
            <a:r>
              <a:rPr lang="en-US" altLang="zh-CN" dirty="0" err="1"/>
              <a:t>bitnum</a:t>
            </a:r>
            <a:r>
              <a:rPr lang="en-US" altLang="zh-CN" dirty="0"/>
              <a:t>=2</a:t>
            </a:r>
            <a:r>
              <a:rPr lang="zh-CN" altLang="en-US" dirty="0"/>
              <a:t>个</a:t>
            </a:r>
            <a:r>
              <a:rPr lang="en-US" altLang="zh-CN" dirty="0"/>
              <a:t>bit</a:t>
            </a:r>
            <a:r>
              <a:rPr lang="zh-CN" altLang="en-US" dirty="0"/>
              <a:t>，</a:t>
            </a:r>
            <a:r>
              <a:rPr lang="en-US" altLang="zh-CN" dirty="0"/>
              <a:t>16QAM</a:t>
            </a:r>
            <a:r>
              <a:rPr lang="zh-CN" altLang="en-US" dirty="0"/>
              <a:t>调制符号对应</a:t>
            </a:r>
            <a:r>
              <a:rPr lang="en-US" altLang="zh-CN" dirty="0" err="1"/>
              <a:t>bitNum</a:t>
            </a:r>
            <a:r>
              <a:rPr lang="en-US" altLang="zh-CN" dirty="0"/>
              <a:t>=4</a:t>
            </a:r>
            <a:r>
              <a:rPr lang="zh-CN" altLang="en-US" dirty="0"/>
              <a:t>个</a:t>
            </a:r>
            <a:r>
              <a:rPr lang="en-US" altLang="zh-CN" dirty="0"/>
              <a:t>bit</a:t>
            </a:r>
            <a:r>
              <a:rPr lang="zh-CN" altLang="en-US" dirty="0"/>
              <a:t>。信道容量为子载波数目</a:t>
            </a:r>
            <a:r>
              <a:rPr lang="en-US" altLang="zh-CN" dirty="0" err="1"/>
              <a:t>subcarryrnum</a:t>
            </a:r>
            <a:r>
              <a:rPr lang="zh-CN" altLang="en-US" dirty="0"/>
              <a:t>乘以</a:t>
            </a:r>
            <a:r>
              <a:rPr lang="en-US" altLang="zh-CN" dirty="0"/>
              <a:t>LTE</a:t>
            </a:r>
            <a:r>
              <a:rPr lang="zh-CN" altLang="en-US" dirty="0"/>
              <a:t>符号数</a:t>
            </a:r>
            <a:r>
              <a:rPr lang="en-US" altLang="zh-CN" dirty="0" err="1"/>
              <a:t>LTE_num</a:t>
            </a:r>
            <a:r>
              <a:rPr lang="zh-CN" altLang="en-US" dirty="0"/>
              <a:t>，再乘以一个符号对应</a:t>
            </a:r>
            <a:r>
              <a:rPr lang="en-US" altLang="zh-CN" dirty="0"/>
              <a:t>bit</a:t>
            </a:r>
            <a:r>
              <a:rPr lang="zh-CN" altLang="en-US" dirty="0"/>
              <a:t>数</a:t>
            </a:r>
            <a:r>
              <a:rPr lang="en-US" altLang="zh-CN" dirty="0" err="1"/>
              <a:t>bitnum</a:t>
            </a:r>
            <a:r>
              <a:rPr lang="zh-CN" altLang="en-US" dirty="0"/>
              <a:t>，确定最后时隙</a:t>
            </a:r>
            <a:r>
              <a:rPr lang="en-US" altLang="zh-CN" dirty="0"/>
              <a:t>bit</a:t>
            </a:r>
            <a:r>
              <a:rPr lang="zh-CN" altLang="en-US" dirty="0"/>
              <a:t>数。</a:t>
            </a:r>
          </a:p>
          <a:p>
            <a:pPr>
              <a:lnSpc>
                <a:spcPct val="150000"/>
              </a:lnSpc>
            </a:pPr>
            <a:r>
              <a:rPr lang="zh-CN" altLang="en-US" dirty="0"/>
              <a:t>    即信道可传输的</a:t>
            </a:r>
            <a:r>
              <a:rPr lang="en-US" altLang="zh-CN" dirty="0"/>
              <a:t>bit</a:t>
            </a:r>
            <a:r>
              <a:rPr lang="zh-CN" altLang="en-US" dirty="0"/>
              <a:t>数据长度</a:t>
            </a:r>
            <a:r>
              <a:rPr lang="en-US" altLang="zh-CN" dirty="0"/>
              <a:t>=</a:t>
            </a:r>
            <a:r>
              <a:rPr lang="en-US" altLang="zh-CN" dirty="0" err="1"/>
              <a:t>subcarrynum</a:t>
            </a:r>
            <a:r>
              <a:rPr lang="en-US" altLang="zh-CN" dirty="0"/>
              <a:t>*</a:t>
            </a:r>
            <a:r>
              <a:rPr lang="en-US" altLang="zh-CN" dirty="0" err="1"/>
              <a:t>bitnum</a:t>
            </a:r>
            <a:r>
              <a:rPr lang="en-US" altLang="zh-CN" dirty="0"/>
              <a:t>*</a:t>
            </a:r>
            <a:r>
              <a:rPr lang="en-US" altLang="zh-CN" dirty="0" err="1"/>
              <a:t>LTE_num</a:t>
            </a:r>
            <a:endParaRPr lang="en-US" altLang="zh-CN" dirty="0"/>
          </a:p>
        </p:txBody>
      </p:sp>
      <p:pic>
        <p:nvPicPr>
          <p:cNvPr id="8" name="Picture 15" descr="易思达白字 png">
            <a:extLst>
              <a:ext uri="{FF2B5EF4-FFF2-40B4-BE49-F238E27FC236}">
                <a16:creationId xmlns:a16="http://schemas.microsoft.com/office/drawing/2014/main" id="{6512C073-9434-A5CD-E00B-3AFC95FF54C4}"/>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2B4FF62E-4ACD-B9F9-A552-8840A95A7518}"/>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36299358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_文本框 6">
            <a:extLst>
              <a:ext uri="{FF2B5EF4-FFF2-40B4-BE49-F238E27FC236}">
                <a16:creationId xmlns:a16="http://schemas.microsoft.com/office/drawing/2014/main" id="{5CF0CAFA-3E66-44D4-AABD-5B054996BEFF}"/>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01DA0DD1-FB16-4AA8-83BA-0355CE1D4E70}"/>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9ED0783-AB8C-49EF-93B8-460366FCF7AA}"/>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934497DD-15D3-41DD-A3FC-FBCFA21D8500}"/>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E2244758-F0D0-444F-9FB0-F09D6685BD75}"/>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5A669A86-BE7D-4098-AD3B-67D0C7C6BAD9}"/>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E9990B47-A5FD-497D-9923-C77A155DC3D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1FA55862-8673-5A99-563F-4DAFB6CA7F51}"/>
              </a:ext>
            </a:extLst>
          </p:cNvPr>
          <p:cNvSpPr txBox="1"/>
          <p:nvPr/>
        </p:nvSpPr>
        <p:spPr>
          <a:xfrm>
            <a:off x="481744" y="891923"/>
            <a:ext cx="10610390" cy="5214056"/>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添加</a:t>
            </a:r>
            <a:r>
              <a:rPr lang="en-US" altLang="zh-CN" sz="2000" b="1" dirty="0">
                <a:latin typeface="+mn-ea"/>
                <a:cs typeface="Times New Roman" panose="02020603050405020304" pitchFamily="18" charset="0"/>
              </a:rPr>
              <a:t>CRC</a:t>
            </a:r>
          </a:p>
          <a:p>
            <a:pPr>
              <a:lnSpc>
                <a:spcPct val="150000"/>
              </a:lnSpc>
            </a:pPr>
            <a:r>
              <a:rPr lang="en-US" altLang="zh-CN" sz="2400" b="1"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mn-ea"/>
                <a:cs typeface="Times New Roman" panose="02020603050405020304" pitchFamily="18" charset="0"/>
              </a:rPr>
              <a:t>发送端先进行一次</a:t>
            </a:r>
            <a:r>
              <a:rPr lang="en-US" altLang="zh-CN" dirty="0">
                <a:latin typeface="+mn-ea"/>
                <a:cs typeface="Times New Roman" panose="02020603050405020304" pitchFamily="18" charset="0"/>
              </a:rPr>
              <a:t>CRC</a:t>
            </a:r>
            <a:r>
              <a:rPr lang="zh-CN" altLang="en-US" dirty="0">
                <a:latin typeface="+mn-ea"/>
                <a:cs typeface="Times New Roman" panose="02020603050405020304" pitchFamily="18" charset="0"/>
              </a:rPr>
              <a:t>编码，将其放在待发送数据后面，接收端收到消息之后，再进行一次</a:t>
            </a:r>
            <a:r>
              <a:rPr lang="en-US" altLang="zh-CN" dirty="0">
                <a:latin typeface="+mn-ea"/>
                <a:cs typeface="Times New Roman" panose="02020603050405020304" pitchFamily="18" charset="0"/>
              </a:rPr>
              <a:t>CRC</a:t>
            </a:r>
            <a:r>
              <a:rPr lang="zh-CN" altLang="en-US" dirty="0">
                <a:latin typeface="+mn-ea"/>
                <a:cs typeface="Times New Roman" panose="02020603050405020304" pitchFamily="18" charset="0"/>
              </a:rPr>
              <a:t>编码，比较发送前后的</a:t>
            </a:r>
            <a:r>
              <a:rPr lang="en-US" altLang="zh-CN" dirty="0">
                <a:latin typeface="+mn-ea"/>
                <a:cs typeface="Times New Roman" panose="02020603050405020304" pitchFamily="18" charset="0"/>
              </a:rPr>
              <a:t>CRC</a:t>
            </a:r>
            <a:r>
              <a:rPr lang="zh-CN" altLang="en-US" dirty="0">
                <a:latin typeface="+mn-ea"/>
                <a:cs typeface="Times New Roman" panose="02020603050405020304" pitchFamily="18" charset="0"/>
              </a:rPr>
              <a:t>，</a:t>
            </a:r>
            <a:r>
              <a:rPr lang="zh-CN" altLang="zh-CN" dirty="0">
                <a:latin typeface="+mn-ea"/>
                <a:cs typeface="Times New Roman" panose="02020603050405020304" pitchFamily="18" charset="0"/>
              </a:rPr>
              <a:t>如果不一致，则接收端认为接收到的传输块数据是错误的</a:t>
            </a:r>
            <a:endParaRPr lang="en-US" altLang="zh-CN" dirty="0">
              <a:latin typeface="+mn-ea"/>
              <a:cs typeface="Times New Roman" panose="02020603050405020304" pitchFamily="18" charset="0"/>
            </a:endParaRPr>
          </a:p>
          <a:p>
            <a:pPr>
              <a:lnSpc>
                <a:spcPct val="150000"/>
              </a:lnSpc>
            </a:pPr>
            <a:r>
              <a:rPr lang="en-US" altLang="zh-CN" dirty="0">
                <a:latin typeface="+mn-ea"/>
                <a:cs typeface="Times New Roman" panose="02020603050405020304" pitchFamily="18" charset="0"/>
              </a:rPr>
              <a:t>CRC</a:t>
            </a:r>
            <a:r>
              <a:rPr lang="zh-CN" altLang="en-US" dirty="0">
                <a:latin typeface="+mn-ea"/>
                <a:cs typeface="Times New Roman" panose="02020603050405020304" pitchFamily="18" charset="0"/>
              </a:rPr>
              <a:t>编码规则：</a:t>
            </a:r>
            <a:endParaRPr lang="en-US" altLang="zh-CN" dirty="0">
              <a:latin typeface="+mn-ea"/>
              <a:cs typeface="Times New Roman" panose="02020603050405020304" pitchFamily="18" charset="0"/>
            </a:endParaRPr>
          </a:p>
          <a:p>
            <a:pPr>
              <a:lnSpc>
                <a:spcPct val="150000"/>
              </a:lnSpc>
            </a:pPr>
            <a:r>
              <a:rPr lang="en-US" altLang="zh-CN" dirty="0">
                <a:latin typeface="+mn-ea"/>
                <a:cs typeface="Times New Roman" panose="02020603050405020304" pitchFamily="18" charset="0"/>
              </a:rPr>
              <a:t>      1</a:t>
            </a:r>
            <a:r>
              <a:rPr lang="zh-CN" altLang="en-US" dirty="0">
                <a:latin typeface="+mn-ea"/>
                <a:cs typeface="Times New Roman" panose="02020603050405020304" pitchFamily="18" charset="0"/>
              </a:rPr>
              <a:t>、</a:t>
            </a:r>
            <a:r>
              <a:rPr lang="zh-CN" altLang="zh-CN" dirty="0">
                <a:latin typeface="+mn-ea"/>
                <a:cs typeface="Times New Roman" panose="02020603050405020304" pitchFamily="18" charset="0"/>
              </a:rPr>
              <a:t>设待发送的数据块是</a:t>
            </a:r>
            <a:r>
              <a:rPr lang="en-US" altLang="zh-CN" dirty="0">
                <a:latin typeface="+mn-ea"/>
                <a:cs typeface="Times New Roman" panose="02020603050405020304" pitchFamily="18" charset="0"/>
              </a:rPr>
              <a:t>k</a:t>
            </a:r>
            <a:r>
              <a:rPr lang="zh-CN" altLang="zh-CN" dirty="0">
                <a:latin typeface="+mn-ea"/>
                <a:cs typeface="Times New Roman" panose="02020603050405020304" pitchFamily="18" charset="0"/>
              </a:rPr>
              <a:t>位的二进制多项式</a:t>
            </a:r>
            <a:r>
              <a:rPr lang="en-US" altLang="zh-CN" dirty="0">
                <a:latin typeface="+mn-ea"/>
                <a:cs typeface="Times New Roman" panose="02020603050405020304" pitchFamily="18" charset="0"/>
              </a:rPr>
              <a:t>P</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），生成多项式为</a:t>
            </a:r>
            <a:r>
              <a:rPr lang="en-US" altLang="zh-CN" dirty="0">
                <a:latin typeface="+mn-ea"/>
                <a:cs typeface="Times New Roman" panose="02020603050405020304" pitchFamily="18" charset="0"/>
              </a:rPr>
              <a:t>r</a:t>
            </a:r>
            <a:r>
              <a:rPr lang="zh-CN" altLang="zh-CN" dirty="0">
                <a:latin typeface="+mn-ea"/>
                <a:cs typeface="Times New Roman" panose="02020603050405020304" pitchFamily="18" charset="0"/>
              </a:rPr>
              <a:t>阶的</a:t>
            </a:r>
            <a:r>
              <a:rPr lang="en-US" altLang="zh-CN" dirty="0">
                <a:latin typeface="+mn-ea"/>
                <a:cs typeface="Times New Roman" panose="02020603050405020304" pitchFamily="18" charset="0"/>
              </a:rPr>
              <a:t>G</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a:t>
            </a:r>
            <a:r>
              <a:rPr lang="zh-CN" altLang="en-US" dirty="0">
                <a:latin typeface="+mn-ea"/>
                <a:cs typeface="Times New Roman" panose="02020603050405020304" pitchFamily="18" charset="0"/>
              </a:rPr>
              <a:t>在数据块的末尾添加</a:t>
            </a:r>
            <a:r>
              <a:rPr lang="en-US" altLang="zh-CN" dirty="0">
                <a:latin typeface="+mn-ea"/>
                <a:cs typeface="Times New Roman" panose="02020603050405020304" pitchFamily="18" charset="0"/>
              </a:rPr>
              <a:t>r</a:t>
            </a:r>
            <a:r>
              <a:rPr lang="zh-CN" altLang="en-US" dirty="0">
                <a:latin typeface="+mn-ea"/>
                <a:cs typeface="Times New Roman" panose="02020603050405020304" pitchFamily="18" charset="0"/>
              </a:rPr>
              <a:t>个</a:t>
            </a:r>
            <a:r>
              <a:rPr lang="en-US" altLang="zh-CN" dirty="0">
                <a:latin typeface="+mn-ea"/>
                <a:cs typeface="Times New Roman" panose="02020603050405020304" pitchFamily="18" charset="0"/>
              </a:rPr>
              <a:t>0</a:t>
            </a:r>
            <a:r>
              <a:rPr lang="zh-CN" altLang="en-US" dirty="0">
                <a:latin typeface="+mn-ea"/>
                <a:cs typeface="Times New Roman" panose="02020603050405020304" pitchFamily="18" charset="0"/>
              </a:rPr>
              <a:t>，数据块的长度增加到</a:t>
            </a:r>
            <a:r>
              <a:rPr lang="en-US" altLang="zh-CN" dirty="0" err="1">
                <a:latin typeface="+mn-ea"/>
                <a:cs typeface="Times New Roman" panose="02020603050405020304" pitchFamily="18" charset="0"/>
              </a:rPr>
              <a:t>k+r</a:t>
            </a:r>
            <a:r>
              <a:rPr lang="zh-CN" altLang="en-US" dirty="0">
                <a:latin typeface="+mn-ea"/>
                <a:cs typeface="Times New Roman" panose="02020603050405020304" pitchFamily="18" charset="0"/>
              </a:rPr>
              <a:t>位，对应的二进制多项式为 </a:t>
            </a:r>
            <a:endParaRPr lang="en-US" altLang="zh-CN" dirty="0">
              <a:latin typeface="+mn-ea"/>
              <a:cs typeface="Times New Roman" panose="02020603050405020304" pitchFamily="18" charset="0"/>
            </a:endParaRPr>
          </a:p>
          <a:p>
            <a:pPr>
              <a:lnSpc>
                <a:spcPct val="150000"/>
              </a:lnSpc>
            </a:pPr>
            <a:r>
              <a:rPr lang="en-US" altLang="zh-CN" dirty="0">
                <a:latin typeface="+mn-ea"/>
                <a:cs typeface="Times New Roman" panose="02020603050405020304" pitchFamily="18" charset="0"/>
              </a:rPr>
              <a:t>      2</a:t>
            </a:r>
            <a:r>
              <a:rPr lang="zh-CN" altLang="en-US" dirty="0">
                <a:latin typeface="+mn-ea"/>
                <a:cs typeface="Times New Roman" panose="02020603050405020304" pitchFamily="18" charset="0"/>
              </a:rPr>
              <a:t>、</a:t>
            </a:r>
            <a:r>
              <a:rPr lang="zh-CN" altLang="zh-CN" dirty="0">
                <a:latin typeface="+mn-ea"/>
                <a:cs typeface="Times New Roman" panose="02020603050405020304" pitchFamily="18" charset="0"/>
              </a:rPr>
              <a:t>用生成多项式</a:t>
            </a:r>
            <a:r>
              <a:rPr lang="en-US" altLang="zh-CN" dirty="0">
                <a:latin typeface="+mn-ea"/>
                <a:cs typeface="Times New Roman" panose="02020603050405020304" pitchFamily="18" charset="0"/>
              </a:rPr>
              <a:t>G</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）去模</a:t>
            </a:r>
            <a:r>
              <a:rPr lang="en-US" altLang="zh-CN" dirty="0">
                <a:latin typeface="+mn-ea"/>
                <a:cs typeface="Times New Roman" panose="02020603050405020304" pitchFamily="18" charset="0"/>
              </a:rPr>
              <a:t>2</a:t>
            </a:r>
            <a:r>
              <a:rPr lang="zh-CN" altLang="zh-CN" dirty="0">
                <a:latin typeface="+mn-ea"/>
                <a:cs typeface="Times New Roman" panose="02020603050405020304" pitchFamily="18" charset="0"/>
              </a:rPr>
              <a:t>除</a:t>
            </a:r>
            <a:r>
              <a:rPr lang="en-US" altLang="zh-CN" dirty="0">
                <a:latin typeface="+mn-ea"/>
                <a:cs typeface="Times New Roman" panose="02020603050405020304" pitchFamily="18" charset="0"/>
              </a:rPr>
              <a:t>           </a:t>
            </a:r>
            <a:r>
              <a:rPr lang="zh-CN" altLang="zh-CN" dirty="0">
                <a:latin typeface="+mn-ea"/>
                <a:cs typeface="Times New Roman" panose="02020603050405020304" pitchFamily="18" charset="0"/>
              </a:rPr>
              <a:t>。求得余数为</a:t>
            </a:r>
            <a:r>
              <a:rPr lang="en-US" altLang="zh-CN" dirty="0">
                <a:latin typeface="+mn-ea"/>
                <a:cs typeface="Times New Roman" panose="02020603050405020304" pitchFamily="18" charset="0"/>
              </a:rPr>
              <a:t>r-1</a:t>
            </a:r>
            <a:r>
              <a:rPr lang="zh-CN" altLang="zh-CN" dirty="0">
                <a:latin typeface="+mn-ea"/>
                <a:cs typeface="Times New Roman" panose="02020603050405020304" pitchFamily="18" charset="0"/>
              </a:rPr>
              <a:t>阶的二进制多项式</a:t>
            </a:r>
            <a:r>
              <a:rPr lang="en-US" altLang="zh-CN" dirty="0">
                <a:latin typeface="+mn-ea"/>
                <a:cs typeface="Times New Roman" panose="02020603050405020304" pitchFamily="18" charset="0"/>
              </a:rPr>
              <a:t>R</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）。此二进制多项式</a:t>
            </a:r>
            <a:r>
              <a:rPr lang="en-US" altLang="zh-CN" dirty="0">
                <a:latin typeface="+mn-ea"/>
                <a:cs typeface="Times New Roman" panose="02020603050405020304" pitchFamily="18" charset="0"/>
              </a:rPr>
              <a:t>R</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）就是</a:t>
            </a:r>
            <a:r>
              <a:rPr lang="en-US" altLang="zh-CN" dirty="0">
                <a:latin typeface="+mn-ea"/>
                <a:cs typeface="Times New Roman" panose="02020603050405020304" pitchFamily="18" charset="0"/>
              </a:rPr>
              <a:t>P</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）经生成多项式</a:t>
            </a:r>
            <a:r>
              <a:rPr lang="en-US" altLang="zh-CN" dirty="0">
                <a:latin typeface="+mn-ea"/>
                <a:cs typeface="Times New Roman" panose="02020603050405020304" pitchFamily="18" charset="0"/>
              </a:rPr>
              <a:t>G</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）编码的</a:t>
            </a:r>
            <a:r>
              <a:rPr lang="en-US" altLang="zh-CN" dirty="0">
                <a:latin typeface="+mn-ea"/>
                <a:cs typeface="Times New Roman" panose="02020603050405020304" pitchFamily="18" charset="0"/>
              </a:rPr>
              <a:t>CRC</a:t>
            </a:r>
            <a:r>
              <a:rPr lang="zh-CN" altLang="zh-CN" dirty="0">
                <a:latin typeface="+mn-ea"/>
                <a:cs typeface="Times New Roman" panose="02020603050405020304" pitchFamily="18" charset="0"/>
              </a:rPr>
              <a:t>校验码。将校验码</a:t>
            </a:r>
            <a:r>
              <a:rPr lang="en-US" altLang="zh-CN" dirty="0">
                <a:latin typeface="+mn-ea"/>
                <a:cs typeface="Times New Roman" panose="02020603050405020304" pitchFamily="18" charset="0"/>
              </a:rPr>
              <a:t>R(x)</a:t>
            </a:r>
            <a:r>
              <a:rPr lang="zh-CN" altLang="zh-CN" dirty="0">
                <a:latin typeface="+mn-ea"/>
                <a:cs typeface="Times New Roman" panose="02020603050405020304" pitchFamily="18" charset="0"/>
              </a:rPr>
              <a:t>添至</a:t>
            </a:r>
            <a:r>
              <a:rPr lang="en-US" altLang="zh-CN" dirty="0">
                <a:latin typeface="+mn-ea"/>
                <a:cs typeface="Times New Roman" panose="02020603050405020304" pitchFamily="18" charset="0"/>
              </a:rPr>
              <a:t>P</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）的末尾，即可得到包含</a:t>
            </a:r>
            <a:r>
              <a:rPr lang="en-US" altLang="zh-CN" dirty="0">
                <a:latin typeface="+mn-ea"/>
                <a:cs typeface="Times New Roman" panose="02020603050405020304" pitchFamily="18" charset="0"/>
              </a:rPr>
              <a:t>CRC</a:t>
            </a:r>
            <a:r>
              <a:rPr lang="zh-CN" altLang="zh-CN" dirty="0">
                <a:latin typeface="+mn-ea"/>
                <a:cs typeface="Times New Roman" panose="02020603050405020304" pitchFamily="18" charset="0"/>
              </a:rPr>
              <a:t>校验码的待发送字符串。</a:t>
            </a:r>
          </a:p>
          <a:p>
            <a:pPr>
              <a:lnSpc>
                <a:spcPct val="150000"/>
              </a:lnSpc>
            </a:pPr>
            <a:r>
              <a:rPr lang="en-US" altLang="zh-CN" dirty="0">
                <a:latin typeface="+mn-ea"/>
                <a:cs typeface="Times New Roman" panose="02020603050405020304" pitchFamily="18" charset="0"/>
              </a:rPr>
              <a:t>       </a:t>
            </a:r>
            <a:r>
              <a:rPr lang="zh-CN" altLang="zh-CN" dirty="0">
                <a:latin typeface="+mn-ea"/>
                <a:cs typeface="Times New Roman" panose="02020603050405020304" pitchFamily="18" charset="0"/>
              </a:rPr>
              <a:t>从</a:t>
            </a:r>
            <a:r>
              <a:rPr lang="en-US" altLang="zh-CN" dirty="0">
                <a:latin typeface="+mn-ea"/>
                <a:cs typeface="Times New Roman" panose="02020603050405020304" pitchFamily="18" charset="0"/>
              </a:rPr>
              <a:t>CRC</a:t>
            </a:r>
            <a:r>
              <a:rPr lang="zh-CN" altLang="zh-CN" dirty="0">
                <a:latin typeface="+mn-ea"/>
                <a:cs typeface="Times New Roman" panose="02020603050405020304" pitchFamily="18" charset="0"/>
              </a:rPr>
              <a:t>的编码规则可以看出，</a:t>
            </a:r>
            <a:r>
              <a:rPr lang="en-US" altLang="zh-CN" dirty="0">
                <a:latin typeface="+mn-ea"/>
                <a:cs typeface="Times New Roman" panose="02020603050405020304" pitchFamily="18" charset="0"/>
              </a:rPr>
              <a:t>CRC</a:t>
            </a:r>
            <a:r>
              <a:rPr lang="zh-CN" altLang="zh-CN" dirty="0">
                <a:latin typeface="+mn-ea"/>
                <a:cs typeface="Times New Roman" panose="02020603050405020304" pitchFamily="18" charset="0"/>
              </a:rPr>
              <a:t>编码实际上是将待发送的</a:t>
            </a:r>
            <a:r>
              <a:rPr lang="en-US" altLang="zh-CN" dirty="0">
                <a:latin typeface="+mn-ea"/>
                <a:cs typeface="Times New Roman" panose="02020603050405020304" pitchFamily="18" charset="0"/>
              </a:rPr>
              <a:t>k</a:t>
            </a:r>
            <a:r>
              <a:rPr lang="zh-CN" altLang="zh-CN" dirty="0">
                <a:latin typeface="+mn-ea"/>
                <a:cs typeface="Times New Roman" panose="02020603050405020304" pitchFamily="18" charset="0"/>
              </a:rPr>
              <a:t>位二进制多项式</a:t>
            </a:r>
            <a:r>
              <a:rPr lang="en-US" altLang="zh-CN" dirty="0">
                <a:latin typeface="+mn-ea"/>
                <a:cs typeface="Times New Roman" panose="02020603050405020304" pitchFamily="18" charset="0"/>
              </a:rPr>
              <a:t>P</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）转换成了可以被</a:t>
            </a:r>
            <a:r>
              <a:rPr lang="en-US" altLang="zh-CN" dirty="0">
                <a:latin typeface="+mn-ea"/>
                <a:cs typeface="Times New Roman" panose="02020603050405020304" pitchFamily="18" charset="0"/>
              </a:rPr>
              <a:t>G</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）除尽的</a:t>
            </a:r>
            <a:r>
              <a:rPr lang="en-US" altLang="zh-CN" dirty="0" err="1">
                <a:latin typeface="+mn-ea"/>
                <a:cs typeface="Times New Roman" panose="02020603050405020304" pitchFamily="18" charset="0"/>
              </a:rPr>
              <a:t>k+r</a:t>
            </a:r>
            <a:r>
              <a:rPr lang="zh-CN" altLang="zh-CN" dirty="0">
                <a:latin typeface="+mn-ea"/>
                <a:cs typeface="Times New Roman" panose="02020603050405020304" pitchFamily="18" charset="0"/>
              </a:rPr>
              <a:t>位二进制多项式</a:t>
            </a:r>
            <a:r>
              <a:rPr lang="en-US" altLang="zh-CN" dirty="0">
                <a:latin typeface="+mn-ea"/>
                <a:cs typeface="Times New Roman" panose="02020603050405020304" pitchFamily="18" charset="0"/>
              </a:rPr>
              <a:t>T</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）。所以，进行译码时可以用接收到的数据去除</a:t>
            </a:r>
            <a:r>
              <a:rPr lang="en-US" altLang="zh-CN" dirty="0">
                <a:latin typeface="+mn-ea"/>
                <a:cs typeface="Times New Roman" panose="02020603050405020304" pitchFamily="18" charset="0"/>
              </a:rPr>
              <a:t>G</a:t>
            </a:r>
            <a:r>
              <a:rPr lang="zh-CN" altLang="zh-CN" dirty="0">
                <a:latin typeface="+mn-ea"/>
                <a:cs typeface="Times New Roman" panose="02020603050405020304" pitchFamily="18" charset="0"/>
              </a:rPr>
              <a:t>（</a:t>
            </a:r>
            <a:r>
              <a:rPr lang="en-US" altLang="zh-CN" dirty="0">
                <a:latin typeface="+mn-ea"/>
                <a:cs typeface="Times New Roman" panose="02020603050405020304" pitchFamily="18" charset="0"/>
              </a:rPr>
              <a:t>x</a:t>
            </a:r>
            <a:r>
              <a:rPr lang="zh-CN" altLang="zh-CN" dirty="0">
                <a:latin typeface="+mn-ea"/>
                <a:cs typeface="Times New Roman" panose="02020603050405020304" pitchFamily="18" charset="0"/>
              </a:rPr>
              <a:t>），如果余数为</a:t>
            </a:r>
            <a:r>
              <a:rPr lang="en-US" altLang="zh-CN" dirty="0">
                <a:latin typeface="+mn-ea"/>
                <a:cs typeface="Times New Roman" panose="02020603050405020304" pitchFamily="18" charset="0"/>
              </a:rPr>
              <a:t>0</a:t>
            </a:r>
            <a:r>
              <a:rPr lang="zh-CN" altLang="zh-CN" dirty="0">
                <a:latin typeface="+mn-ea"/>
                <a:cs typeface="Times New Roman" panose="02020603050405020304" pitchFamily="18" charset="0"/>
              </a:rPr>
              <a:t>，则表示传输过程没有错误；否则，传输过程存在错误</a:t>
            </a:r>
            <a:endParaRPr lang="en-US" altLang="zh-CN" dirty="0">
              <a:latin typeface="+mn-ea"/>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68194577-BE31-335E-1467-A130EDFEC2F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8D16CF4B-4EB7-050C-F404-438DCEAE85F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pic>
        <p:nvPicPr>
          <p:cNvPr id="10" name="图片 9">
            <a:extLst>
              <a:ext uri="{FF2B5EF4-FFF2-40B4-BE49-F238E27FC236}">
                <a16:creationId xmlns:a16="http://schemas.microsoft.com/office/drawing/2014/main" id="{4009F0A8-FADA-CF04-4FA0-E23FE69981DA}"/>
              </a:ext>
            </a:extLst>
          </p:cNvPr>
          <p:cNvPicPr>
            <a:picLocks noChangeAspect="1"/>
          </p:cNvPicPr>
          <p:nvPr/>
        </p:nvPicPr>
        <p:blipFill>
          <a:blip r:embed="rId6" cstate="print"/>
          <a:srcRect/>
          <a:stretch>
            <a:fillRect/>
          </a:stretch>
        </p:blipFill>
        <p:spPr>
          <a:xfrm>
            <a:off x="6917008" y="3196273"/>
            <a:ext cx="661630" cy="339252"/>
          </a:xfrm>
          <a:prstGeom prst="rect">
            <a:avLst/>
          </a:prstGeom>
          <a:noFill/>
          <a:ln w="9525">
            <a:noFill/>
            <a:miter lim="800000"/>
            <a:headEnd/>
            <a:tailEnd/>
          </a:ln>
        </p:spPr>
      </p:pic>
      <p:pic>
        <p:nvPicPr>
          <p:cNvPr id="11" name="图片 10">
            <a:extLst>
              <a:ext uri="{FF2B5EF4-FFF2-40B4-BE49-F238E27FC236}">
                <a16:creationId xmlns:a16="http://schemas.microsoft.com/office/drawing/2014/main" id="{47634F8C-7136-0194-9959-9DFADD08BF43}"/>
              </a:ext>
            </a:extLst>
          </p:cNvPr>
          <p:cNvPicPr>
            <a:picLocks noChangeAspect="1"/>
          </p:cNvPicPr>
          <p:nvPr/>
        </p:nvPicPr>
        <p:blipFill>
          <a:blip r:embed="rId6" cstate="print"/>
          <a:srcRect/>
          <a:stretch>
            <a:fillRect/>
          </a:stretch>
        </p:blipFill>
        <p:spPr>
          <a:xfrm>
            <a:off x="4305982" y="3637667"/>
            <a:ext cx="656663" cy="336705"/>
          </a:xfrm>
          <a:prstGeom prst="rect">
            <a:avLst/>
          </a:prstGeom>
          <a:noFill/>
          <a:ln w="9525">
            <a:noFill/>
            <a:miter lim="800000"/>
            <a:headEnd/>
            <a:tailEnd/>
          </a:ln>
        </p:spPr>
      </p:pic>
    </p:spTree>
    <p:extLst>
      <p:ext uri="{BB962C8B-B14F-4D97-AF65-F5344CB8AC3E}">
        <p14:creationId xmlns:p14="http://schemas.microsoft.com/office/powerpoint/2010/main" val="52445805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CCE8-7443-D0B1-CB72-C8DDCB79C4E3}"/>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5C0E714-1D5D-2BE9-451F-ABD312934812}"/>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29DA591C-8398-8E39-43A0-2654CF5A1E9F}"/>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F9DCD7B-FCB1-4218-B2BF-5561BA419D0A}"/>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FFB8DB6D-1F6B-1493-D841-79F44586BAA0}"/>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F5818898-A155-4616-2332-D81711C84E9A}"/>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014E9BFC-F5CE-C414-B216-A931C7F1AD70}"/>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7CBAD23-8FF2-179A-2D3B-5D8B2E784654}"/>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779FDFC-A30E-AAA1-1C59-ECA325F809C7}"/>
              </a:ext>
            </a:extLst>
          </p:cNvPr>
          <p:cNvSpPr txBox="1"/>
          <p:nvPr/>
        </p:nvSpPr>
        <p:spPr>
          <a:xfrm>
            <a:off x="481744" y="891923"/>
            <a:ext cx="10610390" cy="5537221"/>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添加</a:t>
            </a:r>
            <a:r>
              <a:rPr lang="en-US" altLang="zh-CN" sz="2000" b="1" dirty="0">
                <a:latin typeface="+mn-ea"/>
                <a:cs typeface="Times New Roman" panose="02020603050405020304" pitchFamily="18" charset="0"/>
              </a:rPr>
              <a:t>CRC</a:t>
            </a:r>
          </a:p>
          <a:p>
            <a:pPr>
              <a:lnSpc>
                <a:spcPct val="150000"/>
              </a:lnSpc>
            </a:pP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具体来说，</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校验原理就是以下几个步骤：</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）先选择（可以随机选择，也可按标准选择）一个用于在接收端进行校验时，对接收的帧进行除法运算的除数</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）看所选定的除数二进制位数（假设为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位），然后在要发送的数据帧（假设为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位）后面加上</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，然后以这个加了</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k-1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的新帧（一共是</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m+k-1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位）以“模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除法（相同为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不同为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方式除以上面这个除数，所得到的余数（也是二进制的比特串）就是该帧的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校验码，也称之为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CS</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（帧校验序列）。但要注意的是，余数的位数一定要是比除数位数只能少一位，哪怕前面位是</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，甚至是全为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（附带好整除时</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也都不能省略。</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）再把这个校验码附加在原数据帧（就是</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位的帧，注意不是在后面形成的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m+k-1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位的）后面，构建一个新帧发送到接收端，最后在接收端再把这个新帧以“模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除法</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方式除以前面选择的除数，如果没有余数，则表明该帧在传输过程中没出错，否则出现了差错。</a:t>
            </a: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AC5AAEA5-E1CF-B3B0-30C5-FBF90CEB968E}"/>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36DE2F2B-2979-DED9-BE7D-7359F682D3DE}"/>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Tree>
    <p:extLst>
      <p:ext uri="{BB962C8B-B14F-4D97-AF65-F5344CB8AC3E}">
        <p14:creationId xmlns:p14="http://schemas.microsoft.com/office/powerpoint/2010/main" val="36075878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B876D-5F45-961B-EC65-293994460CF2}"/>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66D6B6BD-EE01-53A5-AD90-B60F1154D251}"/>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1EEB91A3-232C-AC9E-5AA3-31883C72105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BA46613-3803-6B6E-3FA8-A1862200007A}"/>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C997C3AB-4652-D9B6-D425-0D32A967D14A}"/>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7F5394E4-9712-41C2-3086-DDD889AFB358}"/>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7014E0C4-9D2B-19A9-76E8-706E1E21D62B}"/>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AD9954C9-C8FA-6274-4991-D2B1ED774D43}"/>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E999EA12-8702-6B7B-839A-499A5B924865}"/>
              </a:ext>
            </a:extLst>
          </p:cNvPr>
          <p:cNvSpPr txBox="1"/>
          <p:nvPr/>
        </p:nvSpPr>
        <p:spPr>
          <a:xfrm>
            <a:off x="481744" y="891923"/>
            <a:ext cx="6211156" cy="5311839"/>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添加</a:t>
            </a:r>
            <a:r>
              <a:rPr lang="en-US" altLang="zh-CN" sz="2000" b="1" dirty="0">
                <a:latin typeface="+mn-ea"/>
                <a:cs typeface="Times New Roman" panose="02020603050405020304" pitchFamily="18" charset="0"/>
              </a:rPr>
              <a:t>CRC</a:t>
            </a: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假设选择的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生成多项式为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G(X)=X4+X3+1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，要求出二进制序列</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10110011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校验码。</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计算过程：</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  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）首先把生成多项式转换成二进制数，由</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G(X)=X4+X3+1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可以知道，它一共是</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位（总位数等于最高位的幂次加</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4+1=5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），然后根据多项式各项的含义（多项式只列出二进制值为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的位，也就是这个二进制的第</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位、第</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位、第</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位的二进制均为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，其它位均为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）很快就可得到它的二进制比特串为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11001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）因为生成多项式的位数为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，根据前面的介绍，得知</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校验码的位数为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（校验码的位数比生成多项式的位数少</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）。因为原数据帧</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10110011</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，在它后面再加</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个</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，得到</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101100110000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，然后把这个数以“模</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除法</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方式除以生成多项式，得到的余数，即</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校验码为</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0100</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。注意参考前面介绍的“模</a:t>
            </a:r>
            <a:r>
              <a:rPr lang="en-US" altLang="zh-CN" sz="1600"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1600" dirty="0">
                <a:latin typeface="微软雅黑" panose="020B0503020204020204" pitchFamily="34" charset="-122"/>
                <a:ea typeface="微软雅黑" panose="020B0503020204020204" pitchFamily="34" charset="-122"/>
                <a:cs typeface="Times New Roman" panose="02020603050405020304" pitchFamily="18" charset="0"/>
              </a:rPr>
              <a:t>除法”运算法则。</a:t>
            </a:r>
            <a:endParaRPr lang="en-US" altLang="zh-CN" sz="1600"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C01F66A2-5630-B28E-4D73-FC186490DEF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535A87AC-9575-350C-EDA7-0D94093818C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pic>
        <p:nvPicPr>
          <p:cNvPr id="4" name="图片 3">
            <a:extLst>
              <a:ext uri="{FF2B5EF4-FFF2-40B4-BE49-F238E27FC236}">
                <a16:creationId xmlns:a16="http://schemas.microsoft.com/office/drawing/2014/main" id="{2D7B0AD5-8F27-0228-669E-2E821CC90FCB}"/>
              </a:ext>
            </a:extLst>
          </p:cNvPr>
          <p:cNvPicPr>
            <a:picLocks noChangeAspect="1"/>
          </p:cNvPicPr>
          <p:nvPr/>
        </p:nvPicPr>
        <p:blipFill>
          <a:blip r:embed="rId6"/>
          <a:stretch>
            <a:fillRect/>
          </a:stretch>
        </p:blipFill>
        <p:spPr>
          <a:xfrm>
            <a:off x="6838561" y="1671588"/>
            <a:ext cx="5207777" cy="2761333"/>
          </a:xfrm>
          <a:prstGeom prst="rect">
            <a:avLst/>
          </a:prstGeom>
        </p:spPr>
      </p:pic>
    </p:spTree>
    <p:extLst>
      <p:ext uri="{BB962C8B-B14F-4D97-AF65-F5344CB8AC3E}">
        <p14:creationId xmlns:p14="http://schemas.microsoft.com/office/powerpoint/2010/main" val="258605741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15CE8-16AC-8F78-2E96-251C4006D47D}"/>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4FDAFE90-5FD6-59E0-2E56-A759A8DFAEAB}"/>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1416A04C-7AC4-1753-3734-270584B47A77}"/>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FFAE6B1-D165-55B5-B82C-E5B96BCAD311}"/>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D2AD0019-E06D-4D06-5082-C03F11906DAA}"/>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8F9B6575-A8F0-A4C9-D0FC-BCF9E37AE3C1}"/>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0A07798C-7459-5B45-84B5-033A1DC3A35D}"/>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FEB72BDA-7CBE-8384-1001-9C246CDBDC5B}"/>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43B14EEC-A0EF-E98F-AF18-7F27D97CD28D}"/>
              </a:ext>
            </a:extLst>
          </p:cNvPr>
          <p:cNvSpPr txBox="1"/>
          <p:nvPr/>
        </p:nvSpPr>
        <p:spPr>
          <a:xfrm>
            <a:off x="481744" y="891923"/>
            <a:ext cx="10918478" cy="3829062"/>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添加</a:t>
            </a:r>
            <a:r>
              <a:rPr lang="en-US" altLang="zh-CN" sz="2000" b="1" dirty="0">
                <a:latin typeface="+mn-ea"/>
                <a:cs typeface="Times New Roman" panose="02020603050405020304" pitchFamily="18" charset="0"/>
              </a:rPr>
              <a:t>CRC</a:t>
            </a: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）把上步计算得到的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校验码</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0100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替换原始帧</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101100110000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后面的四个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，得到新帧</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101100110100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。再把这个新帧发送到接收端。</a:t>
            </a: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）当以上新帧到达接收端后，接收端会把这个新帧再用上面选定的除数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11001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以“模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除法</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方式去除，验证余数是否为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则证明该帧数据在传输过程中没有出现差错，否则出现了差错。</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校验的算法依据是</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3GPP 36.212V9.2.0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协议中的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5.1.1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节中的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计算部分，根据不同的信道使用的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计算方式是不一样的，例如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LTE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PUSCH</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信道是采用</a:t>
            </a:r>
            <a:r>
              <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CRC24A</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的方式进行加</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校验多项式为：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7E85013F-3B7D-6005-66A7-8A0CA5A04A2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1EC2D306-6C70-C4D8-3E5C-FB17015A8139}"/>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pic>
        <p:nvPicPr>
          <p:cNvPr id="3" name="图片 2">
            <a:extLst>
              <a:ext uri="{FF2B5EF4-FFF2-40B4-BE49-F238E27FC236}">
                <a16:creationId xmlns:a16="http://schemas.microsoft.com/office/drawing/2014/main" id="{12BFA95E-C762-5880-8796-60B5B8570F0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1187881" y="4891355"/>
            <a:ext cx="9330334" cy="374518"/>
          </a:xfrm>
          <a:prstGeom prst="rect">
            <a:avLst/>
          </a:prstGeom>
          <a:noFill/>
          <a:ln>
            <a:noFill/>
          </a:ln>
        </p:spPr>
      </p:pic>
    </p:spTree>
    <p:extLst>
      <p:ext uri="{BB962C8B-B14F-4D97-AF65-F5344CB8AC3E}">
        <p14:creationId xmlns:p14="http://schemas.microsoft.com/office/powerpoint/2010/main" val="65196162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64651-9C05-D3EE-4656-9E7B0020323C}"/>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6B0A0AF-D4EE-5E5A-6715-F2D9A57ABF4E}"/>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A7057B27-8DD6-65F0-AFAC-66C88241D273}"/>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038A854-87FB-5F6A-C6B4-EECDD79C1956}"/>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1B92F80C-8EAD-DD8D-6A7B-EFDAB1197C58}"/>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7BE8BB95-80BC-CC09-7228-F68647BCBAF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DB76C9DC-C82A-0124-B9BE-10858E298847}"/>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930FBAB8-5DBA-FB2F-1DA0-7A8937185075}"/>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C2D295B-2D6A-AD02-61A4-839E32ECDEAA}"/>
              </a:ext>
            </a:extLst>
          </p:cNvPr>
          <p:cNvSpPr txBox="1"/>
          <p:nvPr/>
        </p:nvSpPr>
        <p:spPr>
          <a:xfrm>
            <a:off x="621433" y="943575"/>
            <a:ext cx="10918478" cy="2582566"/>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添加</a:t>
            </a:r>
            <a:r>
              <a:rPr lang="en-US" altLang="zh-CN" sz="2000" b="1" dirty="0">
                <a:latin typeface="+mn-ea"/>
                <a:cs typeface="Times New Roman" panose="02020603050405020304" pitchFamily="18" charset="0"/>
              </a:rPr>
              <a:t>CRC</a:t>
            </a: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实现</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添加的功能，包括以下</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个步骤：</a:t>
            </a: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）获取多项式的指数系统。</a:t>
            </a: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）根据公式来计算</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校验位。</a:t>
            </a: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TD-LTE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加</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的流程图如下图所示：</a:t>
            </a: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081C6E4F-D180-60CB-1ABD-0B463260C4B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15BB7EA0-620A-FAE6-95CA-B0E1AE6EE5E3}"/>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7E1B5305-4C64-328A-1CA2-3EC4446F976A}"/>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8ABCC6FA-7171-EB0A-4D58-58F76275AA81}"/>
              </a:ext>
            </a:extLst>
          </p:cNvPr>
          <p:cNvGraphicFramePr>
            <a:graphicFrameLocks noChangeAspect="1"/>
          </p:cNvGraphicFramePr>
          <p:nvPr>
            <p:extLst>
              <p:ext uri="{D42A27DB-BD31-4B8C-83A1-F6EECF244321}">
                <p14:modId xmlns:p14="http://schemas.microsoft.com/office/powerpoint/2010/main" val="3622034298"/>
              </p:ext>
            </p:extLst>
          </p:nvPr>
        </p:nvGraphicFramePr>
        <p:xfrm>
          <a:off x="6153814" y="193618"/>
          <a:ext cx="3288636" cy="6229793"/>
        </p:xfrm>
        <a:graphic>
          <a:graphicData uri="http://schemas.openxmlformats.org/presentationml/2006/ole">
            <mc:AlternateContent xmlns:mc="http://schemas.openxmlformats.org/markup-compatibility/2006">
              <mc:Choice xmlns:v="urn:schemas-microsoft-com:vml" Requires="v">
                <p:oleObj r:id="rId6" imgW="3560445" imgH="7098030" progId="Visio.Drawing.11">
                  <p:embed/>
                </p:oleObj>
              </mc:Choice>
              <mc:Fallback>
                <p:oleObj r:id="rId6" imgW="3560445" imgH="7098030" progId="Visio.Drawing.11">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53814" y="193618"/>
                        <a:ext cx="3288636" cy="6229793"/>
                      </a:xfrm>
                      <a:prstGeom prst="rect">
                        <a:avLst/>
                      </a:prstGeom>
                      <a:noFill/>
                    </p:spPr>
                  </p:pic>
                </p:oleObj>
              </mc:Fallback>
            </mc:AlternateContent>
          </a:graphicData>
        </a:graphic>
      </p:graphicFrame>
    </p:spTree>
    <p:extLst>
      <p:ext uri="{BB962C8B-B14F-4D97-AF65-F5344CB8AC3E}">
        <p14:creationId xmlns:p14="http://schemas.microsoft.com/office/powerpoint/2010/main" val="9687266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A29CF-1FC2-ACF3-D315-6570E865FEA9}"/>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4D669550-378E-513F-A382-699064E12C09}"/>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4E548DC5-6EF7-0C36-68DF-3AD45CBB2746}"/>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6EDAB407-D347-11E0-D57F-CFC84979829B}"/>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2F287EE3-46C8-4353-293D-EFBDD9232208}"/>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4BD02F74-C7E1-4EAC-179D-40E6DCCD7677}"/>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931591ED-62B0-D6C0-30F2-A0FEAFD5870D}"/>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619E51B9-2190-4C40-5D0A-D5BAD554E20D}"/>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D6850C35-7BB5-438F-F3A2-7D1250E83792}"/>
              </a:ext>
            </a:extLst>
          </p:cNvPr>
          <p:cNvSpPr txBox="1"/>
          <p:nvPr/>
        </p:nvSpPr>
        <p:spPr>
          <a:xfrm>
            <a:off x="621433" y="943575"/>
            <a:ext cx="10918478" cy="4660058"/>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码块分割</a:t>
            </a:r>
            <a:endParaRPr lang="en-US" altLang="zh-CN" sz="2000" b="1" dirty="0">
              <a:latin typeface="+mn-ea"/>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码块分割（</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Code Block Segmentation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是信道编码前的关键预处理步骤，核心作用是将 “长信息比特流” 分割为 “符合信道编码长度限制的短码块”，并配合码块级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、码块串联等操作，确保编码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译码的可行性、传输可靠性和资源适配性。</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码块分割部分的输入序列表示为：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B &gt; 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如果</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B</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大于最大码块长度</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Z</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Z=6144</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），需要对输入序列进行码块分割，并且在每一个编码块的后面添加长度为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L = 24</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检验序列，即进行第二次</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检验。</a:t>
            </a: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如果填充比特</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F</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的数目不为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，那么将填充比特添加到第一个编码块的前面。</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如果</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B&lt;40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，那么在编码块的开始位置添加填充比特。</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在程序设计中，用</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NaN</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表示填充比特。</a:t>
            </a: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0CD44CDE-BE81-5FE6-EE87-0B030CA27898}"/>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C0E3D979-F860-BEAB-4BC5-1728E38184ED}"/>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4B045744-2354-8100-96DF-DD0D5670AD7E}"/>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 name="图片 2">
            <a:extLst>
              <a:ext uri="{FF2B5EF4-FFF2-40B4-BE49-F238E27FC236}">
                <a16:creationId xmlns:a16="http://schemas.microsoft.com/office/drawing/2014/main" id="{D54F10B3-D3E0-BA0D-B1F9-964A52E454A4}"/>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a:xfrm>
            <a:off x="4324541" y="2770724"/>
            <a:ext cx="1771459" cy="322181"/>
          </a:xfrm>
          <a:prstGeom prst="rect">
            <a:avLst/>
          </a:prstGeom>
          <a:noFill/>
          <a:ln>
            <a:noFill/>
          </a:ln>
        </p:spPr>
      </p:pic>
    </p:spTree>
    <p:extLst>
      <p:ext uri="{BB962C8B-B14F-4D97-AF65-F5344CB8AC3E}">
        <p14:creationId xmlns:p14="http://schemas.microsoft.com/office/powerpoint/2010/main" val="20687618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19EBB-CCDF-7623-2968-E4066CCEF97C}"/>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C145E182-AD09-52A5-9F8D-60C86CB21580}"/>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B394B0CD-5A27-7EC7-7AE3-7E9CA31CE24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2712E62-399D-167E-0D1D-96CD1F27A3DF}"/>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AF424C5C-9AE7-40B1-1A7C-2894FEB486C5}"/>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B0845AB4-C880-29B9-EF8A-8E134523D35C}"/>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EB45022C-82F7-EE4E-9083-8AA2C40A702C}"/>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9662FD2A-B109-6BAA-695E-9C5B1F9A94D8}"/>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257091ED-D2B2-6EF5-5CD4-512567F145FB}"/>
              </a:ext>
            </a:extLst>
          </p:cNvPr>
          <p:cNvSpPr txBox="1"/>
          <p:nvPr/>
        </p:nvSpPr>
        <p:spPr>
          <a:xfrm>
            <a:off x="621433" y="943575"/>
            <a:ext cx="10918478" cy="175157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码块分割</a:t>
            </a:r>
            <a:endParaRPr lang="en-US" altLang="zh-CN" sz="2000" b="1" dirty="0">
              <a:latin typeface="+mn-ea"/>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码块分割和</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校验间的相互联系可通过图表示</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LTE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码块分割是依据</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3GPP 36.212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协议中</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5.1.2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中的码块分割及添加</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CRC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的协议方法来操作的</a:t>
            </a:r>
          </a:p>
          <a:p>
            <a:pPr>
              <a:lnSpc>
                <a:spcPct val="150000"/>
              </a:lnSpc>
            </a:pP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9B58D4FA-2D44-53C7-6991-A4C37DD4D077}"/>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AB612FFD-1059-B331-5752-2E7C44175F2B}"/>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D67801BB-A73F-8844-ED94-4D5B26A9C5FB}"/>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1" name="图片 10">
            <a:extLst>
              <a:ext uri="{FF2B5EF4-FFF2-40B4-BE49-F238E27FC236}">
                <a16:creationId xmlns:a16="http://schemas.microsoft.com/office/drawing/2014/main" id="{B804E529-BE0B-4967-7375-61ABB79245A8}"/>
              </a:ext>
            </a:extLst>
          </p:cNvPr>
          <p:cNvPicPr>
            <a:picLocks noChangeAspect="1"/>
          </p:cNvPicPr>
          <p:nvPr/>
        </p:nvPicPr>
        <p:blipFill>
          <a:blip r:embed="rId6"/>
          <a:stretch>
            <a:fillRect/>
          </a:stretch>
        </p:blipFill>
        <p:spPr>
          <a:xfrm>
            <a:off x="2441551" y="2601011"/>
            <a:ext cx="6489747" cy="2490394"/>
          </a:xfrm>
          <a:prstGeom prst="rect">
            <a:avLst/>
          </a:prstGeom>
        </p:spPr>
      </p:pic>
    </p:spTree>
    <p:extLst>
      <p:ext uri="{BB962C8B-B14F-4D97-AF65-F5344CB8AC3E}">
        <p14:creationId xmlns:p14="http://schemas.microsoft.com/office/powerpoint/2010/main" val="126286154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A5D61-78C8-3FFD-3788-A0CC88C25469}"/>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19A5E5E0-4CCE-D1E8-20FB-B40949C5E185}"/>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E4FD21BF-44D7-4CF0-874D-E8F05DEAB67D}"/>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CEC5873-173C-F4DE-7683-DD3B3FE7F650}"/>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8766D52-91E5-5A30-B52B-ADB9C19A0BAE}"/>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CC62335F-FF67-E19A-5BB1-50F809777E88}"/>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A4AD2724-4704-58AE-CEFE-EBD711E95CC2}"/>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37259BC1-DB48-177B-3E68-9B75E49DAC36}"/>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F2D48ED1-4B6C-B57F-5351-00C8F04FEED9}"/>
              </a:ext>
            </a:extLst>
          </p:cNvPr>
          <p:cNvSpPr txBox="1"/>
          <p:nvPr/>
        </p:nvSpPr>
        <p:spPr>
          <a:xfrm>
            <a:off x="621433" y="943575"/>
            <a:ext cx="5474567" cy="2997615"/>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码块分割</a:t>
            </a:r>
            <a:endParaRPr lang="en-US" altLang="zh-CN" sz="2000" b="1" dirty="0">
              <a:latin typeface="+mn-ea"/>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协议规定码块分割代码流程：</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zh-CN" dirty="0"/>
              <a:t>其中，</a:t>
            </a:r>
            <a:r>
              <a:rPr lang="en-US" altLang="zh-CN" dirty="0"/>
              <a:t>B’</a:t>
            </a:r>
            <a:r>
              <a:rPr lang="zh-CN" altLang="zh-CN" dirty="0"/>
              <a:t>：输入序列在进行码块分割后的序列中的比特数目，</a:t>
            </a:r>
            <a:r>
              <a:rPr lang="en-US" altLang="zh-CN" dirty="0"/>
              <a:t>C</a:t>
            </a:r>
            <a:r>
              <a:rPr lang="zh-CN" altLang="zh-CN" dirty="0"/>
              <a:t>为分割的码块数，</a:t>
            </a:r>
            <a:r>
              <a:rPr lang="en-US" altLang="zh-CN" dirty="0">
                <a:solidFill>
                  <a:schemeClr val="accent1">
                    <a:lumMod val="60000"/>
                    <a:lumOff val="40000"/>
                  </a:schemeClr>
                </a:solidFill>
              </a:rPr>
              <a:t>K+</a:t>
            </a:r>
            <a:r>
              <a:rPr lang="zh-CN" altLang="zh-CN" dirty="0"/>
              <a:t>为第一个分段的大小，</a:t>
            </a:r>
            <a:r>
              <a:rPr lang="en-US" altLang="zh-CN" dirty="0"/>
              <a:t> </a:t>
            </a:r>
            <a:r>
              <a:rPr lang="en-US" altLang="zh-CN" dirty="0">
                <a:solidFill>
                  <a:schemeClr val="accent1">
                    <a:lumMod val="60000"/>
                    <a:lumOff val="40000"/>
                  </a:schemeClr>
                </a:solidFill>
              </a:rPr>
              <a:t>C+</a:t>
            </a:r>
            <a:r>
              <a:rPr lang="zh-CN" altLang="zh-CN" dirty="0"/>
              <a:t>为长度是</a:t>
            </a:r>
            <a:r>
              <a:rPr lang="en-US" altLang="zh-CN" dirty="0">
                <a:solidFill>
                  <a:schemeClr val="accent1">
                    <a:lumMod val="60000"/>
                    <a:lumOff val="40000"/>
                  </a:schemeClr>
                </a:solidFill>
              </a:rPr>
              <a:t>K+</a:t>
            </a:r>
            <a:r>
              <a:rPr lang="zh-CN" altLang="zh-CN" dirty="0"/>
              <a:t>的码块数目，</a:t>
            </a:r>
            <a:r>
              <a:rPr lang="en-US" altLang="zh-CN" dirty="0"/>
              <a:t> </a:t>
            </a:r>
            <a:r>
              <a:rPr lang="en-US" altLang="zh-CN" dirty="0">
                <a:solidFill>
                  <a:schemeClr val="accent1">
                    <a:lumMod val="60000"/>
                    <a:lumOff val="40000"/>
                  </a:schemeClr>
                </a:solidFill>
              </a:rPr>
              <a:t>K-</a:t>
            </a:r>
            <a:r>
              <a:rPr lang="en-US" altLang="zh-CN" dirty="0"/>
              <a:t>­</a:t>
            </a:r>
            <a:r>
              <a:rPr lang="zh-CN" altLang="zh-CN" dirty="0"/>
              <a:t>为第二个分段大小，</a:t>
            </a:r>
            <a:r>
              <a:rPr lang="en-US" altLang="zh-CN" dirty="0"/>
              <a:t> </a:t>
            </a:r>
            <a:r>
              <a:rPr lang="en-US" altLang="zh-CN" dirty="0">
                <a:solidFill>
                  <a:schemeClr val="accent1">
                    <a:lumMod val="60000"/>
                    <a:lumOff val="40000"/>
                  </a:schemeClr>
                </a:solidFill>
              </a:rPr>
              <a:t>C-</a:t>
            </a:r>
            <a:r>
              <a:rPr lang="zh-CN" altLang="zh-CN" dirty="0"/>
              <a:t>为长度是</a:t>
            </a:r>
            <a:r>
              <a:rPr lang="en-US" altLang="zh-CN" dirty="0">
                <a:solidFill>
                  <a:schemeClr val="accent1">
                    <a:lumMod val="60000"/>
                    <a:lumOff val="40000"/>
                  </a:schemeClr>
                </a:solidFill>
              </a:rPr>
              <a:t>K-</a:t>
            </a:r>
            <a:r>
              <a:rPr lang="zh-CN" altLang="zh-CN" dirty="0"/>
              <a:t>的码块数目</a:t>
            </a:r>
            <a:r>
              <a:rPr lang="zh-CN" altLang="en-US" dirty="0">
                <a:solidFill>
                  <a:srgbClr val="FF0000"/>
                </a:solidFill>
              </a:rPr>
              <a:t>（标红部分是协议原文的参数表述的意思）</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66662AD1-33B1-32E0-D83D-FC9B62799514}"/>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13DBB9A3-394F-83F4-A67B-AD556FE67E69}"/>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46CF80E1-B6B9-991C-3969-CC7BCC59D555}"/>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28EC5571-822B-0A26-FCA4-E47F986763D3}"/>
              </a:ext>
            </a:extLst>
          </p:cNvPr>
          <p:cNvPicPr>
            <a:picLocks noChangeAspect="1"/>
          </p:cNvPicPr>
          <p:nvPr/>
        </p:nvPicPr>
        <p:blipFill>
          <a:blip r:embed="rId6"/>
          <a:stretch>
            <a:fillRect/>
          </a:stretch>
        </p:blipFill>
        <p:spPr>
          <a:xfrm>
            <a:off x="6692900" y="144591"/>
            <a:ext cx="2921263" cy="6345109"/>
          </a:xfrm>
          <a:prstGeom prst="rect">
            <a:avLst/>
          </a:prstGeom>
        </p:spPr>
      </p:pic>
    </p:spTree>
    <p:extLst>
      <p:ext uri="{BB962C8B-B14F-4D97-AF65-F5344CB8AC3E}">
        <p14:creationId xmlns:p14="http://schemas.microsoft.com/office/powerpoint/2010/main" val="21539473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13F52-DEC6-5D48-857A-AFFF91A2DFD2}"/>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FCC0657C-424D-BA74-8A33-912DAE2670E9}"/>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DD839152-DC49-7CB2-2345-C0354F095C75}"/>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8E445A8-F661-C9A7-80EE-AA65F15EBD73}"/>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420BB765-75C3-72C7-4311-EAD92FD54B16}"/>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BC374785-129D-81CD-B284-4A7658B6BFC4}"/>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420E4BEC-C869-DCC7-27E1-2560C003D54B}"/>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B346AC4B-D645-6B2D-0196-8BFFD0A7770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50694DE4-1A57-E93C-2E71-00B0A4C5A834}"/>
              </a:ext>
            </a:extLst>
          </p:cNvPr>
          <p:cNvSpPr txBox="1"/>
          <p:nvPr/>
        </p:nvSpPr>
        <p:spPr>
          <a:xfrm>
            <a:off x="621433" y="943575"/>
            <a:ext cx="5474567" cy="920573"/>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码块分割</a:t>
            </a:r>
            <a:endParaRPr lang="en-US" altLang="zh-CN" sz="2000" b="1" dirty="0">
              <a:latin typeface="+mn-ea"/>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TD-LTE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码块分割的流程图：</a:t>
            </a:r>
            <a:endParaRPr lang="en-US" altLang="zh-CN"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3B0F9CDF-5E26-BC58-67A3-2FB921C7316F}"/>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301AE828-7E17-84DC-9622-372AD317EBB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7AACABD9-7DFB-0311-23A0-D7FD6CFCE921}"/>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728F60B8-8C10-88B4-79FC-843B626CDD79}"/>
              </a:ext>
            </a:extLst>
          </p:cNvPr>
          <p:cNvPicPr>
            <a:picLocks noChangeAspect="1"/>
          </p:cNvPicPr>
          <p:nvPr/>
        </p:nvPicPr>
        <p:blipFill>
          <a:blip r:embed="rId6"/>
          <a:stretch>
            <a:fillRect/>
          </a:stretch>
        </p:blipFill>
        <p:spPr>
          <a:xfrm>
            <a:off x="4648451" y="79123"/>
            <a:ext cx="2895098" cy="6410575"/>
          </a:xfrm>
          <a:prstGeom prst="rect">
            <a:avLst/>
          </a:prstGeom>
        </p:spPr>
      </p:pic>
    </p:spTree>
    <p:extLst>
      <p:ext uri="{BB962C8B-B14F-4D97-AF65-F5344CB8AC3E}">
        <p14:creationId xmlns:p14="http://schemas.microsoft.com/office/powerpoint/2010/main" val="34885181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A4D76-FC87-BA81-6AB7-267CF9F895F4}"/>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B545A307-1FBC-EC43-A10E-9D984F6EF85C}"/>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244E3247-DE57-7CEA-FB37-8CEF586EED63}"/>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43C30E4-32C4-47AC-919F-AD2CDBD3D2C7}"/>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0898AB8E-78F7-A70D-8A11-FC339D5B7F97}"/>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FCF94905-2C0F-971E-2A7C-D6BE5886D0D7}"/>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5F180528-6457-9E0D-6B05-8D38686BD344}"/>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2810122B-41B0-C244-1A8C-42A9E1F05C65}"/>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C22A5C89-CB94-516D-9244-3A21D949B9A1}"/>
              </a:ext>
            </a:extLst>
          </p:cNvPr>
          <p:cNvSpPr txBox="1"/>
          <p:nvPr/>
        </p:nvSpPr>
        <p:spPr>
          <a:xfrm>
            <a:off x="621433" y="943575"/>
            <a:ext cx="3568730" cy="424456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4</a:t>
            </a:r>
            <a:r>
              <a:rPr lang="zh-CN" altLang="zh-CN" sz="2000" b="1" dirty="0">
                <a:latin typeface="+mn-ea"/>
                <a:cs typeface="Times New Roman" panose="02020603050405020304" pitchFamily="18" charset="0"/>
              </a:rPr>
              <a:t>、</a:t>
            </a:r>
            <a:r>
              <a:rPr lang="en-US" altLang="zh-CN" sz="2000" b="1" dirty="0">
                <a:latin typeface="+mn-ea"/>
                <a:cs typeface="Times New Roman" panose="02020603050405020304" pitchFamily="18" charset="0"/>
              </a:rPr>
              <a:t>Turbo</a:t>
            </a:r>
            <a:r>
              <a:rPr lang="zh-CN" altLang="en-US" sz="2000" b="1" dirty="0">
                <a:latin typeface="+mn-ea"/>
                <a:cs typeface="Times New Roman" panose="02020603050405020304" pitchFamily="18" charset="0"/>
              </a:rPr>
              <a:t>编码</a:t>
            </a:r>
            <a:endParaRPr lang="en-US" altLang="zh-CN" sz="2000" b="1" dirty="0">
              <a:latin typeface="+mn-ea"/>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Turbo</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编码器的方案是：并行级联卷积码（</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Parallel Concatenated Convolutional Code</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PCCC</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），它使用了两个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8</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状态子编码器和一个</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Turbo</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码内交织器（</a:t>
            </a:r>
            <a:r>
              <a:rPr lang="zh-CN" altLang="en-US" dirty="0"/>
              <a:t> </a:t>
            </a:r>
            <a:r>
              <a:rPr lang="zh-CN" altLang="en-US" dirty="0">
                <a:solidFill>
                  <a:schemeClr val="accent1">
                    <a:lumMod val="60000"/>
                    <a:lumOff val="40000"/>
                  </a:schemeClr>
                </a:solidFill>
              </a:rPr>
              <a:t>两个并行的卷积编码器 </a:t>
            </a:r>
            <a:r>
              <a:rPr lang="en-US" altLang="zh-CN" dirty="0">
                <a:solidFill>
                  <a:schemeClr val="accent1">
                    <a:lumMod val="60000"/>
                    <a:lumOff val="40000"/>
                  </a:schemeClr>
                </a:solidFill>
              </a:rPr>
              <a:t>+ </a:t>
            </a:r>
            <a:r>
              <a:rPr lang="zh-CN" altLang="en-US" dirty="0">
                <a:solidFill>
                  <a:schemeClr val="accent1">
                    <a:lumMod val="60000"/>
                    <a:lumOff val="40000"/>
                  </a:schemeClr>
                </a:solidFill>
              </a:rPr>
              <a:t>一个交织器</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Turbo</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编码器的编码速率为</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1/3</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Turbo</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编码器的结构如图</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C51F71AC-A4F7-5983-DB65-F77849B002EC}"/>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1971E3B7-670D-C9E6-A352-213DA3CECC25}"/>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944E1C78-AA45-3AEA-2551-6851EA046317}"/>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63E10F21-76D9-8D6A-54CC-37F235A23ECB}"/>
              </a:ext>
            </a:extLst>
          </p:cNvPr>
          <p:cNvPicPr>
            <a:picLocks noChangeAspect="1"/>
          </p:cNvPicPr>
          <p:nvPr/>
        </p:nvPicPr>
        <p:blipFill>
          <a:blip r:embed="rId6"/>
          <a:stretch>
            <a:fillRect/>
          </a:stretch>
        </p:blipFill>
        <p:spPr>
          <a:xfrm>
            <a:off x="4668596" y="962796"/>
            <a:ext cx="6293937" cy="4552848"/>
          </a:xfrm>
          <a:prstGeom prst="rect">
            <a:avLst/>
          </a:prstGeom>
        </p:spPr>
      </p:pic>
    </p:spTree>
    <p:extLst>
      <p:ext uri="{BB962C8B-B14F-4D97-AF65-F5344CB8AC3E}">
        <p14:creationId xmlns:p14="http://schemas.microsoft.com/office/powerpoint/2010/main" val="28321039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02DF0-15E1-DF23-67DD-584B5F8DE979}"/>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2B5EF0A-124B-F147-2E2D-8595C20CE92E}"/>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72CB5731-0C04-0DFD-CACF-9CEAEF7C8AE5}"/>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9273737-11CB-E638-82E3-70E1FABC8FF1}"/>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4BAF1EE0-AB95-A9B9-D7C6-173EA94D3848}"/>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DD968457-92E4-D7A6-B052-852FB242B684}"/>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CBC2BB53-9E49-907F-DB8F-F9711A146D22}"/>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2E4A11AB-BDCC-470E-D3C5-6616035D4B34}"/>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40BDFA83-5777-F0F7-C29B-309D4F7B38F2}"/>
              </a:ext>
            </a:extLst>
          </p:cNvPr>
          <p:cNvSpPr txBox="1"/>
          <p:nvPr/>
        </p:nvSpPr>
        <p:spPr>
          <a:xfrm>
            <a:off x="621432" y="943575"/>
            <a:ext cx="10778789" cy="5490606"/>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4</a:t>
            </a:r>
            <a:r>
              <a:rPr lang="zh-CN" altLang="zh-CN" sz="2000" b="1" dirty="0">
                <a:latin typeface="+mn-ea"/>
                <a:cs typeface="Times New Roman" panose="02020603050405020304" pitchFamily="18" charset="0"/>
              </a:rPr>
              <a:t>、</a:t>
            </a:r>
            <a:r>
              <a:rPr lang="en-US" altLang="zh-CN" sz="2000" b="1" dirty="0">
                <a:latin typeface="+mn-ea"/>
                <a:cs typeface="Times New Roman" panose="02020603050405020304" pitchFamily="18" charset="0"/>
              </a:rPr>
              <a:t>Turbo</a:t>
            </a:r>
            <a:r>
              <a:rPr lang="zh-CN" altLang="en-US" sz="2000" b="1" dirty="0">
                <a:latin typeface="+mn-ea"/>
                <a:cs typeface="Times New Roman" panose="02020603050405020304" pitchFamily="18" charset="0"/>
              </a:rPr>
              <a:t>编码</a:t>
            </a:r>
            <a:endParaRPr lang="en-US" altLang="zh-CN" sz="2000" b="1" dirty="0">
              <a:latin typeface="+mn-ea"/>
              <a:cs typeface="Times New Roman" panose="02020603050405020304" pitchFamily="18" charset="0"/>
            </a:endParaRPr>
          </a:p>
          <a:p>
            <a:pPr>
              <a:lnSpc>
                <a:spcPct val="150000"/>
              </a:lnSpc>
            </a:pP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    双支路并行 </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RSC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编码：</a:t>
            </a:r>
            <a:endParaRPr lang="en-US" altLang="zh-CN" dirty="0">
              <a:latin typeface="微软雅黑" panose="020B0503020204020204" pitchFamily="34" charset="-122"/>
              <a:ea typeface="微软雅黑" panose="020B0503020204020204" pitchFamily="34" charset="-122"/>
              <a:cs typeface="Times New Roman" panose="02020603050405020304" pitchFamily="18" charset="0"/>
            </a:endParaRPr>
          </a:p>
          <a:p>
            <a:pPr>
              <a:lnSpc>
                <a:spcPct val="150000"/>
              </a:lnSpc>
            </a:pPr>
            <a:r>
              <a:rPr lang="zh-CN" altLang="en-US" dirty="0"/>
              <a:t>支路 </a:t>
            </a:r>
            <a:r>
              <a:rPr lang="en-US" altLang="zh-CN" dirty="0"/>
              <a:t>1</a:t>
            </a:r>
            <a:r>
              <a:rPr lang="zh-CN" altLang="en-US" dirty="0"/>
              <a:t>：码块直接输入第一个 </a:t>
            </a:r>
            <a:r>
              <a:rPr lang="en-US" altLang="zh-CN" dirty="0"/>
              <a:t>RSC </a:t>
            </a:r>
            <a:r>
              <a:rPr lang="zh-CN" altLang="en-US" dirty="0"/>
              <a:t>编码器，输出包含原始信息的</a:t>
            </a:r>
            <a:r>
              <a:rPr lang="zh-CN" altLang="en-US" b="1" dirty="0"/>
              <a:t>系统比特</a:t>
            </a:r>
            <a:r>
              <a:rPr lang="zh-CN" altLang="en-US" dirty="0"/>
              <a:t>和用于纠错的</a:t>
            </a:r>
            <a:r>
              <a:rPr lang="zh-CN" altLang="en-US" b="1" dirty="0"/>
              <a:t>第一路校验比特；</a:t>
            </a:r>
            <a:endParaRPr lang="en-US" altLang="zh-CN" b="1" dirty="0"/>
          </a:p>
          <a:p>
            <a:pPr>
              <a:lnSpc>
                <a:spcPct val="150000"/>
              </a:lnSpc>
            </a:pPr>
            <a:r>
              <a:rPr lang="zh-CN" altLang="en-US" dirty="0"/>
              <a:t>支路 </a:t>
            </a:r>
            <a:r>
              <a:rPr lang="en-US" altLang="zh-CN" dirty="0"/>
              <a:t>2</a:t>
            </a:r>
            <a:r>
              <a:rPr lang="zh-CN" altLang="en-US" dirty="0"/>
              <a:t>：同一码块先经过交织器打乱顺序（打破突发错误的影响），再输入第二个 </a:t>
            </a:r>
            <a:r>
              <a:rPr lang="en-US" altLang="zh-CN" dirty="0"/>
              <a:t>RSC </a:t>
            </a:r>
            <a:r>
              <a:rPr lang="zh-CN" altLang="en-US" dirty="0"/>
              <a:t>编码器，仅输出</a:t>
            </a:r>
            <a:r>
              <a:rPr lang="zh-CN" altLang="en-US" b="1" dirty="0"/>
              <a:t>第二路校验比特</a:t>
            </a:r>
            <a:r>
              <a:rPr lang="zh-CN" altLang="en-US" dirty="0"/>
              <a:t>（系统比特与支路 </a:t>
            </a:r>
            <a:r>
              <a:rPr lang="en-US" altLang="zh-CN" dirty="0"/>
              <a:t>1 </a:t>
            </a:r>
            <a:r>
              <a:rPr lang="zh-CN" altLang="en-US" dirty="0"/>
              <a:t>一致，无需重复传输，节省资源）。</a:t>
            </a:r>
            <a:endParaRPr lang="en-US" altLang="zh-CN" dirty="0"/>
          </a:p>
          <a:p>
            <a:pPr>
              <a:lnSpc>
                <a:spcPct val="150000"/>
              </a:lnSpc>
            </a:pPr>
            <a:endParaRPr lang="en-US" altLang="zh-CN" dirty="0"/>
          </a:p>
          <a:p>
            <a:pPr>
              <a:lnSpc>
                <a:spcPct val="150000"/>
              </a:lnSpc>
            </a:pPr>
            <a:r>
              <a:rPr lang="en-US" altLang="zh-CN" dirty="0"/>
              <a:t>Trellis Termination</a:t>
            </a:r>
            <a:r>
              <a:rPr lang="zh-CN" altLang="zh-CN" dirty="0"/>
              <a:t>（网格终止）</a:t>
            </a:r>
            <a:r>
              <a:rPr lang="zh-CN" altLang="en-US" dirty="0"/>
              <a:t>：卷积编码器的输出不仅依赖 “当前输入比特”，还依赖 “之前的输入比特”。编码器内部会用若干寄存器存储历史比特，这些寄存器的取值组合称为 “编码器状态”。若编码结束时，编码器状态没有回归到初始状态，会导致：（</a:t>
            </a:r>
            <a:r>
              <a:rPr lang="en-US" altLang="zh-CN" dirty="0"/>
              <a:t>1</a:t>
            </a:r>
            <a:r>
              <a:rPr lang="zh-CN" altLang="en-US" dirty="0"/>
              <a:t>）译码性能下降</a:t>
            </a:r>
            <a:r>
              <a:rPr lang="en-US" altLang="zh-CN" dirty="0"/>
              <a:t>                 </a:t>
            </a:r>
            <a:r>
              <a:rPr lang="zh-CN" altLang="en-US" dirty="0"/>
              <a:t>（</a:t>
            </a:r>
            <a:r>
              <a:rPr lang="en-US" altLang="zh-CN" dirty="0"/>
              <a:t>2</a:t>
            </a:r>
            <a:r>
              <a:rPr lang="zh-CN" altLang="en-US" dirty="0"/>
              <a:t>）码率不固定</a:t>
            </a:r>
            <a:endParaRPr lang="en-US" altLang="zh-CN" dirty="0"/>
          </a:p>
          <a:p>
            <a:pPr>
              <a:lnSpc>
                <a:spcPct val="150000"/>
              </a:lnSpc>
            </a:pPr>
            <a:r>
              <a:rPr lang="zh-CN" altLang="en-US" dirty="0"/>
              <a:t>    网格终止就是给卷积编码器的 “状态机” 一个 “收尾指令”，让它编码结束后回到起点，确保编码过程完整、译码可准确追溯</a:t>
            </a:r>
            <a:endParaRPr lang="en-US" altLang="zh-CN" dirty="0"/>
          </a:p>
          <a:p>
            <a:pPr>
              <a:lnSpc>
                <a:spcPct val="150000"/>
              </a:lnSpc>
            </a:pPr>
            <a:r>
              <a:rPr lang="en-US" altLang="zh-CN" dirty="0"/>
              <a:t>    LTE </a:t>
            </a:r>
            <a:r>
              <a:rPr lang="zh-CN" altLang="en-US" dirty="0"/>
              <a:t>协议对 </a:t>
            </a:r>
            <a:r>
              <a:rPr lang="en-US" altLang="zh-CN" dirty="0"/>
              <a:t>Turbo </a:t>
            </a:r>
            <a:r>
              <a:rPr lang="zh-CN" altLang="en-US" dirty="0"/>
              <a:t>编码的网格终止有明确规定，核心是 “添加终止比特，强制状态归零”，具体流程如下：</a:t>
            </a:r>
            <a:endParaRPr lang="en-US" altLang="zh-CN" dirty="0"/>
          </a:p>
        </p:txBody>
      </p:sp>
      <p:pic>
        <p:nvPicPr>
          <p:cNvPr id="8" name="Picture 15" descr="易思达白字 png">
            <a:extLst>
              <a:ext uri="{FF2B5EF4-FFF2-40B4-BE49-F238E27FC236}">
                <a16:creationId xmlns:a16="http://schemas.microsoft.com/office/drawing/2014/main" id="{8922F357-FD8D-431B-2D3D-AA477F60B49B}"/>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D87D0E39-E8DF-3D42-69B6-58CCF2379A8B}"/>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61442336-DA2A-E56E-A890-6DF1943D6231}"/>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208070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7EBBE-10CD-782B-2E39-CCDF57A579CB}"/>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A8407263-001F-EBFF-4F94-C6C7A8C88757}"/>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7D9D5EA9-2740-050B-798E-289370FB830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5369714-682B-33A1-C48A-65DC6E8CDD1C}"/>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B8AE5269-501E-D8D2-3AF3-80338993FAD8}"/>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398A029E-702C-D828-1D0C-E133A601535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D30E7C09-EE16-5347-C36C-FCE1CD465972}"/>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E671B216-2A3E-FFF5-62B3-1416152E437F}"/>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3D6CF43-4F16-995E-B440-2CD699C71CE5}"/>
              </a:ext>
            </a:extLst>
          </p:cNvPr>
          <p:cNvSpPr txBox="1"/>
          <p:nvPr/>
        </p:nvSpPr>
        <p:spPr>
          <a:xfrm>
            <a:off x="621432" y="943575"/>
            <a:ext cx="10778789" cy="590418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4</a:t>
            </a:r>
            <a:r>
              <a:rPr lang="zh-CN" altLang="zh-CN" sz="2000" b="1" dirty="0">
                <a:latin typeface="+mn-ea"/>
                <a:cs typeface="Times New Roman" panose="02020603050405020304" pitchFamily="18" charset="0"/>
              </a:rPr>
              <a:t>、</a:t>
            </a:r>
            <a:r>
              <a:rPr lang="en-US" altLang="zh-CN" sz="2000" b="1" dirty="0">
                <a:latin typeface="+mn-ea"/>
                <a:cs typeface="Times New Roman" panose="02020603050405020304" pitchFamily="18" charset="0"/>
              </a:rPr>
              <a:t>Turbo</a:t>
            </a:r>
            <a:r>
              <a:rPr lang="zh-CN" altLang="en-US" sz="2000" b="1" dirty="0">
                <a:latin typeface="+mn-ea"/>
                <a:cs typeface="Times New Roman" panose="02020603050405020304" pitchFamily="18" charset="0"/>
              </a:rPr>
              <a:t>编码</a:t>
            </a:r>
            <a:endParaRPr lang="en-US" altLang="zh-CN" sz="2000" b="1" dirty="0">
              <a:latin typeface="+mn-ea"/>
              <a:cs typeface="Times New Roman" panose="02020603050405020304" pitchFamily="18" charset="0"/>
            </a:endParaRPr>
          </a:p>
          <a:p>
            <a:pPr>
              <a:lnSpc>
                <a:spcPct val="150000"/>
              </a:lnSpc>
            </a:pPr>
            <a:r>
              <a:rPr lang="zh-CN" altLang="en-US" b="1" dirty="0"/>
              <a:t>    编码主数据</a:t>
            </a:r>
            <a:r>
              <a:rPr lang="zh-CN" altLang="en-US" dirty="0"/>
              <a:t>：先将预处理后的码块（已加 </a:t>
            </a:r>
            <a:r>
              <a:rPr lang="en-US" altLang="zh-CN" dirty="0"/>
              <a:t>CRC</a:t>
            </a:r>
            <a:r>
              <a:rPr lang="zh-CN" altLang="en-US" dirty="0"/>
              <a:t>）逐比特输入 </a:t>
            </a:r>
            <a:r>
              <a:rPr lang="en-US" altLang="zh-CN" dirty="0"/>
              <a:t>Turbo </a:t>
            </a:r>
            <a:r>
              <a:rPr lang="zh-CN" altLang="en-US" dirty="0"/>
              <a:t>码的两个卷积编码器（主编码器和交织后的辅助编码器），生成对应的系统比特和两路校验比特。</a:t>
            </a:r>
          </a:p>
          <a:p>
            <a:pPr>
              <a:lnSpc>
                <a:spcPct val="150000"/>
              </a:lnSpc>
            </a:pPr>
            <a:r>
              <a:rPr lang="zh-CN" altLang="en-US" b="1" dirty="0"/>
              <a:t>    捕获当前状态</a:t>
            </a:r>
            <a:r>
              <a:rPr lang="zh-CN" altLang="en-US" dirty="0"/>
              <a:t>：主数据编码完成后，不直接结束，而是先读取两个编码器当前的 “残留状态”（比如主编码器状态是</a:t>
            </a:r>
            <a:r>
              <a:rPr lang="en-US" altLang="zh-CN" dirty="0"/>
              <a:t>101</a:t>
            </a:r>
            <a:r>
              <a:rPr lang="zh-CN" altLang="en-US" dirty="0"/>
              <a:t>，辅助编码器状态是</a:t>
            </a:r>
            <a:r>
              <a:rPr lang="en-US" altLang="zh-CN" dirty="0"/>
              <a:t>011</a:t>
            </a:r>
            <a:r>
              <a:rPr lang="zh-CN" altLang="en-US" dirty="0"/>
              <a:t>）。</a:t>
            </a:r>
          </a:p>
          <a:p>
            <a:pPr>
              <a:lnSpc>
                <a:spcPct val="150000"/>
              </a:lnSpc>
            </a:pPr>
            <a:r>
              <a:rPr lang="zh-CN" altLang="en-US" b="1" dirty="0"/>
              <a:t>    生成终止比特</a:t>
            </a:r>
            <a:r>
              <a:rPr lang="zh-CN" altLang="en-US" dirty="0"/>
              <a:t>：根据残留状态，计算一组 “特殊比特”（称为终止比特）</a:t>
            </a:r>
            <a:r>
              <a:rPr lang="en-US" altLang="zh-CN" dirty="0"/>
              <a:t>—— </a:t>
            </a:r>
            <a:r>
              <a:rPr lang="zh-CN" altLang="en-US" dirty="0"/>
              <a:t>这组比特的作用是 “抵消残留状态”。例如：若主编码器状态是</a:t>
            </a:r>
            <a:r>
              <a:rPr lang="en-US" altLang="zh-CN" dirty="0"/>
              <a:t>101</a:t>
            </a:r>
            <a:r>
              <a:rPr lang="zh-CN" altLang="en-US" dirty="0"/>
              <a:t>，就生成 </a:t>
            </a:r>
            <a:r>
              <a:rPr lang="en-US" altLang="zh-CN" dirty="0"/>
              <a:t>3 </a:t>
            </a:r>
            <a:r>
              <a:rPr lang="zh-CN" altLang="en-US" dirty="0"/>
              <a:t>个终止比特（</a:t>
            </a:r>
            <a:r>
              <a:rPr lang="en-US" altLang="zh-CN" dirty="0"/>
              <a:t>LTE </a:t>
            </a:r>
            <a:r>
              <a:rPr lang="zh-CN" altLang="en-US" dirty="0"/>
              <a:t>中是 </a:t>
            </a:r>
            <a:r>
              <a:rPr lang="en-US" altLang="zh-CN" dirty="0"/>
              <a:t>3 </a:t>
            </a:r>
            <a:r>
              <a:rPr lang="zh-CN" altLang="en-US" dirty="0"/>
              <a:t>位），输入编码器后，能让寄存器的取值逐步归零。</a:t>
            </a:r>
          </a:p>
          <a:p>
            <a:pPr>
              <a:lnSpc>
                <a:spcPct val="150000"/>
              </a:lnSpc>
            </a:pPr>
            <a:r>
              <a:rPr lang="zh-CN" altLang="en-US" b="1" dirty="0"/>
              <a:t>    输入终止比特完成终止</a:t>
            </a:r>
            <a:r>
              <a:rPr lang="zh-CN" altLang="en-US" dirty="0"/>
              <a:t>：将生成的终止比特分别输入两个卷积编码器（主编码器直接输入，辅助编码器输入交织后的终止比特，与编码流程一致）。此时，两个编码器的状态会从残留状态逐步转移到全 </a:t>
            </a:r>
            <a:r>
              <a:rPr lang="en-US" altLang="zh-CN" dirty="0"/>
              <a:t>0 </a:t>
            </a:r>
            <a:r>
              <a:rPr lang="zh-CN" altLang="en-US" dirty="0"/>
              <a:t>初始状态，网格终止完成。</a:t>
            </a:r>
          </a:p>
          <a:p>
            <a:pPr>
              <a:lnSpc>
                <a:spcPct val="150000"/>
              </a:lnSpc>
            </a:pPr>
            <a:r>
              <a:rPr lang="zh-CN" altLang="en-US" b="1" dirty="0"/>
              <a:t>    输出完整码流</a:t>
            </a:r>
            <a:r>
              <a:rPr lang="zh-CN" altLang="en-US" dirty="0"/>
              <a:t>：终止比特对应的校验比特（系统比特无终止比特，仅校验比特有）会与主数据的码流拼接，最终形成包含 “主数据码流 </a:t>
            </a:r>
            <a:r>
              <a:rPr lang="en-US" altLang="zh-CN" dirty="0"/>
              <a:t>+ </a:t>
            </a:r>
            <a:r>
              <a:rPr lang="zh-CN" altLang="en-US" dirty="0"/>
              <a:t>终止校验码流” 的完整编码数据。</a:t>
            </a:r>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0556FF66-BAE1-B62A-BAF0-C546B01B0179}"/>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2DD12DB0-DA39-A398-72BF-6E2E5F4D61EC}"/>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0EF7B504-90A0-FA04-7D90-E581944247C7}"/>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9190512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BE28E-0632-B77D-4E51-9347BDF6C7B0}"/>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4D94B54-0AF9-A949-C65A-FF060C60EEA3}"/>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1988EB0E-CCDD-E020-D66A-384BC09D6745}"/>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0723A23-228E-DF08-1EA0-C5212B33B31A}"/>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E81D9579-5597-ECB7-47EA-E5664DC31EF1}"/>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1185B58D-67C9-F64E-F530-43E4D3F34FD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D7375B2B-A708-D8F5-0856-EE18ED3A4A90}"/>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01E2A6C2-55EA-8FF8-0C35-7198764FDE50}"/>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5C715251-FDAD-877E-1ACC-D3FC103DF222}"/>
              </a:ext>
            </a:extLst>
          </p:cNvPr>
          <p:cNvSpPr txBox="1"/>
          <p:nvPr/>
        </p:nvSpPr>
        <p:spPr>
          <a:xfrm>
            <a:off x="621432" y="943575"/>
            <a:ext cx="10778789" cy="920124"/>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4</a:t>
            </a:r>
            <a:r>
              <a:rPr lang="zh-CN" altLang="zh-CN" sz="2000" b="1" dirty="0">
                <a:latin typeface="+mn-ea"/>
                <a:cs typeface="Times New Roman" panose="02020603050405020304" pitchFamily="18" charset="0"/>
              </a:rPr>
              <a:t>、</a:t>
            </a:r>
            <a:r>
              <a:rPr lang="en-US" altLang="zh-CN" sz="2000" b="1" dirty="0">
                <a:latin typeface="+mn-ea"/>
                <a:cs typeface="Times New Roman" panose="02020603050405020304" pitchFamily="18" charset="0"/>
              </a:rPr>
              <a:t>Turbo</a:t>
            </a:r>
            <a:r>
              <a:rPr lang="zh-CN" altLang="en-US" sz="2000" b="1" dirty="0">
                <a:latin typeface="+mn-ea"/>
                <a:cs typeface="Times New Roman" panose="02020603050405020304" pitchFamily="18" charset="0"/>
              </a:rPr>
              <a:t>编码</a:t>
            </a:r>
            <a:endParaRPr lang="en-US" altLang="zh-CN" sz="2000" b="1" dirty="0">
              <a:latin typeface="+mn-ea"/>
              <a:cs typeface="Times New Roman" panose="02020603050405020304" pitchFamily="18" charset="0"/>
            </a:endParaRPr>
          </a:p>
          <a:p>
            <a:pPr>
              <a:lnSpc>
                <a:spcPct val="150000"/>
              </a:lnSpc>
            </a:pPr>
            <a:r>
              <a:rPr lang="zh-CN" altLang="en-US" b="1" dirty="0"/>
              <a:t>    </a:t>
            </a:r>
            <a:r>
              <a:rPr lang="en-US" altLang="zh-CN" dirty="0"/>
              <a:t>TD-LTE Turbo</a:t>
            </a:r>
            <a:r>
              <a:rPr lang="zh-CN" altLang="en-US" dirty="0"/>
              <a:t>编码的流程图如下</a:t>
            </a:r>
            <a:endParaRPr lang="en-US" altLang="zh-CN" dirty="0"/>
          </a:p>
        </p:txBody>
      </p:sp>
      <p:pic>
        <p:nvPicPr>
          <p:cNvPr id="8" name="Picture 15" descr="易思达白字 png">
            <a:extLst>
              <a:ext uri="{FF2B5EF4-FFF2-40B4-BE49-F238E27FC236}">
                <a16:creationId xmlns:a16="http://schemas.microsoft.com/office/drawing/2014/main" id="{8C7C08E1-B0A1-9220-C2EF-2606AA917C0B}"/>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9559606E-B9BE-2687-356B-26451BC9B010}"/>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68448263-D38B-56FF-4D4F-60FAD105BE6B}"/>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F477DFA4-E08D-480C-1448-A38A4F651A2F}"/>
              </a:ext>
            </a:extLst>
          </p:cNvPr>
          <p:cNvPicPr>
            <a:picLocks noChangeAspect="1"/>
          </p:cNvPicPr>
          <p:nvPr/>
        </p:nvPicPr>
        <p:blipFill>
          <a:blip r:embed="rId6"/>
          <a:stretch>
            <a:fillRect/>
          </a:stretch>
        </p:blipFill>
        <p:spPr>
          <a:xfrm>
            <a:off x="4798371" y="142659"/>
            <a:ext cx="2280775" cy="6387919"/>
          </a:xfrm>
          <a:prstGeom prst="rect">
            <a:avLst/>
          </a:prstGeom>
        </p:spPr>
      </p:pic>
    </p:spTree>
    <p:extLst>
      <p:ext uri="{BB962C8B-B14F-4D97-AF65-F5344CB8AC3E}">
        <p14:creationId xmlns:p14="http://schemas.microsoft.com/office/powerpoint/2010/main" val="175324110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E5F2-7C09-F8BD-F5E7-FBA7C81F8E9E}"/>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A33ABD20-85F6-189E-71F5-7126B01EB5D3}"/>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7C387846-BCE5-F4B4-9854-A1D218C20FED}"/>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BA82723-D496-1E26-565A-C92857A6C1D8}"/>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BA076D7-8FB2-B9F0-AB08-877C51BE5BE7}"/>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D96566FA-D081-4748-9171-582291DFA345}"/>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BD38ACE1-E24F-79BB-E467-39C085C27134}"/>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0111316E-C85D-4B70-2913-27300ECD3990}"/>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6D24657-0C3C-15AF-D3AA-E531BDEC6ACE}"/>
              </a:ext>
            </a:extLst>
          </p:cNvPr>
          <p:cNvSpPr txBox="1"/>
          <p:nvPr/>
        </p:nvSpPr>
        <p:spPr>
          <a:xfrm>
            <a:off x="621432" y="943575"/>
            <a:ext cx="10778789" cy="4657685"/>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5</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速率匹配</a:t>
            </a:r>
            <a:endParaRPr lang="en-US" altLang="zh-CN" sz="2000" b="1" dirty="0">
              <a:latin typeface="+mn-ea"/>
              <a:cs typeface="Times New Roman" panose="02020603050405020304" pitchFamily="18" charset="0"/>
            </a:endParaRPr>
          </a:p>
          <a:p>
            <a:pPr>
              <a:lnSpc>
                <a:spcPct val="150000"/>
              </a:lnSpc>
            </a:pPr>
            <a:r>
              <a:rPr lang="zh-CN" altLang="en-US" b="1" dirty="0"/>
              <a:t>    </a:t>
            </a:r>
            <a:r>
              <a:rPr lang="zh-CN" altLang="en-US" dirty="0"/>
              <a:t>速率匹配是“子块交织</a:t>
            </a:r>
            <a:r>
              <a:rPr lang="en-US" altLang="zh-CN" dirty="0"/>
              <a:t>+</a:t>
            </a:r>
            <a:r>
              <a:rPr lang="zh-CN" altLang="en-US" dirty="0"/>
              <a:t>速率匹配”的组合，是</a:t>
            </a:r>
            <a:r>
              <a:rPr lang="en-US" altLang="zh-CN" dirty="0"/>
              <a:t>Turbo </a:t>
            </a:r>
            <a:r>
              <a:rPr lang="zh-CN" altLang="en-US" dirty="0"/>
              <a:t>编码后的关键环节，核心是通过特定的比特调整手段（打孔、重复），让编码后的码流适配无线信道的传输资源与信道质量，</a:t>
            </a:r>
            <a:r>
              <a:rPr lang="en-US" altLang="zh-CN" dirty="0"/>
              <a:t>3GPP TS 36.212 </a:t>
            </a:r>
            <a:r>
              <a:rPr lang="zh-CN" altLang="en-US" dirty="0"/>
              <a:t>协议对其流程和规则有明确规定</a:t>
            </a:r>
            <a:endParaRPr lang="en-US" altLang="zh-CN" dirty="0"/>
          </a:p>
          <a:p>
            <a:pPr>
              <a:lnSpc>
                <a:spcPct val="150000"/>
              </a:lnSpc>
            </a:pPr>
            <a:r>
              <a:rPr lang="en-US" altLang="zh-CN"/>
              <a:t>    </a:t>
            </a:r>
            <a:r>
              <a:rPr lang="zh-CN" altLang="zh-CN"/>
              <a:t>如果</a:t>
            </a:r>
            <a:r>
              <a:rPr lang="zh-CN" altLang="zh-CN" dirty="0"/>
              <a:t>输入比特数少于输出比特数，那就是用</a:t>
            </a:r>
            <a:r>
              <a:rPr lang="zh-CN" altLang="en-US" dirty="0"/>
              <a:t>比特重复</a:t>
            </a:r>
            <a:r>
              <a:rPr lang="zh-CN" altLang="zh-CN" dirty="0"/>
              <a:t>；如果输入比特数多于输出比特数，那就是用</a:t>
            </a:r>
            <a:r>
              <a:rPr lang="zh-CN" altLang="en-US" dirty="0"/>
              <a:t>打孔</a:t>
            </a:r>
            <a:r>
              <a:rPr lang="zh-CN" altLang="zh-CN" dirty="0"/>
              <a:t>。打孔就是依照一定的</a:t>
            </a:r>
            <a:r>
              <a:rPr lang="zh-CN" altLang="en-US" dirty="0"/>
              <a:t>规则</a:t>
            </a:r>
            <a:r>
              <a:rPr lang="zh-CN" altLang="zh-CN" dirty="0"/>
              <a:t>把一些比特打掉，从比特序列中移除</a:t>
            </a:r>
            <a:endParaRPr lang="en-US" altLang="zh-CN" dirty="0"/>
          </a:p>
          <a:p>
            <a:pPr>
              <a:lnSpc>
                <a:spcPct val="150000"/>
              </a:lnSpc>
            </a:pPr>
            <a:r>
              <a:rPr lang="zh-CN" altLang="en-US" dirty="0"/>
              <a:t>    打孔的规则： “优先保留高优先级比特、有序丢弃低优先级校验比特”</a:t>
            </a:r>
            <a:r>
              <a:rPr lang="en-US" altLang="zh-CN" dirty="0"/>
              <a:t>—— </a:t>
            </a:r>
            <a:r>
              <a:rPr lang="zh-CN" altLang="en-US" dirty="0"/>
              <a:t>规则设计的核心是 “最大化保留有效信息，最小化纠错性能损失”</a:t>
            </a:r>
            <a:endParaRPr lang="en-US" altLang="zh-CN" dirty="0"/>
          </a:p>
          <a:p>
            <a:pPr>
              <a:lnSpc>
                <a:spcPct val="150000"/>
              </a:lnSpc>
            </a:pPr>
            <a:r>
              <a:rPr lang="zh-CN" altLang="en-US" dirty="0"/>
              <a:t>    高优先级：信息比特              中优先级：第一路校验比特          最低优先级：第二路校验比特</a:t>
            </a:r>
            <a:endParaRPr lang="en-US" altLang="zh-CN" dirty="0"/>
          </a:p>
          <a:p>
            <a:pPr>
              <a:lnSpc>
                <a:spcPct val="150000"/>
              </a:lnSpc>
            </a:pPr>
            <a:endParaRPr lang="en-US" altLang="zh-CN" dirty="0"/>
          </a:p>
          <a:p>
            <a:pPr>
              <a:lnSpc>
                <a:spcPct val="150000"/>
              </a:lnSpc>
            </a:pPr>
            <a:r>
              <a:rPr lang="zh-CN" altLang="en-US" dirty="0"/>
              <a:t>简单说：</a:t>
            </a:r>
            <a:r>
              <a:rPr lang="zh-CN" altLang="en-US" dirty="0">
                <a:solidFill>
                  <a:schemeClr val="accent1">
                    <a:lumMod val="60000"/>
                    <a:lumOff val="40000"/>
                  </a:schemeClr>
                </a:solidFill>
              </a:rPr>
              <a:t>打孔只丢校验比特，且先丢第二路校验比特，再丢第一路校验比特 ，绝不丢系统比特</a:t>
            </a:r>
            <a:endParaRPr lang="en-US" altLang="zh-CN" dirty="0">
              <a:solidFill>
                <a:schemeClr val="accent1">
                  <a:lumMod val="60000"/>
                  <a:lumOff val="40000"/>
                </a:schemeClr>
              </a:solidFill>
            </a:endParaRPr>
          </a:p>
        </p:txBody>
      </p:sp>
      <p:pic>
        <p:nvPicPr>
          <p:cNvPr id="8" name="Picture 15" descr="易思达白字 png">
            <a:extLst>
              <a:ext uri="{FF2B5EF4-FFF2-40B4-BE49-F238E27FC236}">
                <a16:creationId xmlns:a16="http://schemas.microsoft.com/office/drawing/2014/main" id="{D6E12F76-8334-7620-5C00-7398F82EDA96}"/>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A894D882-E04B-4727-9749-401ECFD971A3}"/>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4D21B9CA-A8BF-E5CF-5558-A3B871128903}"/>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5150591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7E9D-8BC2-2EC6-5E82-0034A16AA462}"/>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4C53772E-472D-6F81-2D16-40FE1B920A2F}"/>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CF74D165-B99E-A986-AE33-6823B914FFB8}"/>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F723A55-FBD8-ABBA-B557-5F917512E97B}"/>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E66939F2-6CD8-436D-E7B7-86D24BDF7789}"/>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0033D3AE-F49E-BD91-8350-F5274BFB78C7}"/>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80021A34-62D2-2445-D2E7-3EBEFD95B518}"/>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9BDD919-6E1A-6E18-3140-5BF21CB63993}"/>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545B4A33-5C4F-4DAC-0C0E-335A8C346CEA}"/>
              </a:ext>
            </a:extLst>
          </p:cNvPr>
          <p:cNvSpPr txBox="1"/>
          <p:nvPr/>
        </p:nvSpPr>
        <p:spPr>
          <a:xfrm>
            <a:off x="621432" y="943575"/>
            <a:ext cx="10778789" cy="3828612"/>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6</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码块级联</a:t>
            </a:r>
            <a:endParaRPr lang="en-US" altLang="zh-CN" sz="2000" b="1" dirty="0">
              <a:latin typeface="+mn-ea"/>
              <a:cs typeface="Times New Roman" panose="02020603050405020304" pitchFamily="18" charset="0"/>
            </a:endParaRPr>
          </a:p>
          <a:p>
            <a:pPr>
              <a:lnSpc>
                <a:spcPct val="150000"/>
              </a:lnSpc>
            </a:pPr>
            <a:r>
              <a:rPr lang="zh-CN" altLang="en-US" b="1" dirty="0"/>
              <a:t>    </a:t>
            </a:r>
            <a:r>
              <a:rPr lang="zh-CN" altLang="en-US" dirty="0"/>
              <a:t>码块级联是信道编码流程中衔接码块处理与物理信道传输的关键环节，对应 </a:t>
            </a:r>
            <a:r>
              <a:rPr lang="en-US" altLang="zh-CN" dirty="0"/>
              <a:t>3GPP TS 36.212 </a:t>
            </a:r>
            <a:r>
              <a:rPr lang="zh-CN" altLang="en-US" dirty="0"/>
              <a:t>协议规范。其核心是把传输块经分割、编码等操作后的多个独立码块，按固定规则整合为连续码流，同时配合校验机制保障整体传输完整性</a:t>
            </a:r>
            <a:endParaRPr lang="en-US" altLang="zh-CN" dirty="0"/>
          </a:p>
          <a:p>
            <a:pPr>
              <a:lnSpc>
                <a:spcPct val="150000"/>
              </a:lnSpc>
            </a:pPr>
            <a:r>
              <a:rPr lang="en-US" altLang="zh-CN" dirty="0"/>
              <a:t>    </a:t>
            </a:r>
            <a:r>
              <a:rPr lang="zh-CN" altLang="en-US" dirty="0"/>
              <a:t>为保证接收端能准确拆分和译码，码块级联有两个硬性规则，避免传输混乱：    </a:t>
            </a:r>
            <a:endParaRPr lang="en-US" altLang="zh-CN" dirty="0"/>
          </a:p>
          <a:p>
            <a:pPr>
              <a:lnSpc>
                <a:spcPct val="150000"/>
              </a:lnSpc>
            </a:pPr>
            <a:r>
              <a:rPr lang="zh-CN" altLang="en-US" b="1" dirty="0"/>
              <a:t>    顺序严格一致</a:t>
            </a:r>
            <a:r>
              <a:rPr lang="zh-CN" altLang="en-US" dirty="0"/>
              <a:t>：级联时的码块顺序，必须和分割时的顺序完全相同。比如传输块分割为 </a:t>
            </a:r>
            <a:r>
              <a:rPr lang="en-US" altLang="zh-CN" dirty="0"/>
              <a:t>CB1</a:t>
            </a:r>
            <a:r>
              <a:rPr lang="zh-CN" altLang="en-US" dirty="0"/>
              <a:t>、</a:t>
            </a:r>
            <a:r>
              <a:rPr lang="en-US" altLang="zh-CN" dirty="0"/>
              <a:t>CB2</a:t>
            </a:r>
            <a:r>
              <a:rPr lang="zh-CN" altLang="en-US" dirty="0"/>
              <a:t>、</a:t>
            </a:r>
            <a:r>
              <a:rPr lang="en-US" altLang="zh-CN" dirty="0"/>
              <a:t>CB3</a:t>
            </a:r>
            <a:r>
              <a:rPr lang="zh-CN" altLang="en-US" dirty="0"/>
              <a:t>，级联后仍为 </a:t>
            </a:r>
            <a:r>
              <a:rPr lang="en-US" altLang="zh-CN" dirty="0"/>
              <a:t>CB1→CB2→CB3</a:t>
            </a:r>
            <a:r>
              <a:rPr lang="zh-CN" altLang="en-US" dirty="0"/>
              <a:t>，接收端才能按相同顺序拆分，避免数据错乱</a:t>
            </a:r>
            <a:endParaRPr lang="en-US" altLang="zh-CN" dirty="0"/>
          </a:p>
          <a:p>
            <a:pPr>
              <a:lnSpc>
                <a:spcPct val="150000"/>
              </a:lnSpc>
            </a:pPr>
            <a:r>
              <a:rPr lang="zh-CN" altLang="en-US" b="1" dirty="0"/>
              <a:t>    校验比特不遗漏</a:t>
            </a:r>
            <a:r>
              <a:rPr lang="zh-CN" altLang="en-US" dirty="0"/>
              <a:t>：每个码块的 </a:t>
            </a:r>
            <a:r>
              <a:rPr lang="en-US" altLang="zh-CN" dirty="0"/>
              <a:t>CB </a:t>
            </a:r>
            <a:r>
              <a:rPr lang="zh-CN" altLang="en-US" dirty="0"/>
              <a:t>级 </a:t>
            </a:r>
            <a:r>
              <a:rPr lang="en-US" altLang="zh-CN" dirty="0"/>
              <a:t>CRC </a:t>
            </a:r>
            <a:r>
              <a:rPr lang="zh-CN" altLang="en-US" dirty="0"/>
              <a:t>比特、</a:t>
            </a:r>
            <a:r>
              <a:rPr lang="en-US" altLang="zh-CN" dirty="0"/>
              <a:t>Turbo </a:t>
            </a:r>
            <a:r>
              <a:rPr lang="zh-CN" altLang="en-US" dirty="0"/>
              <a:t>编码的系统比特和剩余校验比特，都会随码块一起参与级联。这些比特是接收端验证和纠错的关键，级联过程中不允许丢弃或篡改</a:t>
            </a:r>
            <a:endParaRPr lang="en-US" altLang="zh-CN" dirty="0"/>
          </a:p>
        </p:txBody>
      </p:sp>
      <p:pic>
        <p:nvPicPr>
          <p:cNvPr id="8" name="Picture 15" descr="易思达白字 png">
            <a:extLst>
              <a:ext uri="{FF2B5EF4-FFF2-40B4-BE49-F238E27FC236}">
                <a16:creationId xmlns:a16="http://schemas.microsoft.com/office/drawing/2014/main" id="{79548BC8-1449-3D1E-14A2-4D00E423DF18}"/>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385CD7F7-B6E2-15B9-36DB-CDE62A72E4CF}"/>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E1D805C7-CB0E-32ED-90B7-3ADFF784878F}"/>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8840043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F5CD0-5C38-DFA1-5D5B-EB2EA618BD14}"/>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D74B6565-13C3-AD69-A450-39CD3FCE9FEA}"/>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AF9C009D-285D-1DD9-01E1-08EC3459021D}"/>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B018C5B-6778-3238-F10D-0ADC9CB25F1F}"/>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8CCCD375-A107-9755-1242-92AA10E57AD0}"/>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801A4275-8C77-13B6-BBCB-6F3EDEE7E7F2}"/>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429262AE-3EB6-4D03-D05A-046C8C3047BB}"/>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E11FC1A0-83E1-026F-444F-01363DCA0106}"/>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DA7657B7-E2AD-0966-0629-767EA46FA9CB}"/>
              </a:ext>
            </a:extLst>
          </p:cNvPr>
          <p:cNvSpPr txBox="1"/>
          <p:nvPr/>
        </p:nvSpPr>
        <p:spPr>
          <a:xfrm>
            <a:off x="621432" y="943575"/>
            <a:ext cx="10778789" cy="2582117"/>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7</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交织</a:t>
            </a:r>
            <a:endParaRPr lang="en-US" altLang="zh-CN" sz="2000" b="1" dirty="0">
              <a:latin typeface="+mn-ea"/>
              <a:cs typeface="Times New Roman" panose="02020603050405020304" pitchFamily="18" charset="0"/>
            </a:endParaRPr>
          </a:p>
          <a:p>
            <a:pPr>
              <a:lnSpc>
                <a:spcPct val="150000"/>
              </a:lnSpc>
            </a:pPr>
            <a:r>
              <a:rPr lang="zh-CN" altLang="en-US" b="1" dirty="0"/>
              <a:t>    </a:t>
            </a:r>
            <a:r>
              <a:rPr lang="zh-CN" altLang="en-US" dirty="0"/>
              <a:t>通过特定规则打乱数据比特的原始顺序，把传输中出现的连续突发错误离散为随机错误，再配合 </a:t>
            </a:r>
            <a:r>
              <a:rPr lang="en-US" altLang="zh-CN" dirty="0"/>
              <a:t>Turbo </a:t>
            </a:r>
            <a:r>
              <a:rPr lang="zh-CN" altLang="en-US" dirty="0"/>
              <a:t>码等前向纠错技术修复错误</a:t>
            </a:r>
            <a:endParaRPr lang="en-US" altLang="zh-CN" dirty="0"/>
          </a:p>
          <a:p>
            <a:pPr>
              <a:lnSpc>
                <a:spcPct val="150000"/>
              </a:lnSpc>
            </a:pPr>
            <a:r>
              <a:rPr lang="en-US" altLang="zh-CN" dirty="0"/>
              <a:t>    </a:t>
            </a:r>
            <a:r>
              <a:rPr lang="zh-CN" altLang="zh-CN" dirty="0"/>
              <a:t>交织的实质是将突发错误分散开来，而且交织深度越深，抗突发错误的能力越强。</a:t>
            </a:r>
            <a:endParaRPr lang="en-US" altLang="zh-CN" dirty="0"/>
          </a:p>
          <a:p>
            <a:pPr>
              <a:lnSpc>
                <a:spcPct val="150000"/>
              </a:lnSpc>
            </a:pPr>
            <a:r>
              <a:rPr lang="en-US" altLang="zh-CN" dirty="0"/>
              <a:t>    </a:t>
            </a:r>
            <a:r>
              <a:rPr lang="zh-CN" altLang="zh-CN" dirty="0"/>
              <a:t>补充：交织前相邻的符号在交织后的最小距离称为交织深度（也叫交织距离）</a:t>
            </a:r>
            <a:r>
              <a:rPr lang="zh-CN" altLang="en-US" dirty="0"/>
              <a:t>。</a:t>
            </a:r>
            <a:r>
              <a:rPr lang="zh-CN" altLang="zh-CN" dirty="0"/>
              <a:t>交织深度应不小于信道上可能的突发错长度，否则解交织后仍可能存在一定的突发错误</a:t>
            </a:r>
            <a:r>
              <a:rPr lang="zh-CN" altLang="en-US" dirty="0"/>
              <a:t>。</a:t>
            </a:r>
            <a:endParaRPr lang="en-US" altLang="zh-CN" dirty="0"/>
          </a:p>
        </p:txBody>
      </p:sp>
      <p:pic>
        <p:nvPicPr>
          <p:cNvPr id="8" name="Picture 15" descr="易思达白字 png">
            <a:extLst>
              <a:ext uri="{FF2B5EF4-FFF2-40B4-BE49-F238E27FC236}">
                <a16:creationId xmlns:a16="http://schemas.microsoft.com/office/drawing/2014/main" id="{55957213-96D8-612B-2BC2-144C1504FF4C}"/>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710A1BB0-8F40-6D98-A0EF-BDC17690CCD8}"/>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9C451B39-E05E-0DCD-F1D2-10677F4D2C06}"/>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4303234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558B-0D83-A684-9FBF-17A5F0DB49B5}"/>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AEC4BED1-378D-F8AA-BD51-A76ACCA08E4F}"/>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59242723-1039-9DE5-159A-4756345C0014}"/>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395BAAF-0244-2F6A-F3F4-C0911D121CCB}"/>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AA7098B7-DF5D-2227-9588-F765C8965D9B}"/>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2BEB30E7-D0A7-D5C9-6860-A515B944CFEF}"/>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02CC6EDA-F4F2-BB73-A320-80018B510A21}"/>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1F27D7DA-676F-ACC6-C515-88D4B9DDDCA6}"/>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CB7D2A05-9B86-6666-C31C-D4846B5843C6}"/>
              </a:ext>
            </a:extLst>
          </p:cNvPr>
          <p:cNvSpPr txBox="1"/>
          <p:nvPr/>
        </p:nvSpPr>
        <p:spPr>
          <a:xfrm>
            <a:off x="621432" y="943575"/>
            <a:ext cx="10778789" cy="590418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8</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加扰</a:t>
            </a:r>
            <a:endParaRPr lang="en-US" altLang="zh-CN" sz="2000" b="1" dirty="0">
              <a:latin typeface="+mn-ea"/>
              <a:cs typeface="Times New Roman" panose="02020603050405020304" pitchFamily="18" charset="0"/>
            </a:endParaRPr>
          </a:p>
          <a:p>
            <a:pPr>
              <a:lnSpc>
                <a:spcPct val="150000"/>
              </a:lnSpc>
            </a:pPr>
            <a:r>
              <a:rPr lang="zh-CN" altLang="en-US" b="1" dirty="0"/>
              <a:t>    </a:t>
            </a:r>
            <a:r>
              <a:rPr lang="zh-CN" altLang="en-US" dirty="0"/>
              <a:t>在 </a:t>
            </a:r>
            <a:r>
              <a:rPr lang="en-US" altLang="zh-CN" dirty="0"/>
              <a:t>4G LTE </a:t>
            </a:r>
            <a:r>
              <a:rPr lang="zh-CN" altLang="en-US" dirty="0"/>
              <a:t>协议中，加扰是物理层在交织之后、调制之前的关键处理步骤，核心是通过伪随机序列与编码后的比特流做异或运算，实现干扰随机化、信号同步优化等功能，</a:t>
            </a:r>
            <a:r>
              <a:rPr lang="en-US" altLang="zh-CN" dirty="0"/>
              <a:t>3GPP TS 36.211 </a:t>
            </a:r>
            <a:r>
              <a:rPr lang="zh-CN" altLang="en-US" dirty="0"/>
              <a:t>协议对其扰码生成、加扰逻辑有明确规范</a:t>
            </a:r>
            <a:endParaRPr lang="en-US" altLang="zh-CN" dirty="0"/>
          </a:p>
          <a:p>
            <a:pPr>
              <a:lnSpc>
                <a:spcPct val="150000"/>
              </a:lnSpc>
            </a:pPr>
            <a:r>
              <a:rPr lang="zh-CN" altLang="en-US" dirty="0"/>
              <a:t>   加扰本质是一种 “比特级的随机化处理”，操作逻辑简单且标准化，具体可拆为两步：</a:t>
            </a:r>
            <a:endParaRPr lang="en-US" altLang="zh-CN" dirty="0"/>
          </a:p>
          <a:p>
            <a:pPr>
              <a:lnSpc>
                <a:spcPct val="150000"/>
              </a:lnSpc>
            </a:pPr>
            <a:r>
              <a:rPr lang="zh-CN" altLang="en-US" b="1" dirty="0"/>
              <a:t>（</a:t>
            </a:r>
            <a:r>
              <a:rPr lang="en-US" altLang="zh-CN" b="1" dirty="0"/>
              <a:t>1</a:t>
            </a:r>
            <a:r>
              <a:rPr lang="zh-CN" altLang="en-US" b="1" dirty="0"/>
              <a:t>）生成专属伪随机序列</a:t>
            </a:r>
            <a:r>
              <a:rPr lang="zh-CN" altLang="en-US" dirty="0"/>
              <a:t>：</a:t>
            </a:r>
            <a:r>
              <a:rPr lang="en-US" altLang="zh-CN" dirty="0"/>
              <a:t>LTE </a:t>
            </a:r>
            <a:r>
              <a:rPr lang="zh-CN" altLang="en-US" dirty="0"/>
              <a:t>中扰码基于 </a:t>
            </a:r>
            <a:r>
              <a:rPr lang="en-US" altLang="zh-CN" dirty="0"/>
              <a:t>31 </a:t>
            </a:r>
            <a:r>
              <a:rPr lang="zh-CN" altLang="en-US" dirty="0"/>
              <a:t>阶 </a:t>
            </a:r>
            <a:r>
              <a:rPr lang="en-US" altLang="zh-CN" dirty="0"/>
              <a:t>Gold </a:t>
            </a:r>
            <a:r>
              <a:rPr lang="zh-CN" altLang="en-US" dirty="0"/>
              <a:t>序列生成，这种序列看似随机，实则生成规则固定，能被精准复现。生成时，第一个序列的初始值固定，第二个序列的初始值会根据场景调整 </a:t>
            </a:r>
            <a:r>
              <a:rPr lang="en-US" altLang="zh-CN" dirty="0"/>
              <a:t>—— </a:t>
            </a:r>
            <a:r>
              <a:rPr lang="zh-CN" altLang="en-US" dirty="0"/>
              <a:t>比如下行链路会结合小区 </a:t>
            </a:r>
            <a:r>
              <a:rPr lang="en-US" altLang="zh-CN" dirty="0"/>
              <a:t>ID</a:t>
            </a:r>
            <a:r>
              <a:rPr lang="zh-CN" altLang="en-US" dirty="0"/>
              <a:t>、子帧索引等参数，上行链路会关联用户标识（</a:t>
            </a:r>
            <a:r>
              <a:rPr lang="en-US" altLang="zh-CN" dirty="0"/>
              <a:t>RNTI</a:t>
            </a:r>
            <a:r>
              <a:rPr lang="zh-CN" altLang="en-US" dirty="0"/>
              <a:t>），这样能确保不同小区、不同用户的扰码序列独一无二。</a:t>
            </a:r>
          </a:p>
          <a:p>
            <a:pPr>
              <a:lnSpc>
                <a:spcPct val="150000"/>
              </a:lnSpc>
            </a:pPr>
            <a:r>
              <a:rPr lang="zh-CN" altLang="en-US" b="1" dirty="0"/>
              <a:t>（</a:t>
            </a:r>
            <a:r>
              <a:rPr lang="en-US" altLang="zh-CN" b="1" dirty="0"/>
              <a:t>2</a:t>
            </a:r>
            <a:r>
              <a:rPr lang="zh-CN" altLang="en-US" b="1" dirty="0"/>
              <a:t>）执行异或加扰运算</a:t>
            </a:r>
            <a:r>
              <a:rPr lang="zh-CN" altLang="en-US" dirty="0"/>
              <a:t>：将生成的伪随机序列与编码交织后的原始比特流，按位进行模 </a:t>
            </a:r>
            <a:r>
              <a:rPr lang="en-US" altLang="zh-CN" dirty="0"/>
              <a:t>2 </a:t>
            </a:r>
            <a:r>
              <a:rPr lang="zh-CN" altLang="en-US" dirty="0"/>
              <a:t>加（也就是异或运算）。异或运算规则很简单：相同为</a:t>
            </a:r>
            <a:r>
              <a:rPr lang="en-US" altLang="zh-CN" dirty="0"/>
              <a:t>0</a:t>
            </a:r>
            <a:r>
              <a:rPr lang="zh-CN" altLang="en-US" dirty="0"/>
              <a:t>，不同为</a:t>
            </a:r>
            <a:r>
              <a:rPr lang="en-US" altLang="zh-CN" dirty="0"/>
              <a:t>1</a:t>
            </a:r>
            <a:r>
              <a:rPr lang="zh-CN" altLang="en-US" dirty="0"/>
              <a:t>。例如原始比特流是 “</a:t>
            </a:r>
            <a:r>
              <a:rPr lang="en-US" altLang="zh-CN" dirty="0"/>
              <a:t>0110”</a:t>
            </a:r>
            <a:r>
              <a:rPr lang="zh-CN" altLang="en-US" dirty="0"/>
              <a:t>，伪随机序列是 “</a:t>
            </a:r>
            <a:r>
              <a:rPr lang="en-US" altLang="zh-CN" dirty="0"/>
              <a:t>1010”</a:t>
            </a:r>
            <a:r>
              <a:rPr lang="zh-CN" altLang="en-US" dirty="0"/>
              <a:t>，加扰后就得到 “</a:t>
            </a:r>
            <a:r>
              <a:rPr lang="en-US" altLang="zh-CN" dirty="0"/>
              <a:t>1100”</a:t>
            </a:r>
            <a:r>
              <a:rPr lang="zh-CN" altLang="en-US" dirty="0"/>
              <a:t>，实现了原始信号的随机化改造</a:t>
            </a:r>
          </a:p>
          <a:p>
            <a:pPr>
              <a:lnSpc>
                <a:spcPct val="150000"/>
              </a:lnSpc>
            </a:pPr>
            <a:endParaRPr lang="en-US" altLang="zh-CN" dirty="0"/>
          </a:p>
          <a:p>
            <a:pPr>
              <a:lnSpc>
                <a:spcPct val="150000"/>
              </a:lnSpc>
            </a:pPr>
            <a:r>
              <a:rPr lang="en-US" altLang="zh-CN" dirty="0"/>
              <a:t>    </a:t>
            </a:r>
          </a:p>
        </p:txBody>
      </p:sp>
      <p:pic>
        <p:nvPicPr>
          <p:cNvPr id="8" name="Picture 15" descr="易思达白字 png">
            <a:extLst>
              <a:ext uri="{FF2B5EF4-FFF2-40B4-BE49-F238E27FC236}">
                <a16:creationId xmlns:a16="http://schemas.microsoft.com/office/drawing/2014/main" id="{95F4E16F-BCBA-F2CC-9D9A-4433923B69AC}"/>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C1EA4F90-29D7-D202-7D6C-92752147FBE6}"/>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AA1D6DC4-2605-36BD-9781-7C7F56A99D31}"/>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46957851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34A59-2A89-2817-DB98-F041B0F04305}"/>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9B027215-6509-9848-E9C7-CC8813C6598C}"/>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B70FD99D-E9D2-0D1E-3B4F-41727DB37C76}"/>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76A9221-056C-4B4E-B463-BEE6F411862B}"/>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7AB8F55-3522-F087-9B39-F4D92079B170}"/>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370E0A46-750B-8A16-A0F6-A439F24555D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81098803-3337-E42E-5539-4F83A3176087}"/>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0DC72162-7B58-A048-E3B0-E095E377765B}"/>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EE36D2C-6EFF-2BE5-1C1B-15B1D1B0954B}"/>
              </a:ext>
            </a:extLst>
          </p:cNvPr>
          <p:cNvSpPr txBox="1"/>
          <p:nvPr/>
        </p:nvSpPr>
        <p:spPr>
          <a:xfrm>
            <a:off x="621432" y="943575"/>
            <a:ext cx="10778789" cy="2166619"/>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9</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调制</a:t>
            </a:r>
            <a:endParaRPr lang="en-US" altLang="zh-CN" sz="2000" b="1" dirty="0">
              <a:latin typeface="+mn-ea"/>
              <a:cs typeface="Times New Roman" panose="02020603050405020304" pitchFamily="18" charset="0"/>
            </a:endParaRPr>
          </a:p>
          <a:p>
            <a:pPr>
              <a:lnSpc>
                <a:spcPct val="150000"/>
              </a:lnSpc>
            </a:pPr>
            <a:r>
              <a:rPr lang="zh-CN" altLang="en-US" b="1" dirty="0"/>
              <a:t>    </a:t>
            </a:r>
            <a:r>
              <a:rPr lang="en-US" altLang="zh-CN" dirty="0"/>
              <a:t>LTE </a:t>
            </a:r>
            <a:r>
              <a:rPr lang="zh-CN" altLang="en-US" dirty="0"/>
              <a:t>的调制是把加扰后的数字比特流转化为适配无线信道传输的模拟信号的过程，采用的调制方式有</a:t>
            </a:r>
            <a:r>
              <a:rPr lang="en-US" altLang="zh-CN" dirty="0"/>
              <a:t>QPSK</a:t>
            </a:r>
            <a:r>
              <a:rPr lang="zh-CN" altLang="en-US" dirty="0"/>
              <a:t>、</a:t>
            </a:r>
            <a:r>
              <a:rPr lang="en-US" altLang="zh-CN" dirty="0"/>
              <a:t>16QAM</a:t>
            </a:r>
            <a:r>
              <a:rPr lang="zh-CN" altLang="en-US" dirty="0"/>
              <a:t>、</a:t>
            </a:r>
            <a:r>
              <a:rPr lang="en-US" altLang="zh-CN" dirty="0"/>
              <a:t>64QAM</a:t>
            </a:r>
            <a:r>
              <a:rPr lang="zh-CN" altLang="en-US" dirty="0"/>
              <a:t>。</a:t>
            </a:r>
            <a:r>
              <a:rPr lang="en-US" altLang="zh-CN" dirty="0"/>
              <a:t>QAM</a:t>
            </a:r>
            <a:r>
              <a:rPr lang="zh-CN" altLang="en-US" dirty="0"/>
              <a:t>调制中，信号的振幅和相位作为两个独立的参量同时受到调制，</a:t>
            </a:r>
            <a:r>
              <a:rPr lang="en-US" altLang="zh-CN" dirty="0"/>
              <a:t>QAM</a:t>
            </a:r>
            <a:r>
              <a:rPr lang="zh-CN" altLang="en-US" dirty="0"/>
              <a:t>调制信号可以看作是两个正交的振幅键控信号之和。</a:t>
            </a:r>
            <a:endParaRPr lang="en-US" altLang="zh-CN" dirty="0"/>
          </a:p>
          <a:p>
            <a:pPr>
              <a:lnSpc>
                <a:spcPct val="150000"/>
              </a:lnSpc>
            </a:pPr>
            <a:r>
              <a:rPr lang="en-US" altLang="zh-CN" dirty="0"/>
              <a:t>    </a:t>
            </a:r>
            <a:r>
              <a:rPr lang="zh-CN" altLang="zh-CN" dirty="0"/>
              <a:t>在</a:t>
            </a:r>
            <a:r>
              <a:rPr lang="en-GB" altLang="zh-CN" dirty="0"/>
              <a:t>3GPP 36.211</a:t>
            </a:r>
            <a:r>
              <a:rPr lang="zh-CN" altLang="zh-CN" dirty="0"/>
              <a:t>的</a:t>
            </a:r>
            <a:r>
              <a:rPr lang="en-GB" altLang="zh-CN" dirty="0"/>
              <a:t>7.1.3</a:t>
            </a:r>
            <a:r>
              <a:rPr lang="zh-CN" altLang="zh-CN" dirty="0"/>
              <a:t>节中说明了</a:t>
            </a:r>
            <a:r>
              <a:rPr lang="en-GB" altLang="zh-CN" dirty="0"/>
              <a:t>QPSK</a:t>
            </a:r>
            <a:r>
              <a:rPr lang="zh-CN" altLang="zh-CN" dirty="0"/>
              <a:t>的调制算法</a:t>
            </a:r>
            <a:r>
              <a:rPr lang="zh-CN" altLang="en-US" dirty="0"/>
              <a:t>：</a:t>
            </a:r>
            <a:endParaRPr lang="en-US" altLang="zh-CN" dirty="0"/>
          </a:p>
        </p:txBody>
      </p:sp>
      <p:pic>
        <p:nvPicPr>
          <p:cNvPr id="8" name="Picture 15" descr="易思达白字 png">
            <a:extLst>
              <a:ext uri="{FF2B5EF4-FFF2-40B4-BE49-F238E27FC236}">
                <a16:creationId xmlns:a16="http://schemas.microsoft.com/office/drawing/2014/main" id="{7D22AE17-D266-D53D-EFDE-EF0A6602A23F}"/>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CC6CF53C-9335-1ECA-9492-8E3B05B5CBD4}"/>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F3892318-7263-825B-D7F3-BEB28875D8F2}"/>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171571CF-37D2-1994-A631-20EB295D0DEC}"/>
              </a:ext>
            </a:extLst>
          </p:cNvPr>
          <p:cNvPicPr>
            <a:picLocks noChangeAspect="1"/>
          </p:cNvPicPr>
          <p:nvPr/>
        </p:nvPicPr>
        <p:blipFill>
          <a:blip r:embed="rId6"/>
          <a:stretch>
            <a:fillRect/>
          </a:stretch>
        </p:blipFill>
        <p:spPr>
          <a:xfrm>
            <a:off x="1099866" y="3429000"/>
            <a:ext cx="9617108" cy="1762297"/>
          </a:xfrm>
          <a:prstGeom prst="rect">
            <a:avLst/>
          </a:prstGeom>
        </p:spPr>
      </p:pic>
    </p:spTree>
    <p:extLst>
      <p:ext uri="{BB962C8B-B14F-4D97-AF65-F5344CB8AC3E}">
        <p14:creationId xmlns:p14="http://schemas.microsoft.com/office/powerpoint/2010/main" val="323370210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2BBE6-37A9-62D5-2CF5-F8A330320E77}"/>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EEE1F5D8-0F4F-D0B7-30BA-78CA205B966A}"/>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29F62A37-3461-19DD-73F2-E14952401E78}"/>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8BBFB87-9B3E-543C-8408-C4BD9E6EFCA0}"/>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F481C96D-048B-F689-40D7-39FB04F98B32}"/>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81AB4698-380A-DC27-E9BB-CD4439EFFF87}"/>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6B6C7A7D-E1DD-50DC-9DEE-CEE4A3708B4D}"/>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CA156772-7522-D794-C2B5-6E085892D6ED}"/>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4AA79368-8691-BB04-C854-00ADB393C20A}"/>
              </a:ext>
            </a:extLst>
          </p:cNvPr>
          <p:cNvSpPr txBox="1"/>
          <p:nvPr/>
        </p:nvSpPr>
        <p:spPr>
          <a:xfrm>
            <a:off x="621432" y="943575"/>
            <a:ext cx="10778789" cy="920124"/>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9</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调制</a:t>
            </a:r>
            <a:endParaRPr lang="en-US" altLang="zh-CN" sz="2000" b="1" dirty="0">
              <a:latin typeface="+mn-ea"/>
              <a:cs typeface="Times New Roman" panose="02020603050405020304" pitchFamily="18" charset="0"/>
            </a:endParaRPr>
          </a:p>
          <a:p>
            <a:pPr>
              <a:lnSpc>
                <a:spcPct val="150000"/>
              </a:lnSpc>
            </a:pPr>
            <a:r>
              <a:rPr lang="zh-CN" altLang="en-US" dirty="0"/>
              <a:t>    </a:t>
            </a:r>
            <a:r>
              <a:rPr lang="zh-CN" altLang="zh-CN" dirty="0"/>
              <a:t>在</a:t>
            </a:r>
            <a:r>
              <a:rPr lang="en-GB" altLang="zh-CN" dirty="0"/>
              <a:t>3GPP 36.211</a:t>
            </a:r>
            <a:r>
              <a:rPr lang="zh-CN" altLang="zh-CN" dirty="0"/>
              <a:t>的</a:t>
            </a:r>
            <a:r>
              <a:rPr lang="en-GB" altLang="zh-CN" dirty="0"/>
              <a:t>7.1.3</a:t>
            </a:r>
            <a:r>
              <a:rPr lang="zh-CN" altLang="zh-CN" dirty="0"/>
              <a:t>节中说明了</a:t>
            </a:r>
            <a:r>
              <a:rPr lang="en-GB" altLang="zh-CN" dirty="0"/>
              <a:t>16QAM</a:t>
            </a:r>
            <a:r>
              <a:rPr lang="zh-CN" altLang="zh-CN" dirty="0"/>
              <a:t>的调制算法</a:t>
            </a:r>
            <a:r>
              <a:rPr lang="zh-CN" altLang="en-US" dirty="0"/>
              <a:t>：</a:t>
            </a:r>
            <a:endParaRPr lang="en-US" altLang="zh-CN" dirty="0"/>
          </a:p>
        </p:txBody>
      </p:sp>
      <p:pic>
        <p:nvPicPr>
          <p:cNvPr id="8" name="Picture 15" descr="易思达白字 png">
            <a:extLst>
              <a:ext uri="{FF2B5EF4-FFF2-40B4-BE49-F238E27FC236}">
                <a16:creationId xmlns:a16="http://schemas.microsoft.com/office/drawing/2014/main" id="{87E9561A-4A63-437F-4B44-D75313D6B462}"/>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847601A1-B240-BEDE-A0CE-827410E1998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441124AF-9ED1-3423-3641-BF0A1F2834D4}"/>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0120E225-9B15-8EEB-C61A-E8FB222BE020}"/>
              </a:ext>
            </a:extLst>
          </p:cNvPr>
          <p:cNvPicPr>
            <a:picLocks noChangeAspect="1"/>
          </p:cNvPicPr>
          <p:nvPr/>
        </p:nvPicPr>
        <p:blipFill>
          <a:blip r:embed="rId6"/>
          <a:stretch>
            <a:fillRect/>
          </a:stretch>
        </p:blipFill>
        <p:spPr>
          <a:xfrm>
            <a:off x="2391778" y="1958203"/>
            <a:ext cx="7238095" cy="4200000"/>
          </a:xfrm>
          <a:prstGeom prst="rect">
            <a:avLst/>
          </a:prstGeom>
        </p:spPr>
      </p:pic>
    </p:spTree>
    <p:extLst>
      <p:ext uri="{BB962C8B-B14F-4D97-AF65-F5344CB8AC3E}">
        <p14:creationId xmlns:p14="http://schemas.microsoft.com/office/powerpoint/2010/main" val="104481603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A39AB-389B-0F67-AB70-7C2C7242DE52}"/>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C81DCB5-C468-95CA-A11B-4162BFC380E7}"/>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FD7AB85C-B52F-DA54-2153-EC34D41B825A}"/>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9ABEDD8-74BB-A4FB-9DCF-7C3F89858C48}"/>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9F83CB1-2D49-65E1-F0DE-2BEA9F7D888E}"/>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40BDC9FD-36C7-286A-DD1A-AE85DD472A77}"/>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B7C59944-B47C-5A53-9497-900CD9C44A38}"/>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E82812F4-B48D-9FD7-7252-4B13B4E1355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A6FA37F3-A323-9C4B-8285-8411F0FE8DCE}"/>
              </a:ext>
            </a:extLst>
          </p:cNvPr>
          <p:cNvSpPr txBox="1"/>
          <p:nvPr/>
        </p:nvSpPr>
        <p:spPr>
          <a:xfrm>
            <a:off x="621432" y="943575"/>
            <a:ext cx="10778789" cy="920124"/>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9</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调制</a:t>
            </a:r>
            <a:endParaRPr lang="en-US" altLang="zh-CN" sz="2000" b="1" dirty="0">
              <a:latin typeface="+mn-ea"/>
              <a:cs typeface="Times New Roman" panose="02020603050405020304" pitchFamily="18" charset="0"/>
            </a:endParaRPr>
          </a:p>
          <a:p>
            <a:pPr>
              <a:lnSpc>
                <a:spcPct val="150000"/>
              </a:lnSpc>
            </a:pPr>
            <a:r>
              <a:rPr lang="zh-CN" altLang="en-US" dirty="0"/>
              <a:t>    在</a:t>
            </a:r>
            <a:r>
              <a:rPr lang="en-US" altLang="zh-CN" dirty="0"/>
              <a:t>3GPP 36.211</a:t>
            </a:r>
            <a:r>
              <a:rPr lang="zh-CN" altLang="en-US" dirty="0"/>
              <a:t>的</a:t>
            </a:r>
            <a:r>
              <a:rPr lang="en-US" altLang="zh-CN" dirty="0"/>
              <a:t>7.1.4</a:t>
            </a:r>
            <a:r>
              <a:rPr lang="zh-CN" altLang="en-US" dirty="0"/>
              <a:t>节中说明了</a:t>
            </a:r>
            <a:r>
              <a:rPr lang="en-US" altLang="zh-CN" dirty="0"/>
              <a:t>64QAM</a:t>
            </a:r>
            <a:r>
              <a:rPr lang="zh-CN" altLang="en-US" dirty="0"/>
              <a:t>的调制算法：</a:t>
            </a:r>
            <a:endParaRPr lang="en-US" altLang="zh-CN" dirty="0"/>
          </a:p>
        </p:txBody>
      </p:sp>
      <p:pic>
        <p:nvPicPr>
          <p:cNvPr id="8" name="Picture 15" descr="易思达白字 png">
            <a:extLst>
              <a:ext uri="{FF2B5EF4-FFF2-40B4-BE49-F238E27FC236}">
                <a16:creationId xmlns:a16="http://schemas.microsoft.com/office/drawing/2014/main" id="{54E62A2C-2742-6335-937A-AC23C24C0F93}"/>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96B6296C-9204-40B4-D6A4-29A10A77C849}"/>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5DB22EED-1165-5943-3BAB-350906BD2867}"/>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90DAA5D2-076A-5E54-45DC-DB8F0CB429D8}"/>
              </a:ext>
            </a:extLst>
          </p:cNvPr>
          <p:cNvPicPr>
            <a:picLocks noChangeAspect="1"/>
          </p:cNvPicPr>
          <p:nvPr/>
        </p:nvPicPr>
        <p:blipFill>
          <a:blip r:embed="rId6"/>
          <a:stretch>
            <a:fillRect/>
          </a:stretch>
        </p:blipFill>
        <p:spPr>
          <a:xfrm>
            <a:off x="17714" y="1986085"/>
            <a:ext cx="5993112" cy="3493354"/>
          </a:xfrm>
          <a:prstGeom prst="rect">
            <a:avLst/>
          </a:prstGeom>
        </p:spPr>
      </p:pic>
      <p:pic>
        <p:nvPicPr>
          <p:cNvPr id="11" name="图片 10">
            <a:extLst>
              <a:ext uri="{FF2B5EF4-FFF2-40B4-BE49-F238E27FC236}">
                <a16:creationId xmlns:a16="http://schemas.microsoft.com/office/drawing/2014/main" id="{54E5079E-2E23-77CF-6B4A-950ACCF39BAB}"/>
              </a:ext>
            </a:extLst>
          </p:cNvPr>
          <p:cNvPicPr>
            <a:picLocks noChangeAspect="1"/>
          </p:cNvPicPr>
          <p:nvPr/>
        </p:nvPicPr>
        <p:blipFill>
          <a:blip r:embed="rId7"/>
          <a:stretch>
            <a:fillRect/>
          </a:stretch>
        </p:blipFill>
        <p:spPr>
          <a:xfrm>
            <a:off x="6010826" y="1953612"/>
            <a:ext cx="6122584" cy="3592990"/>
          </a:xfrm>
          <a:prstGeom prst="rect">
            <a:avLst/>
          </a:prstGeom>
        </p:spPr>
      </p:pic>
    </p:spTree>
    <p:extLst>
      <p:ext uri="{BB962C8B-B14F-4D97-AF65-F5344CB8AC3E}">
        <p14:creationId xmlns:p14="http://schemas.microsoft.com/office/powerpoint/2010/main" val="7624203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24E6-104A-0FF9-3E24-136093C2DEAC}"/>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6DDCA527-2D07-5988-2BFC-D073F4C2DF9E}"/>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4D345C84-AC62-D603-DF06-64493F8D3B33}"/>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DF51717-FBF7-7928-43AB-8CA85194BBF8}"/>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B95E767-A40C-5080-A7AF-62C2F0DA3585}"/>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4FD47E7A-72AC-95A2-2DE4-8121BEBB7A04}"/>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69FB148D-238C-31AC-7433-9DB6E34726E9}"/>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D5F413D5-E72D-D90B-C0D0-E840899AD0C3}"/>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D28E3D4-8CA6-C49E-DDE5-A76399C4D79B}"/>
              </a:ext>
            </a:extLst>
          </p:cNvPr>
          <p:cNvSpPr txBox="1"/>
          <p:nvPr/>
        </p:nvSpPr>
        <p:spPr>
          <a:xfrm>
            <a:off x="621432" y="943575"/>
            <a:ext cx="10778789" cy="4242187"/>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10</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产生导频数据</a:t>
            </a:r>
            <a:endParaRPr lang="en-US" altLang="zh-CN" sz="2000" b="1" dirty="0">
              <a:latin typeface="+mn-ea"/>
              <a:cs typeface="Times New Roman" panose="02020603050405020304" pitchFamily="18" charset="0"/>
            </a:endParaRPr>
          </a:p>
          <a:p>
            <a:pPr>
              <a:lnSpc>
                <a:spcPct val="150000"/>
              </a:lnSpc>
            </a:pPr>
            <a:r>
              <a:rPr lang="en-US" altLang="zh-CN" dirty="0"/>
              <a:t>    </a:t>
            </a:r>
            <a:r>
              <a:rPr lang="zh-CN" altLang="zh-CN" dirty="0"/>
              <a:t>生成导频是指生成小区专用导频</a:t>
            </a:r>
            <a:endParaRPr lang="en-US" altLang="zh-CN" dirty="0"/>
          </a:p>
          <a:p>
            <a:pPr>
              <a:lnSpc>
                <a:spcPct val="150000"/>
              </a:lnSpc>
            </a:pPr>
            <a:r>
              <a:rPr lang="en-US" altLang="zh-CN" b="1" dirty="0"/>
              <a:t>    </a:t>
            </a:r>
            <a:r>
              <a:rPr lang="zh-CN" altLang="en-US" b="1" dirty="0"/>
              <a:t>小区专用导频</a:t>
            </a:r>
            <a:r>
              <a:rPr lang="zh-CN" altLang="en-US" dirty="0"/>
              <a:t>：这是核心下行导频，用于普通数据和控制信道的解调。其基序列设计与小区 </a:t>
            </a:r>
            <a:r>
              <a:rPr lang="en-US" altLang="zh-CN" dirty="0"/>
              <a:t>ID </a:t>
            </a:r>
            <a:r>
              <a:rPr lang="zh-CN" altLang="en-US" dirty="0"/>
              <a:t>强相关，基站会依据自身小区 </a:t>
            </a:r>
            <a:r>
              <a:rPr lang="en-US" altLang="zh-CN" dirty="0"/>
              <a:t>ID </a:t>
            </a:r>
            <a:r>
              <a:rPr lang="zh-CN" altLang="en-US" dirty="0"/>
              <a:t>从预定义的序列集中选取对应的基序列。在资源映射上，频域每 </a:t>
            </a:r>
            <a:r>
              <a:rPr lang="en-US" altLang="zh-CN" dirty="0"/>
              <a:t>6 </a:t>
            </a:r>
            <a:r>
              <a:rPr lang="zh-CN" altLang="en-US" dirty="0"/>
              <a:t>个子载波间隔插入一个导频，时域在每个时隙的特定 </a:t>
            </a:r>
            <a:r>
              <a:rPr lang="en-US" altLang="zh-CN" dirty="0"/>
              <a:t>OFDM </a:t>
            </a:r>
            <a:r>
              <a:rPr lang="zh-CN" altLang="en-US" dirty="0"/>
              <a:t>符号位置（如常规 </a:t>
            </a:r>
            <a:r>
              <a:rPr lang="en-US" altLang="zh-CN" dirty="0"/>
              <a:t>CP </a:t>
            </a:r>
            <a:r>
              <a:rPr lang="zh-CN" altLang="en-US" dirty="0"/>
              <a:t>下时隙的第一个和倒数第三个符号）放置导频，生成的导频数据与业务数据时分复用在同一子帧中传输</a:t>
            </a:r>
            <a:endParaRPr lang="en-US" altLang="zh-CN" dirty="0"/>
          </a:p>
          <a:p>
            <a:pPr>
              <a:lnSpc>
                <a:spcPct val="150000"/>
              </a:lnSpc>
            </a:pPr>
            <a:r>
              <a:rPr lang="zh-CN" altLang="en-US" dirty="0"/>
              <a:t>    本</a:t>
            </a:r>
            <a:r>
              <a:rPr lang="zh-CN" altLang="zh-CN" dirty="0"/>
              <a:t>系统中每帧中第</a:t>
            </a:r>
            <a:r>
              <a:rPr lang="en-US" altLang="zh-CN" dirty="0"/>
              <a:t>3</a:t>
            </a:r>
            <a:r>
              <a:rPr lang="zh-CN" altLang="zh-CN" dirty="0"/>
              <a:t>个和第</a:t>
            </a:r>
            <a:r>
              <a:rPr lang="en-US" altLang="zh-CN" dirty="0"/>
              <a:t>10</a:t>
            </a:r>
            <a:r>
              <a:rPr lang="zh-CN" altLang="zh-CN" dirty="0"/>
              <a:t>个符号是导频符号</a:t>
            </a:r>
            <a:r>
              <a:rPr lang="zh-CN" altLang="en-US" dirty="0"/>
              <a:t>，</a:t>
            </a:r>
            <a:r>
              <a:rPr lang="zh-CN" altLang="zh-CN" dirty="0"/>
              <a:t>用于信道估计</a:t>
            </a:r>
            <a:endParaRPr lang="en-US" altLang="zh-CN" dirty="0"/>
          </a:p>
          <a:p>
            <a:pPr>
              <a:lnSpc>
                <a:spcPct val="150000"/>
              </a:lnSpc>
            </a:pPr>
            <a:r>
              <a:rPr lang="en-US" altLang="zh-CN" dirty="0"/>
              <a:t>    </a:t>
            </a:r>
            <a:r>
              <a:rPr lang="zh-CN" altLang="zh-CN" dirty="0"/>
              <a:t>计算导频数据首先是确定组号</a:t>
            </a:r>
            <a:r>
              <a:rPr lang="en-US" altLang="zh-CN" dirty="0"/>
              <a:t>u</a:t>
            </a:r>
            <a:r>
              <a:rPr lang="zh-CN" altLang="zh-CN" dirty="0"/>
              <a:t>的具体取值，再就是确定组内序列号</a:t>
            </a:r>
            <a:r>
              <a:rPr lang="en-US" altLang="zh-CN" dirty="0"/>
              <a:t>v</a:t>
            </a:r>
            <a:r>
              <a:rPr lang="zh-CN" altLang="zh-CN" dirty="0"/>
              <a:t>的具体取值（</a:t>
            </a:r>
            <a:r>
              <a:rPr lang="en-US" altLang="zh-CN" dirty="0"/>
              <a:t>u</a:t>
            </a:r>
            <a:r>
              <a:rPr lang="zh-CN" altLang="zh-CN" dirty="0"/>
              <a:t>和</a:t>
            </a:r>
            <a:r>
              <a:rPr lang="en-US" altLang="zh-CN" dirty="0"/>
              <a:t>v</a:t>
            </a:r>
            <a:r>
              <a:rPr lang="zh-CN" altLang="zh-CN" dirty="0"/>
              <a:t>随着时间变化，即序列组跳转和序列跳转）</a:t>
            </a:r>
            <a:endParaRPr lang="en-US" altLang="zh-CN" dirty="0"/>
          </a:p>
          <a:p>
            <a:pPr>
              <a:lnSpc>
                <a:spcPct val="150000"/>
              </a:lnSpc>
            </a:pPr>
            <a:r>
              <a:rPr lang="en-US" altLang="zh-CN" dirty="0"/>
              <a:t>    </a:t>
            </a:r>
          </a:p>
        </p:txBody>
      </p:sp>
      <p:pic>
        <p:nvPicPr>
          <p:cNvPr id="8" name="Picture 15" descr="易思达白字 png">
            <a:extLst>
              <a:ext uri="{FF2B5EF4-FFF2-40B4-BE49-F238E27FC236}">
                <a16:creationId xmlns:a16="http://schemas.microsoft.com/office/drawing/2014/main" id="{858B880D-BC49-A002-ABCA-B56C50609CC3}"/>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FC43D0F5-4275-3F31-7D4B-36A8DCDDE290}"/>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C0FFB0E4-6BF7-3912-2A53-8748DE43A876}"/>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7096904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43594-2AD8-7A92-B0F0-258586459E56}"/>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0711145E-A646-6B3F-5154-31E1035C7A5C}"/>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23E5D4ED-18F1-EA20-E4D7-7E4D543D127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0D87BAC-A257-D0E3-594B-CB0B1B301277}"/>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CFDA75F6-B6F0-CDFD-11A9-4259087EB91B}"/>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FFC1BFB3-4D1F-2D77-CEA6-909CD1E23EED}"/>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308BED47-5E65-2BD4-702A-A421BEC1053A}"/>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9EC7058C-CAB3-1DED-3166-68E8BDBDF4CF}"/>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EAF8F07D-1563-57B1-7662-3B38295763F1}"/>
              </a:ext>
            </a:extLst>
          </p:cNvPr>
          <p:cNvSpPr txBox="1"/>
          <p:nvPr/>
        </p:nvSpPr>
        <p:spPr>
          <a:xfrm>
            <a:off x="621432" y="943575"/>
            <a:ext cx="10778789" cy="1333698"/>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10</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产生导频数据</a:t>
            </a:r>
            <a:r>
              <a:rPr lang="en-US" altLang="zh-CN" sz="2000" b="1" dirty="0">
                <a:latin typeface="+mn-ea"/>
                <a:cs typeface="Times New Roman" panose="02020603050405020304" pitchFamily="18" charset="0"/>
              </a:rPr>
              <a:t>——</a:t>
            </a:r>
            <a:r>
              <a:rPr lang="zh-CN" altLang="en-US" b="1" dirty="0">
                <a:solidFill>
                  <a:srgbClr val="005D96"/>
                </a:solidFill>
              </a:rPr>
              <a:t>导频生成流程</a:t>
            </a:r>
            <a:endParaRPr lang="en-US" altLang="zh-CN" b="1" dirty="0">
              <a:solidFill>
                <a:srgbClr val="005D96"/>
              </a:solidFill>
            </a:endParaRPr>
          </a:p>
          <a:p>
            <a:pPr>
              <a:lnSpc>
                <a:spcPct val="150000"/>
              </a:lnSpc>
            </a:pPr>
            <a:endParaRPr lang="en-US" altLang="zh-CN" dirty="0"/>
          </a:p>
          <a:p>
            <a:pPr>
              <a:lnSpc>
                <a:spcPct val="150000"/>
              </a:lnSpc>
            </a:pPr>
            <a:r>
              <a:rPr lang="en-US" altLang="zh-CN" b="1" dirty="0"/>
              <a:t>    </a:t>
            </a:r>
            <a:r>
              <a:rPr lang="en-US" altLang="zh-CN" dirty="0"/>
              <a:t>    </a:t>
            </a:r>
          </a:p>
        </p:txBody>
      </p:sp>
      <p:pic>
        <p:nvPicPr>
          <p:cNvPr id="8" name="Picture 15" descr="易思达白字 png">
            <a:extLst>
              <a:ext uri="{FF2B5EF4-FFF2-40B4-BE49-F238E27FC236}">
                <a16:creationId xmlns:a16="http://schemas.microsoft.com/office/drawing/2014/main" id="{A6243C50-7CAA-84A2-6F45-3BB75A7116F3}"/>
              </a:ext>
            </a:extLst>
          </p:cNvPr>
          <p:cNvPicPr>
            <a:picLocks noChangeAspect="1" noChangeArrowheads="1"/>
          </p:cNvPicPr>
          <p:nvPr/>
        </p:nvPicPr>
        <p:blipFill>
          <a:blip r:embed="rId12">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D5413A06-FA77-32CB-AC44-7B43C4A50AEC}"/>
              </a:ext>
            </a:extLst>
          </p:cNvPr>
          <p:cNvPicPr>
            <a:picLocks noChangeAspect="1"/>
          </p:cNvPicPr>
          <p:nvPr/>
        </p:nvPicPr>
        <p:blipFill>
          <a:blip r:embed="rId13"/>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F66CA7CB-EDE3-0709-565B-FF8470EDA959}"/>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标题 1">
            <a:extLst>
              <a:ext uri="{FF2B5EF4-FFF2-40B4-BE49-F238E27FC236}">
                <a16:creationId xmlns:a16="http://schemas.microsoft.com/office/drawing/2014/main" id="{46894281-E434-97D7-B1D2-10BC83E937D4}"/>
              </a:ext>
            </a:extLst>
          </p:cNvPr>
          <p:cNvSpPr txBox="1"/>
          <p:nvPr>
            <p:custDataLst>
              <p:tags r:id="rId2"/>
            </p:custDataLst>
          </p:nvPr>
        </p:nvSpPr>
        <p:spPr>
          <a:xfrm>
            <a:off x="298450" y="1768475"/>
            <a:ext cx="3021330" cy="4213225"/>
          </a:xfrm>
          <a:prstGeom prst="flowChartOffpageConnector">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6" name="标题 1">
            <a:extLst>
              <a:ext uri="{FF2B5EF4-FFF2-40B4-BE49-F238E27FC236}">
                <a16:creationId xmlns:a16="http://schemas.microsoft.com/office/drawing/2014/main" id="{651F694D-7E5B-9917-83B9-5FDAB7FC71B3}"/>
              </a:ext>
            </a:extLst>
          </p:cNvPr>
          <p:cNvSpPr txBox="1"/>
          <p:nvPr>
            <p:custDataLst>
              <p:tags r:id="rId3"/>
            </p:custDataLst>
          </p:nvPr>
        </p:nvSpPr>
        <p:spPr>
          <a:xfrm>
            <a:off x="3491865" y="1731645"/>
            <a:ext cx="2623185" cy="3999230"/>
          </a:xfrm>
          <a:prstGeom prst="flowChartOffpageConnector">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1" name="标题 1">
            <a:extLst>
              <a:ext uri="{FF2B5EF4-FFF2-40B4-BE49-F238E27FC236}">
                <a16:creationId xmlns:a16="http://schemas.microsoft.com/office/drawing/2014/main" id="{A191E338-6FF0-86A8-3F2A-5B8BAFB370AE}"/>
              </a:ext>
            </a:extLst>
          </p:cNvPr>
          <p:cNvSpPr txBox="1"/>
          <p:nvPr>
            <p:custDataLst>
              <p:tags r:id="rId4"/>
            </p:custDataLst>
          </p:nvPr>
        </p:nvSpPr>
        <p:spPr>
          <a:xfrm>
            <a:off x="6287770" y="1731645"/>
            <a:ext cx="2762885" cy="4113530"/>
          </a:xfrm>
          <a:prstGeom prst="flowChartOffpageConnector">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2" name="标题 1">
            <a:extLst>
              <a:ext uri="{FF2B5EF4-FFF2-40B4-BE49-F238E27FC236}">
                <a16:creationId xmlns:a16="http://schemas.microsoft.com/office/drawing/2014/main" id="{F007E67C-8483-74D9-A048-74461A4750AE}"/>
              </a:ext>
            </a:extLst>
          </p:cNvPr>
          <p:cNvSpPr txBox="1"/>
          <p:nvPr>
            <p:custDataLst>
              <p:tags r:id="rId5"/>
            </p:custDataLst>
          </p:nvPr>
        </p:nvSpPr>
        <p:spPr>
          <a:xfrm>
            <a:off x="9229090" y="1768475"/>
            <a:ext cx="2638425" cy="4113530"/>
          </a:xfrm>
          <a:prstGeom prst="flowChartOffpageConnector">
            <a:avLst/>
          </a:prstGeom>
          <a:solidFill>
            <a:schemeClr val="bg1">
              <a:lumMod val="95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7" name="标题 1">
            <a:extLst>
              <a:ext uri="{FF2B5EF4-FFF2-40B4-BE49-F238E27FC236}">
                <a16:creationId xmlns:a16="http://schemas.microsoft.com/office/drawing/2014/main" id="{B67B65E3-BD0F-7BF0-599B-C32148757726}"/>
              </a:ext>
            </a:extLst>
          </p:cNvPr>
          <p:cNvSpPr txBox="1"/>
          <p:nvPr>
            <p:custDataLst>
              <p:tags r:id="rId6"/>
            </p:custDataLst>
          </p:nvPr>
        </p:nvSpPr>
        <p:spPr>
          <a:xfrm>
            <a:off x="636164" y="1938438"/>
            <a:ext cx="2534920" cy="3259455"/>
          </a:xfrm>
          <a:prstGeom prst="rect">
            <a:avLst/>
          </a:prstGeom>
          <a:noFill/>
          <a:ln>
            <a:noFill/>
          </a:ln>
        </p:spPr>
        <p:txBody>
          <a:bodyPr vert="horz" wrap="square" lIns="0" tIns="0" rIns="0" bIns="0" rtlCol="0" anchor="ctr"/>
          <a:lstStyle/>
          <a:p>
            <a:pPr algn="l" latinLnBrk="1">
              <a:lnSpc>
                <a:spcPct val="150000"/>
              </a:lnSpc>
              <a:buClrTx/>
              <a:buSzTx/>
              <a:buFontTx/>
            </a:pPr>
            <a:r>
              <a:rPr kumimoji="1" lang="zh-CN" altLang="en-US" sz="1600" b="1" dirty="0">
                <a:latin typeface="+mj-ea"/>
                <a:ea typeface="+mj-ea"/>
              </a:rPr>
              <a:t>输入：</a:t>
            </a:r>
            <a:r>
              <a:rPr kumimoji="1" lang="en-US" altLang="zh-CN" sz="1600" dirty="0" err="1">
                <a:latin typeface="+mj-ea"/>
                <a:ea typeface="+mj-ea"/>
              </a:rPr>
              <a:t>rbnum</a:t>
            </a:r>
            <a:r>
              <a:rPr kumimoji="1" lang="zh-CN" altLang="en-US" sz="1600" dirty="0">
                <a:latin typeface="+mj-ea"/>
                <a:ea typeface="+mj-ea"/>
              </a:rPr>
              <a:t>、</a:t>
            </a:r>
            <a:r>
              <a:rPr kumimoji="1" lang="en-US" altLang="zh-CN" sz="1600" dirty="0" err="1">
                <a:latin typeface="+mj-ea"/>
                <a:ea typeface="+mj-ea"/>
              </a:rPr>
              <a:t>cellid</a:t>
            </a:r>
            <a:r>
              <a:rPr kumimoji="1" lang="zh-CN" altLang="en-US" sz="1600" dirty="0">
                <a:latin typeface="+mj-ea"/>
                <a:ea typeface="+mj-ea"/>
              </a:rPr>
              <a:t>、</a:t>
            </a:r>
            <a:r>
              <a:rPr kumimoji="1" lang="en-US" altLang="zh-CN" sz="1600" dirty="0" err="1">
                <a:latin typeface="+mj-ea"/>
                <a:ea typeface="+mj-ea"/>
              </a:rPr>
              <a:t>slotno</a:t>
            </a:r>
            <a:r>
              <a:rPr kumimoji="1" lang="zh-CN" altLang="en-US" sz="1600" dirty="0">
                <a:latin typeface="+mj-ea"/>
                <a:ea typeface="+mj-ea"/>
              </a:rPr>
              <a:t>、</a:t>
            </a:r>
            <a:r>
              <a:rPr kumimoji="1" lang="en-US" altLang="zh-CN" sz="1600" dirty="0" err="1">
                <a:latin typeface="+mj-ea"/>
                <a:ea typeface="+mj-ea"/>
              </a:rPr>
              <a:t>group_hop_flag</a:t>
            </a:r>
            <a:r>
              <a:rPr kumimoji="1" lang="en-US" altLang="zh-CN" sz="1600" dirty="0">
                <a:latin typeface="+mj-ea"/>
                <a:ea typeface="+mj-ea"/>
              </a:rPr>
              <a:t> / </a:t>
            </a:r>
            <a:r>
              <a:rPr kumimoji="1" lang="en-US" altLang="zh-CN" sz="1600" dirty="0" err="1">
                <a:latin typeface="+mj-ea"/>
                <a:ea typeface="+mj-ea"/>
              </a:rPr>
              <a:t>seq_hop_flag</a:t>
            </a:r>
            <a:r>
              <a:rPr kumimoji="1" lang="zh-CN" altLang="en-US" sz="1600" dirty="0">
                <a:latin typeface="+mj-ea"/>
                <a:ea typeface="+mj-ea"/>
              </a:rPr>
              <a:t>（组跳频</a:t>
            </a:r>
            <a:r>
              <a:rPr kumimoji="1" lang="en-US" altLang="zh-CN" sz="1600" dirty="0">
                <a:latin typeface="+mj-ea"/>
                <a:ea typeface="+mj-ea"/>
              </a:rPr>
              <a:t> / </a:t>
            </a:r>
            <a:r>
              <a:rPr kumimoji="1" lang="zh-CN" altLang="en-US" sz="1600" dirty="0">
                <a:latin typeface="+mj-ea"/>
                <a:ea typeface="+mj-ea"/>
              </a:rPr>
              <a:t>序列跳频使能）、</a:t>
            </a:r>
            <a:r>
              <a:rPr kumimoji="1" lang="en-US" altLang="zh-CN" sz="1600" dirty="0" err="1">
                <a:latin typeface="+mj-ea"/>
                <a:ea typeface="+mj-ea"/>
              </a:rPr>
              <a:t>deltass</a:t>
            </a:r>
            <a:r>
              <a:rPr kumimoji="1" lang="zh-CN" altLang="en-US" sz="1600" dirty="0">
                <a:latin typeface="+mj-ea"/>
                <a:ea typeface="+mj-ea"/>
              </a:rPr>
              <a:t>、</a:t>
            </a:r>
            <a:r>
              <a:rPr kumimoji="1" lang="en-US" altLang="zh-CN" sz="1600" dirty="0">
                <a:latin typeface="+mj-ea"/>
                <a:ea typeface="+mj-ea"/>
              </a:rPr>
              <a:t>ndmrs1</a:t>
            </a:r>
            <a:r>
              <a:rPr kumimoji="1" lang="zh-CN" altLang="en-US" sz="1600" dirty="0">
                <a:latin typeface="+mj-ea"/>
                <a:ea typeface="+mj-ea"/>
              </a:rPr>
              <a:t>、</a:t>
            </a:r>
            <a:r>
              <a:rPr kumimoji="1" lang="en-US" altLang="zh-CN" sz="1600" dirty="0" err="1">
                <a:latin typeface="+mj-ea"/>
                <a:ea typeface="+mj-ea"/>
              </a:rPr>
              <a:t>cyc_shift</a:t>
            </a:r>
            <a:r>
              <a:rPr kumimoji="1" lang="zh-CN" altLang="en-US" sz="1600" dirty="0">
                <a:latin typeface="+mj-ea"/>
                <a:ea typeface="+mj-ea"/>
              </a:rPr>
              <a:t>（</a:t>
            </a:r>
            <a:r>
              <a:rPr kumimoji="1" lang="en-US" altLang="zh-CN" sz="1600" dirty="0">
                <a:latin typeface="+mj-ea"/>
                <a:ea typeface="+mj-ea"/>
              </a:rPr>
              <a:t>DM-RS </a:t>
            </a:r>
            <a:r>
              <a:rPr kumimoji="1" lang="zh-CN" altLang="en-US" sz="1600" dirty="0">
                <a:latin typeface="+mj-ea"/>
                <a:ea typeface="+mj-ea"/>
              </a:rPr>
              <a:t>配置相关参数）</a:t>
            </a:r>
            <a:endParaRPr kumimoji="1" lang="en-US" altLang="zh-CN" sz="1600" dirty="0">
              <a:latin typeface="+mj-ea"/>
              <a:ea typeface="+mj-ea"/>
            </a:endParaRPr>
          </a:p>
          <a:p>
            <a:pPr algn="l" latinLnBrk="1">
              <a:lnSpc>
                <a:spcPct val="150000"/>
              </a:lnSpc>
              <a:buClrTx/>
              <a:buSzTx/>
              <a:buFontTx/>
            </a:pPr>
            <a:r>
              <a:rPr kumimoji="1" lang="zh-CN" altLang="en-US" sz="1600" b="1" dirty="0">
                <a:latin typeface="+mj-ea"/>
                <a:ea typeface="+mj-ea"/>
              </a:rPr>
              <a:t>输出：</a:t>
            </a:r>
            <a:r>
              <a:rPr kumimoji="1" lang="en-US" altLang="zh-CN" sz="1600" dirty="0" err="1">
                <a:latin typeface="+mj-ea"/>
                <a:ea typeface="+mj-ea"/>
              </a:rPr>
              <a:t>basic_out</a:t>
            </a:r>
            <a:r>
              <a:rPr kumimoji="1" lang="zh-CN" altLang="en-US" sz="1600" dirty="0">
                <a:latin typeface="+mj-ea"/>
                <a:ea typeface="+mj-ea"/>
              </a:rPr>
              <a:t>（基础导频序列）、</a:t>
            </a:r>
            <a:r>
              <a:rPr kumimoji="1" lang="en-US" altLang="zh-CN" sz="1600" dirty="0">
                <a:latin typeface="+mj-ea"/>
                <a:ea typeface="+mj-ea"/>
              </a:rPr>
              <a:t>out</a:t>
            </a:r>
            <a:r>
              <a:rPr kumimoji="1" lang="zh-CN" altLang="en-US" sz="1600" dirty="0">
                <a:latin typeface="+mj-ea"/>
                <a:ea typeface="+mj-ea"/>
              </a:rPr>
              <a:t>（加入循环移相后的最终导频序列）</a:t>
            </a:r>
          </a:p>
        </p:txBody>
      </p:sp>
      <p:sp>
        <p:nvSpPr>
          <p:cNvPr id="18" name="标题 1">
            <a:extLst>
              <a:ext uri="{FF2B5EF4-FFF2-40B4-BE49-F238E27FC236}">
                <a16:creationId xmlns:a16="http://schemas.microsoft.com/office/drawing/2014/main" id="{333864BD-0BFD-1D97-FB29-11BB9347650D}"/>
              </a:ext>
            </a:extLst>
          </p:cNvPr>
          <p:cNvSpPr txBox="1"/>
          <p:nvPr>
            <p:custDataLst>
              <p:tags r:id="rId7"/>
            </p:custDataLst>
          </p:nvPr>
        </p:nvSpPr>
        <p:spPr>
          <a:xfrm>
            <a:off x="3610480" y="1815146"/>
            <a:ext cx="2534920" cy="3245469"/>
          </a:xfrm>
          <a:prstGeom prst="rect">
            <a:avLst/>
          </a:prstGeom>
          <a:noFill/>
          <a:ln>
            <a:noFill/>
          </a:ln>
        </p:spPr>
        <p:txBody>
          <a:bodyPr vert="horz" wrap="square" lIns="0" tIns="0" rIns="0" bIns="0" rtlCol="0" anchor="ctr"/>
          <a:lstStyle/>
          <a:p>
            <a:pPr algn="l">
              <a:lnSpc>
                <a:spcPct val="150000"/>
              </a:lnSpc>
              <a:buClrTx/>
              <a:buSzTx/>
              <a:buFontTx/>
            </a:pPr>
            <a:r>
              <a:rPr kumimoji="1" lang="zh-CN" altLang="en-US" sz="1600" dirty="0">
                <a:latin typeface="+mj-ea"/>
                <a:ea typeface="+mj-ea"/>
              </a:rPr>
              <a:t>根据</a:t>
            </a:r>
            <a:r>
              <a:rPr kumimoji="1" lang="en-US" altLang="zh-CN" sz="1600" dirty="0">
                <a:latin typeface="+mj-ea"/>
                <a:ea typeface="+mj-ea"/>
              </a:rPr>
              <a:t> </a:t>
            </a:r>
            <a:r>
              <a:rPr kumimoji="1" lang="en-US" altLang="zh-CN" sz="1600" dirty="0" err="1">
                <a:latin typeface="+mj-ea"/>
                <a:ea typeface="+mj-ea"/>
              </a:rPr>
              <a:t>cellid</a:t>
            </a:r>
            <a:r>
              <a:rPr kumimoji="1" lang="zh-CN" altLang="en-US" sz="1600" dirty="0">
                <a:latin typeface="+mj-ea"/>
                <a:ea typeface="+mj-ea"/>
              </a:rPr>
              <a:t>、</a:t>
            </a:r>
            <a:r>
              <a:rPr kumimoji="1" lang="en-US" altLang="zh-CN" sz="1600" dirty="0" err="1">
                <a:latin typeface="+mj-ea"/>
                <a:ea typeface="+mj-ea"/>
              </a:rPr>
              <a:t>slotno</a:t>
            </a:r>
            <a:r>
              <a:rPr kumimoji="1" lang="en-US" altLang="zh-CN" sz="1600" dirty="0">
                <a:latin typeface="+mj-ea"/>
                <a:ea typeface="+mj-ea"/>
              </a:rPr>
              <a:t> </a:t>
            </a:r>
            <a:r>
              <a:rPr kumimoji="1" lang="zh-CN" altLang="en-US" sz="1600" dirty="0">
                <a:latin typeface="+mj-ea"/>
                <a:ea typeface="+mj-ea"/>
              </a:rPr>
              <a:t>和伪随机序列：</a:t>
            </a:r>
            <a:endParaRPr kumimoji="1" lang="en-US" altLang="zh-CN" sz="1600" dirty="0">
              <a:latin typeface="+mj-ea"/>
              <a:ea typeface="+mj-ea"/>
            </a:endParaRPr>
          </a:p>
          <a:p>
            <a:pPr algn="l">
              <a:lnSpc>
                <a:spcPct val="150000"/>
              </a:lnSpc>
              <a:buClrTx/>
              <a:buSzTx/>
              <a:buFontTx/>
            </a:pPr>
            <a:r>
              <a:rPr kumimoji="1" lang="en-US" altLang="zh-CN" sz="1600" dirty="0">
                <a:latin typeface="+mj-ea"/>
                <a:ea typeface="+mj-ea"/>
              </a:rPr>
              <a:t>   </a:t>
            </a:r>
            <a:r>
              <a:rPr kumimoji="1" lang="en-US" altLang="zh-CN" sz="1600" b="1" dirty="0">
                <a:latin typeface="+mj-ea"/>
                <a:ea typeface="+mj-ea"/>
              </a:rPr>
              <a:t> </a:t>
            </a:r>
            <a:r>
              <a:rPr kumimoji="1" lang="zh-CN" altLang="en-US" sz="1600" b="1" dirty="0">
                <a:latin typeface="+mj-ea"/>
                <a:ea typeface="+mj-ea"/>
              </a:rPr>
              <a:t>计算组号</a:t>
            </a:r>
            <a:r>
              <a:rPr kumimoji="1" lang="en-US" altLang="zh-CN" sz="1600" b="1" dirty="0">
                <a:latin typeface="+mj-ea"/>
                <a:ea typeface="+mj-ea"/>
              </a:rPr>
              <a:t> u</a:t>
            </a:r>
            <a:r>
              <a:rPr kumimoji="1" lang="zh-CN" altLang="en-US" sz="1600" dirty="0">
                <a:latin typeface="+mj-ea"/>
                <a:ea typeface="+mj-ea"/>
              </a:rPr>
              <a:t>（受组跳频与</a:t>
            </a:r>
            <a:r>
              <a:rPr kumimoji="1" lang="en-US" altLang="zh-CN" sz="1600" dirty="0">
                <a:latin typeface="+mj-ea"/>
                <a:ea typeface="+mj-ea"/>
              </a:rPr>
              <a:t> </a:t>
            </a:r>
            <a:r>
              <a:rPr kumimoji="1" lang="en-US" altLang="zh-CN" sz="1600" dirty="0" err="1">
                <a:latin typeface="+mj-ea"/>
                <a:ea typeface="+mj-ea"/>
              </a:rPr>
              <a:t>deltass</a:t>
            </a:r>
            <a:r>
              <a:rPr kumimoji="1" lang="en-US" altLang="zh-CN" sz="1600" dirty="0">
                <a:latin typeface="+mj-ea"/>
                <a:ea typeface="+mj-ea"/>
              </a:rPr>
              <a:t> </a:t>
            </a:r>
            <a:r>
              <a:rPr kumimoji="1" lang="zh-CN" altLang="en-US" sz="1600" dirty="0">
                <a:latin typeface="+mj-ea"/>
                <a:ea typeface="+mj-ea"/>
              </a:rPr>
              <a:t>影响）；</a:t>
            </a:r>
            <a:endParaRPr kumimoji="1" lang="en-US" altLang="zh-CN" sz="1600" dirty="0">
              <a:latin typeface="+mj-ea"/>
              <a:ea typeface="+mj-ea"/>
            </a:endParaRPr>
          </a:p>
          <a:p>
            <a:pPr algn="l">
              <a:lnSpc>
                <a:spcPct val="150000"/>
              </a:lnSpc>
              <a:buClrTx/>
              <a:buSzTx/>
              <a:buFontTx/>
            </a:pPr>
            <a:r>
              <a:rPr kumimoji="1" lang="en-US" altLang="zh-CN" sz="1600" dirty="0">
                <a:latin typeface="+mj-ea"/>
                <a:ea typeface="+mj-ea"/>
              </a:rPr>
              <a:t>   </a:t>
            </a:r>
            <a:r>
              <a:rPr kumimoji="1" lang="en-US" altLang="zh-CN" sz="1600" b="1" dirty="0">
                <a:latin typeface="+mj-ea"/>
                <a:ea typeface="+mj-ea"/>
              </a:rPr>
              <a:t> </a:t>
            </a:r>
            <a:r>
              <a:rPr kumimoji="1" lang="zh-CN" altLang="en-US" sz="1600" b="1" dirty="0">
                <a:latin typeface="+mj-ea"/>
                <a:ea typeface="+mj-ea"/>
              </a:rPr>
              <a:t>计算序列索引</a:t>
            </a:r>
            <a:r>
              <a:rPr kumimoji="1" lang="en-US" altLang="zh-CN" sz="1600" b="1" dirty="0">
                <a:latin typeface="+mj-ea"/>
                <a:ea typeface="+mj-ea"/>
              </a:rPr>
              <a:t> v</a:t>
            </a:r>
            <a:r>
              <a:rPr kumimoji="1" lang="zh-CN" altLang="en-US" sz="1600" dirty="0">
                <a:latin typeface="+mj-ea"/>
                <a:ea typeface="+mj-ea"/>
              </a:rPr>
              <a:t>（在宽带且开启序列跳频时生效）；</a:t>
            </a:r>
            <a:endParaRPr kumimoji="1" lang="en-US" altLang="zh-CN" sz="1600" dirty="0">
              <a:latin typeface="+mj-ea"/>
              <a:ea typeface="+mj-ea"/>
            </a:endParaRPr>
          </a:p>
          <a:p>
            <a:pPr algn="l">
              <a:lnSpc>
                <a:spcPct val="150000"/>
              </a:lnSpc>
              <a:buClrTx/>
              <a:buSzTx/>
              <a:buFontTx/>
            </a:pPr>
            <a:r>
              <a:rPr kumimoji="1" lang="en-US" altLang="zh-CN" sz="1600" b="1" dirty="0">
                <a:latin typeface="+mj-ea"/>
                <a:ea typeface="+mj-ea"/>
              </a:rPr>
              <a:t>(</a:t>
            </a:r>
            <a:r>
              <a:rPr kumimoji="1" lang="en-US" altLang="zh-CN" sz="1600" b="1" dirty="0" err="1">
                <a:latin typeface="+mj-ea"/>
                <a:ea typeface="+mj-ea"/>
              </a:rPr>
              <a:t>u,v</a:t>
            </a:r>
            <a:r>
              <a:rPr kumimoji="1" lang="en-US" altLang="zh-CN" sz="1600" b="1" dirty="0">
                <a:latin typeface="+mj-ea"/>
                <a:ea typeface="+mj-ea"/>
              </a:rPr>
              <a:t>) </a:t>
            </a:r>
            <a:r>
              <a:rPr kumimoji="1" lang="zh-CN" altLang="en-US" sz="1600" b="1" dirty="0">
                <a:latin typeface="+mj-ea"/>
                <a:ea typeface="+mj-ea"/>
              </a:rPr>
              <a:t>共同决定使用哪一组根序列及其变体。</a:t>
            </a:r>
          </a:p>
        </p:txBody>
      </p:sp>
      <p:sp>
        <p:nvSpPr>
          <p:cNvPr id="22" name="标题 1">
            <a:extLst>
              <a:ext uri="{FF2B5EF4-FFF2-40B4-BE49-F238E27FC236}">
                <a16:creationId xmlns:a16="http://schemas.microsoft.com/office/drawing/2014/main" id="{7F6A4582-D493-5D16-6EA6-6CB0C593992B}"/>
              </a:ext>
            </a:extLst>
          </p:cNvPr>
          <p:cNvSpPr txBox="1"/>
          <p:nvPr>
            <p:custDataLst>
              <p:tags r:id="rId8"/>
            </p:custDataLst>
          </p:nvPr>
        </p:nvSpPr>
        <p:spPr>
          <a:xfrm>
            <a:off x="6318037" y="1768475"/>
            <a:ext cx="2821836" cy="3492283"/>
          </a:xfrm>
          <a:prstGeom prst="rect">
            <a:avLst/>
          </a:prstGeom>
          <a:noFill/>
          <a:ln>
            <a:noFill/>
          </a:ln>
        </p:spPr>
        <p:txBody>
          <a:bodyPr vert="horz" wrap="square" lIns="0" tIns="0" rIns="0" bIns="0" rtlCol="0" anchor="ctr"/>
          <a:lstStyle/>
          <a:p>
            <a:pPr algn="l" latinLnBrk="1">
              <a:lnSpc>
                <a:spcPct val="150000"/>
              </a:lnSpc>
              <a:buClrTx/>
              <a:buSzTx/>
              <a:buFontTx/>
            </a:pPr>
            <a:r>
              <a:rPr kumimoji="1" lang="en-US" altLang="zh-CN" sz="1600" b="1" dirty="0"/>
              <a:t>1. </a:t>
            </a:r>
            <a:r>
              <a:rPr kumimoji="1" lang="zh-CN" altLang="en-US" sz="1600" b="1" dirty="0"/>
              <a:t>总长度</a:t>
            </a:r>
            <a:r>
              <a:rPr kumimoji="1" lang="en-US" altLang="zh-CN" sz="1600" b="1" dirty="0"/>
              <a:t>:</a:t>
            </a:r>
            <a:r>
              <a:rPr kumimoji="1" lang="zh-CN" altLang="en-US" sz="1600" dirty="0"/>
              <a:t>mrssc=rbnum×12；</a:t>
            </a:r>
          </a:p>
          <a:p>
            <a:pPr algn="l" latinLnBrk="1">
              <a:lnSpc>
                <a:spcPct val="150000"/>
              </a:lnSpc>
              <a:buClrTx/>
              <a:buSzTx/>
              <a:buFontTx/>
            </a:pPr>
            <a:r>
              <a:rPr kumimoji="1" lang="en-US" altLang="zh-CN" sz="1600" b="1" dirty="0"/>
              <a:t>2. </a:t>
            </a:r>
            <a:r>
              <a:rPr kumimoji="1" lang="zh-CN" altLang="en-US" sz="1600" b="1" dirty="0"/>
              <a:t>rbnum=1或2</a:t>
            </a:r>
            <a:r>
              <a:rPr kumimoji="1" lang="en-US" altLang="zh-CN" sz="1600" b="1" dirty="0"/>
              <a:t>:</a:t>
            </a:r>
            <a:r>
              <a:rPr kumimoji="1" lang="zh-CN" altLang="en-US" sz="1600" dirty="0"/>
              <a:t>使用固定相位表生成长度为 12/24 的导频；</a:t>
            </a:r>
          </a:p>
          <a:p>
            <a:pPr algn="l" latinLnBrk="1">
              <a:lnSpc>
                <a:spcPct val="150000"/>
              </a:lnSpc>
              <a:buClrTx/>
              <a:buSzTx/>
              <a:buFontTx/>
            </a:pPr>
            <a:r>
              <a:rPr kumimoji="1" lang="en-US" altLang="zh-CN" sz="1600" b="1" dirty="0"/>
              <a:t>3. </a:t>
            </a:r>
            <a:r>
              <a:rPr kumimoji="1" lang="zh-CN" altLang="en-US" sz="1600" b="1" dirty="0"/>
              <a:t>rbnum ≥ 3</a:t>
            </a:r>
            <a:r>
              <a:rPr kumimoji="1" lang="en-US" altLang="zh-CN" sz="1600" b="1" dirty="0"/>
              <a:t>:</a:t>
            </a:r>
            <a:r>
              <a:rPr kumimoji="1" lang="zh-CN" altLang="en-US" sz="1600" dirty="0"/>
              <a:t>按标准构造 Zadoff–Chu 序列并扩展至 mrssc</a:t>
            </a:r>
          </a:p>
          <a:p>
            <a:pPr algn="l" latinLnBrk="1">
              <a:lnSpc>
                <a:spcPct val="150000"/>
              </a:lnSpc>
              <a:buClrTx/>
              <a:buSzTx/>
              <a:buFontTx/>
            </a:pPr>
            <a:r>
              <a:rPr kumimoji="1" lang="en-US" altLang="zh-CN" sz="1600" b="1" dirty="0"/>
              <a:t>4. </a:t>
            </a:r>
            <a:r>
              <a:rPr kumimoji="1" lang="zh-CN" altLang="en-US" sz="1600" dirty="0"/>
              <a:t>得到</a:t>
            </a:r>
            <a:r>
              <a:rPr kumimoji="1" lang="zh-CN" altLang="en-US" sz="1600" b="1" dirty="0"/>
              <a:t>恒模、相位伪随机</a:t>
            </a:r>
            <a:r>
              <a:rPr kumimoji="1" lang="zh-CN" altLang="en-US" sz="1600" dirty="0"/>
              <a:t>的基础序列 basic_out。</a:t>
            </a:r>
          </a:p>
        </p:txBody>
      </p:sp>
      <p:sp>
        <p:nvSpPr>
          <p:cNvPr id="23" name="标题 1">
            <a:extLst>
              <a:ext uri="{FF2B5EF4-FFF2-40B4-BE49-F238E27FC236}">
                <a16:creationId xmlns:a16="http://schemas.microsoft.com/office/drawing/2014/main" id="{218F8D7E-DB49-6D59-1E4A-5B9D390B438B}"/>
              </a:ext>
            </a:extLst>
          </p:cNvPr>
          <p:cNvSpPr txBox="1"/>
          <p:nvPr>
            <p:custDataLst>
              <p:tags r:id="rId9"/>
            </p:custDataLst>
          </p:nvPr>
        </p:nvSpPr>
        <p:spPr>
          <a:xfrm>
            <a:off x="9318308" y="2048116"/>
            <a:ext cx="2583180" cy="3088182"/>
          </a:xfrm>
          <a:prstGeom prst="rect">
            <a:avLst/>
          </a:prstGeom>
          <a:noFill/>
          <a:ln>
            <a:noFill/>
          </a:ln>
        </p:spPr>
        <p:txBody>
          <a:bodyPr vert="horz" wrap="square" lIns="0" tIns="0" rIns="0" bIns="0" rtlCol="0" anchor="ctr"/>
          <a:lstStyle/>
          <a:p>
            <a:pPr algn="l">
              <a:lnSpc>
                <a:spcPct val="150000"/>
              </a:lnSpc>
              <a:buClrTx/>
              <a:buSzTx/>
              <a:buFontTx/>
            </a:pPr>
            <a:r>
              <a:rPr kumimoji="1" lang="en-US" altLang="zh-CN" sz="1600" b="1" dirty="0">
                <a:latin typeface="+mj-ea"/>
                <a:ea typeface="+mj-ea"/>
              </a:rPr>
              <a:t>1. </a:t>
            </a:r>
            <a:r>
              <a:rPr kumimoji="1" lang="zh-CN" altLang="en-US" sz="1600" dirty="0">
                <a:latin typeface="+mj-ea"/>
                <a:ea typeface="+mj-ea"/>
              </a:rPr>
              <a:t>根据</a:t>
            </a:r>
            <a:r>
              <a:rPr kumimoji="1" lang="en-US" altLang="zh-CN" sz="1600" dirty="0">
                <a:latin typeface="+mj-ea"/>
                <a:ea typeface="+mj-ea"/>
              </a:rPr>
              <a:t> </a:t>
            </a:r>
            <a:r>
              <a:rPr kumimoji="1" lang="en-US" altLang="zh-CN" sz="1600" dirty="0" err="1">
                <a:latin typeface="+mj-ea"/>
                <a:ea typeface="+mj-ea"/>
              </a:rPr>
              <a:t>cellid</a:t>
            </a:r>
            <a:r>
              <a:rPr kumimoji="1" lang="zh-CN" altLang="en-US" sz="1600" dirty="0">
                <a:latin typeface="+mj-ea"/>
                <a:ea typeface="+mj-ea"/>
              </a:rPr>
              <a:t>、</a:t>
            </a:r>
            <a:r>
              <a:rPr kumimoji="1" lang="en-US" altLang="zh-CN" sz="1600" dirty="0">
                <a:latin typeface="+mj-ea"/>
                <a:ea typeface="+mj-ea"/>
              </a:rPr>
              <a:t>ndmrs1</a:t>
            </a:r>
            <a:r>
              <a:rPr kumimoji="1" lang="zh-CN" altLang="en-US" sz="1600" dirty="0">
                <a:latin typeface="+mj-ea"/>
                <a:ea typeface="+mj-ea"/>
              </a:rPr>
              <a:t>、</a:t>
            </a:r>
            <a:r>
              <a:rPr kumimoji="1" lang="en-US" altLang="zh-CN" sz="1600" dirty="0" err="1">
                <a:latin typeface="+mj-ea"/>
                <a:ea typeface="+mj-ea"/>
              </a:rPr>
              <a:t>cyc_shift</a:t>
            </a:r>
            <a:r>
              <a:rPr kumimoji="1" lang="en-US" altLang="zh-CN" sz="1600" dirty="0">
                <a:latin typeface="+mj-ea"/>
                <a:ea typeface="+mj-ea"/>
              </a:rPr>
              <a:t> </a:t>
            </a:r>
            <a:r>
              <a:rPr kumimoji="1" lang="zh-CN" altLang="en-US" sz="1600" dirty="0">
                <a:latin typeface="+mj-ea"/>
                <a:ea typeface="+mj-ea"/>
              </a:rPr>
              <a:t>和伪随机序列计算循环移位索引</a:t>
            </a:r>
            <a:r>
              <a:rPr kumimoji="1" lang="en-US" altLang="zh-CN" sz="1600" dirty="0">
                <a:latin typeface="+mj-ea"/>
                <a:ea typeface="+mj-ea"/>
              </a:rPr>
              <a:t> </a:t>
            </a:r>
            <a:r>
              <a:rPr kumimoji="1" lang="en-US" altLang="zh-CN" sz="1600" dirty="0" err="1">
                <a:latin typeface="+mj-ea"/>
                <a:ea typeface="+mj-ea"/>
              </a:rPr>
              <a:t>n_cs</a:t>
            </a:r>
            <a:r>
              <a:rPr kumimoji="1" lang="zh-CN" altLang="en-US" sz="1600" dirty="0">
                <a:latin typeface="+mj-ea"/>
                <a:ea typeface="+mj-ea"/>
              </a:rPr>
              <a:t>；</a:t>
            </a:r>
          </a:p>
          <a:p>
            <a:pPr algn="l">
              <a:lnSpc>
                <a:spcPct val="150000"/>
              </a:lnSpc>
              <a:buClrTx/>
              <a:buSzTx/>
              <a:buFontTx/>
            </a:pPr>
            <a:r>
              <a:rPr kumimoji="1" lang="en-US" altLang="zh-CN" sz="1600" b="1" dirty="0">
                <a:latin typeface="+mj-ea"/>
                <a:ea typeface="+mj-ea"/>
              </a:rPr>
              <a:t>2. </a:t>
            </a:r>
            <a:r>
              <a:rPr kumimoji="1" lang="zh-CN" altLang="en-US" sz="1600" dirty="0">
                <a:latin typeface="+mj-ea"/>
                <a:ea typeface="+mj-ea"/>
              </a:rPr>
              <a:t>对第</a:t>
            </a:r>
            <a:r>
              <a:rPr kumimoji="1" lang="en-US" altLang="zh-CN" sz="1600" dirty="0">
                <a:latin typeface="+mj-ea"/>
                <a:ea typeface="+mj-ea"/>
              </a:rPr>
              <a:t> n </a:t>
            </a:r>
            <a:r>
              <a:rPr kumimoji="1" lang="zh-CN" altLang="en-US" sz="1600" dirty="0">
                <a:latin typeface="+mj-ea"/>
                <a:ea typeface="+mj-ea"/>
              </a:rPr>
              <a:t>个导频符号乘以相位因子；</a:t>
            </a:r>
          </a:p>
          <a:p>
            <a:pPr algn="l">
              <a:lnSpc>
                <a:spcPct val="150000"/>
              </a:lnSpc>
              <a:buClrTx/>
              <a:buSzTx/>
              <a:buFontTx/>
            </a:pPr>
            <a:r>
              <a:rPr kumimoji="1" lang="en-US" altLang="zh-CN" sz="1600" b="1" dirty="0">
                <a:latin typeface="+mj-ea"/>
                <a:ea typeface="+mj-ea"/>
              </a:rPr>
              <a:t>3. </a:t>
            </a:r>
            <a:r>
              <a:rPr kumimoji="1" lang="zh-CN" altLang="en-US" sz="1600" dirty="0">
                <a:latin typeface="+mj-ea"/>
                <a:ea typeface="+mj-ea"/>
              </a:rPr>
              <a:t>得到最终</a:t>
            </a:r>
            <a:r>
              <a:rPr kumimoji="1" lang="en-US" altLang="zh-CN" sz="1600" dirty="0">
                <a:latin typeface="+mj-ea"/>
                <a:ea typeface="+mj-ea"/>
              </a:rPr>
              <a:t> DM-RS </a:t>
            </a:r>
            <a:r>
              <a:rPr kumimoji="1" lang="zh-CN" altLang="en-US" sz="1600" dirty="0">
                <a:latin typeface="+mj-ea"/>
                <a:ea typeface="+mj-ea"/>
              </a:rPr>
              <a:t>序列</a:t>
            </a:r>
            <a:r>
              <a:rPr kumimoji="1" lang="en-US" altLang="zh-CN" sz="1600" dirty="0">
                <a:latin typeface="+mj-ea"/>
                <a:ea typeface="+mj-ea"/>
              </a:rPr>
              <a:t> out</a:t>
            </a:r>
            <a:r>
              <a:rPr kumimoji="1" lang="zh-CN" altLang="en-US" sz="1600" dirty="0">
                <a:latin typeface="+mj-ea"/>
                <a:ea typeface="+mj-ea"/>
              </a:rPr>
              <a:t>，映射到</a:t>
            </a:r>
            <a:r>
              <a:rPr kumimoji="1" lang="en-US" altLang="zh-CN" sz="1600" dirty="0">
                <a:latin typeface="+mj-ea"/>
                <a:ea typeface="+mj-ea"/>
              </a:rPr>
              <a:t> </a:t>
            </a:r>
            <a:r>
              <a:rPr kumimoji="1" lang="en-US" altLang="zh-CN" sz="1600" dirty="0" err="1">
                <a:latin typeface="+mj-ea"/>
                <a:ea typeface="+mj-ea"/>
              </a:rPr>
              <a:t>rbnum</a:t>
            </a:r>
            <a:r>
              <a:rPr kumimoji="1" lang="en-US" altLang="zh-CN" sz="1600" dirty="0">
                <a:latin typeface="+mj-ea"/>
                <a:ea typeface="+mj-ea"/>
              </a:rPr>
              <a:t> </a:t>
            </a:r>
            <a:r>
              <a:rPr kumimoji="1" lang="en-US" altLang="en-US" sz="1600" dirty="0">
                <a:latin typeface="+mj-ea"/>
                <a:ea typeface="+mj-ea"/>
              </a:rPr>
              <a:t>×</a:t>
            </a:r>
            <a:r>
              <a:rPr kumimoji="1" lang="en-US" altLang="zh-CN" sz="1600" dirty="0">
                <a:latin typeface="+mj-ea"/>
                <a:ea typeface="+mj-ea"/>
              </a:rPr>
              <a:t> 12 </a:t>
            </a:r>
            <a:r>
              <a:rPr kumimoji="1" lang="zh-CN" altLang="en-US" sz="1600" dirty="0">
                <a:latin typeface="+mj-ea"/>
                <a:ea typeface="+mj-ea"/>
              </a:rPr>
              <a:t>个子载波上用于发送。</a:t>
            </a:r>
          </a:p>
        </p:txBody>
      </p:sp>
      <p:sp>
        <p:nvSpPr>
          <p:cNvPr id="24" name="标题 1">
            <a:extLst>
              <a:ext uri="{FF2B5EF4-FFF2-40B4-BE49-F238E27FC236}">
                <a16:creationId xmlns:a16="http://schemas.microsoft.com/office/drawing/2014/main" id="{DB2E0217-DFE2-E0BB-FD33-1685B0B55F42}"/>
              </a:ext>
            </a:extLst>
          </p:cNvPr>
          <p:cNvSpPr txBox="1"/>
          <p:nvPr/>
        </p:nvSpPr>
        <p:spPr>
          <a:xfrm>
            <a:off x="1191805" y="6096538"/>
            <a:ext cx="1234619" cy="248502"/>
          </a:xfrm>
          <a:prstGeom prst="rect">
            <a:avLst/>
          </a:prstGeom>
          <a:noFill/>
          <a:ln>
            <a:noFill/>
          </a:ln>
        </p:spPr>
        <p:txBody>
          <a:bodyPr vert="horz" wrap="square" lIns="0" tIns="0" rIns="0" bIns="0" rtlCol="0" anchor="t"/>
          <a:lstStyle/>
          <a:p>
            <a:pPr algn="ctr" fontAlgn="base">
              <a:spcAft>
                <a:spcPts val="1200"/>
              </a:spcAft>
            </a:pPr>
            <a:r>
              <a:rPr lang="zh-CN" altLang="en-US" sz="1600" b="1" i="0" dirty="0">
                <a:effectLst/>
                <a:latin typeface="-apple-system"/>
              </a:rPr>
              <a:t>输入和输出</a:t>
            </a:r>
          </a:p>
        </p:txBody>
      </p:sp>
      <p:sp>
        <p:nvSpPr>
          <p:cNvPr id="25" name="标题 1">
            <a:extLst>
              <a:ext uri="{FF2B5EF4-FFF2-40B4-BE49-F238E27FC236}">
                <a16:creationId xmlns:a16="http://schemas.microsoft.com/office/drawing/2014/main" id="{AE9041B9-1DB6-B6B0-863D-7714354F04FB}"/>
              </a:ext>
            </a:extLst>
          </p:cNvPr>
          <p:cNvSpPr txBox="1"/>
          <p:nvPr/>
        </p:nvSpPr>
        <p:spPr>
          <a:xfrm>
            <a:off x="4186147" y="5970738"/>
            <a:ext cx="1234619" cy="248502"/>
          </a:xfrm>
          <a:prstGeom prst="rect">
            <a:avLst/>
          </a:prstGeom>
          <a:noFill/>
          <a:ln>
            <a:noFill/>
          </a:ln>
        </p:spPr>
        <p:txBody>
          <a:bodyPr vert="horz" wrap="square" lIns="0" tIns="0" rIns="0" bIns="0" rtlCol="0" anchor="t"/>
          <a:lstStyle/>
          <a:p>
            <a:pPr algn="ctr" fontAlgn="base">
              <a:spcAft>
                <a:spcPts val="1200"/>
              </a:spcAft>
            </a:pPr>
            <a:r>
              <a:rPr lang="zh-CN" altLang="en-US" sz="1600" b="1" i="0" dirty="0">
                <a:effectLst/>
                <a:latin typeface="-apple-system"/>
              </a:rPr>
              <a:t>确定导频序列编号</a:t>
            </a:r>
            <a:r>
              <a:rPr lang="en-US" altLang="zh-CN" sz="1600" b="1" i="0" dirty="0">
                <a:effectLst/>
                <a:latin typeface="-apple-system"/>
              </a:rPr>
              <a:t> </a:t>
            </a:r>
            <a:r>
              <a:rPr lang="zh-CN" altLang="en-US" sz="1600" b="1" i="0" dirty="0">
                <a:effectLst/>
                <a:latin typeface="Times New Roman" panose="02020603050405020304" charset="0"/>
                <a:cs typeface="Times New Roman" panose="02020603050405020304" charset="0"/>
              </a:rPr>
              <a:t>（</a:t>
            </a:r>
            <a:r>
              <a:rPr lang="en-US" altLang="zh-CN" sz="1600" b="1" i="0" dirty="0">
                <a:effectLst/>
                <a:latin typeface="Times New Roman" panose="02020603050405020304" charset="0"/>
                <a:cs typeface="Times New Roman" panose="02020603050405020304" charset="0"/>
              </a:rPr>
              <a:t>u,v)</a:t>
            </a:r>
          </a:p>
        </p:txBody>
      </p:sp>
      <p:sp>
        <p:nvSpPr>
          <p:cNvPr id="26" name="标题 1">
            <a:extLst>
              <a:ext uri="{FF2B5EF4-FFF2-40B4-BE49-F238E27FC236}">
                <a16:creationId xmlns:a16="http://schemas.microsoft.com/office/drawing/2014/main" id="{92C20D26-FF3E-C150-B7BD-07710CF316DD}"/>
              </a:ext>
            </a:extLst>
          </p:cNvPr>
          <p:cNvSpPr txBox="1"/>
          <p:nvPr/>
        </p:nvSpPr>
        <p:spPr>
          <a:xfrm>
            <a:off x="7111645" y="6000338"/>
            <a:ext cx="1234619" cy="248502"/>
          </a:xfrm>
          <a:prstGeom prst="rect">
            <a:avLst/>
          </a:prstGeom>
          <a:noFill/>
          <a:ln>
            <a:noFill/>
          </a:ln>
        </p:spPr>
        <p:txBody>
          <a:bodyPr vert="horz" wrap="square" lIns="0" tIns="0" rIns="0" bIns="0" rtlCol="0" anchor="t"/>
          <a:lstStyle/>
          <a:p>
            <a:pPr algn="ctr" fontAlgn="base">
              <a:spcAft>
                <a:spcPts val="1200"/>
              </a:spcAft>
            </a:pPr>
            <a:r>
              <a:rPr lang="zh-CN" altLang="en-US" sz="1600" b="1" i="0" dirty="0">
                <a:effectLst/>
                <a:latin typeface="Times New Roman" panose="02020603050405020304" charset="0"/>
                <a:cs typeface="Times New Roman" panose="02020603050405020304" charset="0"/>
              </a:rPr>
              <a:t>生成基础导频</a:t>
            </a:r>
            <a:r>
              <a:rPr lang="en-US" altLang="zh-CN" sz="1600" b="1" i="0" dirty="0">
                <a:effectLst/>
                <a:latin typeface="Times New Roman" panose="02020603050405020304" charset="0"/>
                <a:cs typeface="Times New Roman" panose="02020603050405020304" charset="0"/>
              </a:rPr>
              <a:t> basic_out</a:t>
            </a:r>
          </a:p>
        </p:txBody>
      </p:sp>
      <p:sp>
        <p:nvSpPr>
          <p:cNvPr id="27" name="标题 1">
            <a:extLst>
              <a:ext uri="{FF2B5EF4-FFF2-40B4-BE49-F238E27FC236}">
                <a16:creationId xmlns:a16="http://schemas.microsoft.com/office/drawing/2014/main" id="{96C815E8-EBB5-0697-A217-4D9066A4CBED}"/>
              </a:ext>
            </a:extLst>
          </p:cNvPr>
          <p:cNvSpPr txBox="1"/>
          <p:nvPr/>
        </p:nvSpPr>
        <p:spPr>
          <a:xfrm>
            <a:off x="10037143" y="6000338"/>
            <a:ext cx="1234619" cy="248502"/>
          </a:xfrm>
          <a:prstGeom prst="rect">
            <a:avLst/>
          </a:prstGeom>
          <a:noFill/>
          <a:ln>
            <a:noFill/>
          </a:ln>
        </p:spPr>
        <p:txBody>
          <a:bodyPr vert="horz" wrap="square" lIns="0" tIns="0" rIns="0" bIns="0" rtlCol="0" anchor="t"/>
          <a:lstStyle/>
          <a:p>
            <a:pPr algn="ctr" fontAlgn="base">
              <a:spcAft>
                <a:spcPts val="1200"/>
              </a:spcAft>
            </a:pPr>
            <a:r>
              <a:rPr lang="zh-CN" altLang="en-US" sz="1600" b="1" i="0" dirty="0">
                <a:effectLst/>
                <a:latin typeface="Times New Roman" panose="02020603050405020304" charset="0"/>
                <a:cs typeface="Times New Roman" panose="02020603050405020304" charset="0"/>
              </a:rPr>
              <a:t>加入循环移相得到</a:t>
            </a:r>
            <a:r>
              <a:rPr lang="en-US" altLang="zh-CN" sz="1600" b="1" i="0" dirty="0">
                <a:effectLst/>
                <a:latin typeface="Times New Roman" panose="02020603050405020304" charset="0"/>
                <a:cs typeface="Times New Roman" panose="02020603050405020304" charset="0"/>
              </a:rPr>
              <a:t> out</a:t>
            </a:r>
          </a:p>
        </p:txBody>
      </p:sp>
    </p:spTree>
    <p:extLst>
      <p:ext uri="{BB962C8B-B14F-4D97-AF65-F5344CB8AC3E}">
        <p14:creationId xmlns:p14="http://schemas.microsoft.com/office/powerpoint/2010/main" val="29806126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4403C-FC90-9E3B-1626-C6720261B5AA}"/>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56BD600B-359B-026F-90F8-2B5A1B3AC10C}"/>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C347E3DB-4FD4-9F69-97BA-C431C0394E0E}"/>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A107308-BA85-8002-07C9-A87D0CE9C84E}"/>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79F68520-6A56-C13F-6A63-357C44174399}"/>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C03780E6-16C3-797F-A7AD-E295ECC33354}"/>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74F424F3-D889-9038-9302-DA3F41B99FC0}"/>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C36F7911-0491-7EE4-7C9E-D190996406C0}"/>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8B8E58E9-C6FC-8CD8-3D2B-F8191A1A98E3}"/>
              </a:ext>
            </a:extLst>
          </p:cNvPr>
          <p:cNvSpPr txBox="1"/>
          <p:nvPr/>
        </p:nvSpPr>
        <p:spPr>
          <a:xfrm>
            <a:off x="621432" y="943575"/>
            <a:ext cx="10778789" cy="1333698"/>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10</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产生导频数据</a:t>
            </a:r>
            <a:endParaRPr lang="en-US" altLang="zh-CN" sz="2000" b="1" dirty="0">
              <a:latin typeface="+mn-ea"/>
              <a:cs typeface="Times New Roman" panose="02020603050405020304" pitchFamily="18" charset="0"/>
            </a:endParaRPr>
          </a:p>
          <a:p>
            <a:pPr>
              <a:lnSpc>
                <a:spcPct val="150000"/>
              </a:lnSpc>
            </a:pPr>
            <a:r>
              <a:rPr lang="en-US" altLang="zh-CN" dirty="0"/>
              <a:t>    TD-LTE </a:t>
            </a:r>
            <a:r>
              <a:rPr lang="zh-CN" altLang="zh-CN" dirty="0"/>
              <a:t>生成导频流程图如下</a:t>
            </a:r>
            <a:endParaRPr lang="en-US" altLang="zh-CN" dirty="0"/>
          </a:p>
          <a:p>
            <a:pPr>
              <a:lnSpc>
                <a:spcPct val="150000"/>
              </a:lnSpc>
            </a:pPr>
            <a:r>
              <a:rPr lang="en-US" altLang="zh-CN" dirty="0"/>
              <a:t>    </a:t>
            </a:r>
          </a:p>
        </p:txBody>
      </p:sp>
      <p:pic>
        <p:nvPicPr>
          <p:cNvPr id="8" name="Picture 15" descr="易思达白字 png">
            <a:extLst>
              <a:ext uri="{FF2B5EF4-FFF2-40B4-BE49-F238E27FC236}">
                <a16:creationId xmlns:a16="http://schemas.microsoft.com/office/drawing/2014/main" id="{9704754D-381F-6307-AE9C-34D5A74CF63C}"/>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4F794717-82CD-2230-E2E4-4B3E0E02CA0B}"/>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952E0EAB-7010-2BB7-6628-0B25F0C494C1}"/>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3A587158-4B6C-6CD6-EF33-8C9A43426FA0}"/>
              </a:ext>
            </a:extLst>
          </p:cNvPr>
          <p:cNvPicPr>
            <a:picLocks noChangeAspect="1"/>
          </p:cNvPicPr>
          <p:nvPr/>
        </p:nvPicPr>
        <p:blipFill>
          <a:blip r:embed="rId6"/>
          <a:stretch>
            <a:fillRect/>
          </a:stretch>
        </p:blipFill>
        <p:spPr>
          <a:xfrm>
            <a:off x="5225737" y="109069"/>
            <a:ext cx="1793898" cy="6446017"/>
          </a:xfrm>
          <a:prstGeom prst="rect">
            <a:avLst/>
          </a:prstGeom>
        </p:spPr>
      </p:pic>
    </p:spTree>
    <p:extLst>
      <p:ext uri="{BB962C8B-B14F-4D97-AF65-F5344CB8AC3E}">
        <p14:creationId xmlns:p14="http://schemas.microsoft.com/office/powerpoint/2010/main" val="11094572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BE9E3-F18C-22F7-8871-D72A26C68160}"/>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544E89F4-45F9-BE08-E9D0-61721E525E86}"/>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6C3B1147-C73D-9F4B-C96C-49EFDB68D1EA}"/>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38271F1-E0CE-6C74-3AA6-9855EE0FB292}"/>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D6B6EAFB-9F4A-22DC-8349-CEDEAA091761}"/>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C32B14FD-BB4F-F9C8-B581-B6B3D3CF62A8}"/>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2B250EBD-6423-EEFC-1230-E36510D3FD62}"/>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E864281-BF10-69D8-632C-78F5D9C86A81}"/>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7951C307-4D14-30FD-E3CB-0DFD3EFA2B3B}"/>
              </a:ext>
            </a:extLst>
          </p:cNvPr>
          <p:cNvSpPr txBox="1"/>
          <p:nvPr/>
        </p:nvSpPr>
        <p:spPr>
          <a:xfrm>
            <a:off x="621432" y="943575"/>
            <a:ext cx="10778789" cy="5490606"/>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11</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资源映射</a:t>
            </a:r>
            <a:endParaRPr lang="en-US" altLang="zh-CN" sz="2000" b="1" dirty="0">
              <a:latin typeface="+mn-ea"/>
              <a:cs typeface="Times New Roman" panose="02020603050405020304" pitchFamily="18" charset="0"/>
            </a:endParaRPr>
          </a:p>
          <a:p>
            <a:pPr>
              <a:lnSpc>
                <a:spcPct val="150000"/>
              </a:lnSpc>
            </a:pPr>
            <a:r>
              <a:rPr lang="en-US" altLang="zh-CN" dirty="0"/>
              <a:t>    LTE </a:t>
            </a:r>
            <a:r>
              <a:rPr lang="zh-CN" altLang="en-US" dirty="0"/>
              <a:t>协议中的资源映射，简单来说就是把经过编码、调制等处理后的各类信号，精准分配到 </a:t>
            </a:r>
            <a:r>
              <a:rPr lang="en-US" altLang="zh-CN" dirty="0"/>
              <a:t>OFDM </a:t>
            </a:r>
            <a:r>
              <a:rPr lang="zh-CN" altLang="en-US" dirty="0"/>
              <a:t>时频网格的资源单元（</a:t>
            </a:r>
            <a:r>
              <a:rPr lang="en-US" altLang="zh-CN" dirty="0"/>
              <a:t>RE</a:t>
            </a:r>
            <a:r>
              <a:rPr lang="zh-CN" altLang="en-US" dirty="0"/>
              <a:t>）上的过程，也就</a:t>
            </a:r>
            <a:r>
              <a:rPr lang="zh-CN" altLang="zh-CN" dirty="0"/>
              <a:t>是将调制后的有用复值数据和导频数据映射到</a:t>
            </a:r>
            <a:r>
              <a:rPr lang="en-US" altLang="zh-CN" dirty="0"/>
              <a:t>14</a:t>
            </a:r>
            <a:r>
              <a:rPr lang="zh-CN" altLang="zh-CN" dirty="0"/>
              <a:t>个符号上，其中有用数据占用</a:t>
            </a:r>
            <a:r>
              <a:rPr lang="en-US" altLang="zh-CN" dirty="0"/>
              <a:t>12</a:t>
            </a:r>
            <a:r>
              <a:rPr lang="zh-CN" altLang="zh-CN" dirty="0"/>
              <a:t>个符号，导频占用</a:t>
            </a:r>
            <a:r>
              <a:rPr lang="en-US" altLang="zh-CN" dirty="0"/>
              <a:t>2</a:t>
            </a:r>
            <a:r>
              <a:rPr lang="zh-CN" altLang="zh-CN" dirty="0"/>
              <a:t>个符号</a:t>
            </a:r>
            <a:r>
              <a:rPr lang="zh-CN" altLang="en-US" dirty="0"/>
              <a:t>。</a:t>
            </a:r>
            <a:endParaRPr lang="en-US" altLang="zh-CN" dirty="0"/>
          </a:p>
          <a:p>
            <a:pPr>
              <a:lnSpc>
                <a:spcPct val="150000"/>
              </a:lnSpc>
            </a:pPr>
            <a:r>
              <a:rPr lang="zh-CN" altLang="en-US" b="1" dirty="0"/>
              <a:t>    资源单元（</a:t>
            </a:r>
            <a:r>
              <a:rPr lang="en-US" altLang="zh-CN" b="1" dirty="0"/>
              <a:t>RE</a:t>
            </a:r>
            <a:r>
              <a:rPr lang="zh-CN" altLang="en-US" b="1" dirty="0"/>
              <a:t>）</a:t>
            </a:r>
            <a:r>
              <a:rPr lang="zh-CN" altLang="en-US" dirty="0"/>
              <a:t>：这是无线资源的最小单位，相当于时频网格上的一个 “小格子”，由 </a:t>
            </a:r>
            <a:r>
              <a:rPr lang="en-US" altLang="zh-CN" dirty="0"/>
              <a:t>1 </a:t>
            </a:r>
            <a:r>
              <a:rPr lang="zh-CN" altLang="en-US" dirty="0"/>
              <a:t>个子载波（频域）和 </a:t>
            </a:r>
            <a:r>
              <a:rPr lang="en-US" altLang="zh-CN" dirty="0"/>
              <a:t>1 </a:t>
            </a:r>
            <a:r>
              <a:rPr lang="zh-CN" altLang="en-US" dirty="0"/>
              <a:t>个 </a:t>
            </a:r>
            <a:r>
              <a:rPr lang="en-US" altLang="zh-CN" dirty="0"/>
              <a:t>OFDM </a:t>
            </a:r>
            <a:r>
              <a:rPr lang="zh-CN" altLang="en-US" dirty="0"/>
              <a:t>符号（时域）组成。每个 </a:t>
            </a:r>
            <a:r>
              <a:rPr lang="en-US" altLang="zh-CN" dirty="0"/>
              <a:t>RE </a:t>
            </a:r>
            <a:r>
              <a:rPr lang="zh-CN" altLang="en-US" dirty="0"/>
              <a:t>能承载 </a:t>
            </a:r>
            <a:r>
              <a:rPr lang="en-US" altLang="zh-CN" dirty="0"/>
              <a:t>1 </a:t>
            </a:r>
            <a:r>
              <a:rPr lang="zh-CN" altLang="en-US" dirty="0"/>
              <a:t>个调制符号，比如 </a:t>
            </a:r>
            <a:r>
              <a:rPr lang="en-US" altLang="zh-CN" dirty="0"/>
              <a:t>QPSK</a:t>
            </a:r>
            <a:r>
              <a:rPr lang="zh-CN" altLang="en-US" dirty="0"/>
              <a:t>、</a:t>
            </a:r>
            <a:r>
              <a:rPr lang="en-US" altLang="zh-CN" dirty="0"/>
              <a:t>16QAM </a:t>
            </a:r>
            <a:r>
              <a:rPr lang="zh-CN" altLang="en-US" dirty="0"/>
              <a:t>调制后的符号，是资源映射的最终落点。</a:t>
            </a:r>
          </a:p>
          <a:p>
            <a:pPr>
              <a:lnSpc>
                <a:spcPct val="150000"/>
              </a:lnSpc>
            </a:pPr>
            <a:r>
              <a:rPr lang="zh-CN" altLang="en-US" b="1" dirty="0"/>
              <a:t>    资源块（</a:t>
            </a:r>
            <a:r>
              <a:rPr lang="en-US" altLang="zh-CN" b="1" dirty="0"/>
              <a:t>RB</a:t>
            </a:r>
            <a:r>
              <a:rPr lang="zh-CN" altLang="en-US" b="1" dirty="0"/>
              <a:t>）</a:t>
            </a:r>
            <a:r>
              <a:rPr lang="zh-CN" altLang="en-US" dirty="0"/>
              <a:t>：为了方便调度，把连续的资源打包，</a:t>
            </a:r>
            <a:r>
              <a:rPr lang="en-US" altLang="zh-CN" dirty="0"/>
              <a:t>1 </a:t>
            </a:r>
            <a:r>
              <a:rPr lang="zh-CN" altLang="en-US" dirty="0"/>
              <a:t>个 </a:t>
            </a:r>
            <a:r>
              <a:rPr lang="en-US" altLang="zh-CN" dirty="0"/>
              <a:t>RB </a:t>
            </a:r>
            <a:r>
              <a:rPr lang="zh-CN" altLang="en-US" dirty="0"/>
              <a:t>在频域上包含 </a:t>
            </a:r>
            <a:r>
              <a:rPr lang="en-US" altLang="zh-CN" dirty="0"/>
              <a:t>12 </a:t>
            </a:r>
            <a:r>
              <a:rPr lang="zh-CN" altLang="en-US" dirty="0"/>
              <a:t>个子载波，时域上包含 </a:t>
            </a:r>
            <a:r>
              <a:rPr lang="en-US" altLang="zh-CN" dirty="0"/>
              <a:t>1 </a:t>
            </a:r>
            <a:r>
              <a:rPr lang="zh-CN" altLang="en-US" dirty="0"/>
              <a:t>个时隙的 </a:t>
            </a:r>
            <a:r>
              <a:rPr lang="en-US" altLang="zh-CN" dirty="0"/>
              <a:t>OFDM </a:t>
            </a:r>
            <a:r>
              <a:rPr lang="zh-CN" altLang="en-US" dirty="0"/>
              <a:t>符号。而 </a:t>
            </a:r>
            <a:r>
              <a:rPr lang="en-US" altLang="zh-CN" dirty="0"/>
              <a:t>LTE </a:t>
            </a:r>
            <a:r>
              <a:rPr lang="zh-CN" altLang="en-US" dirty="0"/>
              <a:t>中资源映射常以 “</a:t>
            </a:r>
            <a:r>
              <a:rPr lang="en-US" altLang="zh-CN" dirty="0"/>
              <a:t>RB </a:t>
            </a:r>
            <a:r>
              <a:rPr lang="zh-CN" altLang="en-US" dirty="0"/>
              <a:t>对” 为单位（一个子帧含 </a:t>
            </a:r>
            <a:r>
              <a:rPr lang="en-US" altLang="zh-CN" dirty="0"/>
              <a:t>2 </a:t>
            </a:r>
            <a:r>
              <a:rPr lang="zh-CN" altLang="en-US" dirty="0"/>
              <a:t>个时隙，对应 </a:t>
            </a:r>
            <a:r>
              <a:rPr lang="en-US" altLang="zh-CN" dirty="0"/>
              <a:t>2 </a:t>
            </a:r>
            <a:r>
              <a:rPr lang="zh-CN" altLang="en-US" dirty="0"/>
              <a:t>个 </a:t>
            </a:r>
            <a:r>
              <a:rPr lang="en-US" altLang="zh-CN" dirty="0"/>
              <a:t>RB </a:t>
            </a:r>
            <a:r>
              <a:rPr lang="zh-CN" altLang="en-US" dirty="0"/>
              <a:t>组成 </a:t>
            </a:r>
            <a:r>
              <a:rPr lang="en-US" altLang="zh-CN" dirty="0"/>
              <a:t>1 </a:t>
            </a:r>
            <a:r>
              <a:rPr lang="zh-CN" altLang="en-US" dirty="0"/>
              <a:t>个 </a:t>
            </a:r>
            <a:r>
              <a:rPr lang="en-US" altLang="zh-CN" dirty="0"/>
              <a:t>RB </a:t>
            </a:r>
            <a:r>
              <a:rPr lang="zh-CN" altLang="en-US" dirty="0"/>
              <a:t>对），是调度和映射的基本单元。</a:t>
            </a:r>
          </a:p>
          <a:p>
            <a:pPr>
              <a:lnSpc>
                <a:spcPct val="150000"/>
              </a:lnSpc>
            </a:pPr>
            <a:r>
              <a:rPr lang="zh-CN" altLang="en-US" dirty="0"/>
              <a:t>    资源映射的输入不是原始二进制比特，而是经过调制、预编码后的复指数子载波幅度序列。整个过程就像 “给旅客分配座位”：基站的调度器相当于 “检票员”，先根据信道质量（</a:t>
            </a:r>
            <a:r>
              <a:rPr lang="en-US" altLang="zh-CN" dirty="0"/>
              <a:t>CQI</a:t>
            </a:r>
            <a:r>
              <a:rPr lang="zh-CN" altLang="en-US" dirty="0"/>
              <a:t>）、用户需求等确定调度策略，再指挥物理层把这些处理后的信号，按协议规则分配到对应的 </a:t>
            </a:r>
            <a:r>
              <a:rPr lang="en-US" altLang="zh-CN" dirty="0"/>
              <a:t>RE </a:t>
            </a:r>
            <a:r>
              <a:rPr lang="zh-CN" altLang="en-US" dirty="0"/>
              <a:t>上</a:t>
            </a:r>
            <a:endParaRPr lang="en-US" altLang="zh-CN" dirty="0"/>
          </a:p>
        </p:txBody>
      </p:sp>
      <p:pic>
        <p:nvPicPr>
          <p:cNvPr id="8" name="Picture 15" descr="易思达白字 png">
            <a:extLst>
              <a:ext uri="{FF2B5EF4-FFF2-40B4-BE49-F238E27FC236}">
                <a16:creationId xmlns:a16="http://schemas.microsoft.com/office/drawing/2014/main" id="{EC5CFB8C-08AA-6336-0F23-B09CB6CC221E}"/>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DF97BED8-D67B-D1C5-CD0D-D69629057AFF}"/>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22EB654B-C257-A47F-0CC4-25168DE51B00}"/>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01422786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D3885-A9F8-958C-FB19-B3534A0F865A}"/>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43766EC8-0924-EA5C-859A-290A01C6A14D}"/>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B055C819-7F72-53F6-5E40-13E2194E6D9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CC9C7D0-3EEA-5608-157F-4BECC461B96C}"/>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F18F33D0-6541-D58E-E810-C96F3A3484C8}"/>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F010AC6E-B0C0-5555-4DD2-4E09690F9304}"/>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08A38773-DB95-2DF4-E4D3-CAE6FCCF2451}"/>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B579DD08-61AF-C807-A834-5C8711530F37}"/>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A68D6415-0B9B-E6A8-AE31-E1E72E42E0D6}"/>
              </a:ext>
            </a:extLst>
          </p:cNvPr>
          <p:cNvSpPr txBox="1"/>
          <p:nvPr/>
        </p:nvSpPr>
        <p:spPr>
          <a:xfrm>
            <a:off x="621432" y="943575"/>
            <a:ext cx="10778789" cy="5490606"/>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频域转时域</a:t>
            </a:r>
            <a:endParaRPr lang="en-US" altLang="zh-CN" sz="2000" b="1" dirty="0">
              <a:latin typeface="+mn-ea"/>
              <a:cs typeface="Times New Roman" panose="02020603050405020304" pitchFamily="18" charset="0"/>
            </a:endParaRPr>
          </a:p>
          <a:p>
            <a:pPr>
              <a:lnSpc>
                <a:spcPct val="150000"/>
              </a:lnSpc>
            </a:pPr>
            <a:r>
              <a:rPr lang="en-US" altLang="zh-CN" dirty="0"/>
              <a:t>    </a:t>
            </a:r>
            <a:r>
              <a:rPr lang="zh-CN" altLang="zh-CN" dirty="0"/>
              <a:t>设</a:t>
            </a:r>
            <a:r>
              <a:rPr lang="en-US" altLang="zh-CN" dirty="0"/>
              <a:t>f0~fN-1</a:t>
            </a:r>
            <a:r>
              <a:rPr lang="zh-CN" altLang="zh-CN" dirty="0"/>
              <a:t>是以</a:t>
            </a:r>
            <a:r>
              <a:rPr lang="en-US" altLang="zh-CN" dirty="0" err="1"/>
              <a:t>Δf</a:t>
            </a:r>
            <a:r>
              <a:rPr lang="zh-CN" altLang="zh-CN" dirty="0"/>
              <a:t>（能使每个子载波互相正交的频率间隔）为频率间隔的</a:t>
            </a:r>
            <a:r>
              <a:rPr lang="en-US" altLang="zh-CN" dirty="0"/>
              <a:t>N</a:t>
            </a:r>
            <a:r>
              <a:rPr lang="zh-CN" altLang="zh-CN" dirty="0"/>
              <a:t>个频率，</a:t>
            </a:r>
            <a:r>
              <a:rPr lang="en-US" altLang="zh-CN" dirty="0"/>
              <a:t>Nc</a:t>
            </a:r>
            <a:r>
              <a:rPr lang="zh-CN" altLang="zh-CN" dirty="0"/>
              <a:t>为用到的子载波个数，那么就有</a:t>
            </a:r>
            <a:r>
              <a:rPr lang="zh-CN" altLang="en-US" dirty="0"/>
              <a:t>：</a:t>
            </a:r>
            <a:endParaRPr lang="en-US" altLang="zh-CN" dirty="0"/>
          </a:p>
          <a:p>
            <a:pPr>
              <a:lnSpc>
                <a:spcPct val="150000"/>
              </a:lnSpc>
            </a:pPr>
            <a:endParaRPr lang="en-US" altLang="zh-CN" dirty="0"/>
          </a:p>
          <a:p>
            <a:pPr>
              <a:lnSpc>
                <a:spcPct val="150000"/>
              </a:lnSpc>
            </a:pPr>
            <a:r>
              <a:rPr lang="zh-CN" altLang="zh-CN" dirty="0"/>
              <a:t>由于正弦函数与余弦函数的正交关系，上式还可以扩展为：</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zh-CN" dirty="0"/>
              <a:t>将</a:t>
            </a:r>
            <a:r>
              <a:rPr lang="en-US" altLang="zh-CN" dirty="0"/>
              <a:t>f(t)</a:t>
            </a:r>
            <a:r>
              <a:rPr lang="zh-CN" altLang="zh-CN" dirty="0"/>
              <a:t>该为复数形式：</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zh-CN" dirty="0"/>
              <a:t>该式和</a:t>
            </a:r>
            <a:r>
              <a:rPr lang="en-US" altLang="zh-CN" dirty="0"/>
              <a:t>IFFT</a:t>
            </a:r>
            <a:r>
              <a:rPr lang="zh-CN" altLang="zh-CN" dirty="0"/>
              <a:t>一致，所以可以直接用</a:t>
            </a:r>
            <a:r>
              <a:rPr lang="en-US" altLang="zh-CN" dirty="0"/>
              <a:t>IFFT</a:t>
            </a:r>
            <a:r>
              <a:rPr lang="zh-CN" altLang="zh-CN" dirty="0"/>
              <a:t>来做</a:t>
            </a:r>
            <a:r>
              <a:rPr lang="en-US" altLang="zh-CN" dirty="0"/>
              <a:t>OFDM</a:t>
            </a:r>
            <a:r>
              <a:rPr lang="zh-CN" altLang="zh-CN" dirty="0"/>
              <a:t>，</a:t>
            </a:r>
            <a:r>
              <a:rPr lang="en-US" altLang="zh-CN" dirty="0"/>
              <a:t>IFFT</a:t>
            </a:r>
            <a:r>
              <a:rPr lang="zh-CN" altLang="zh-CN" dirty="0"/>
              <a:t>的过程即可将信号调制到正交载波上</a:t>
            </a:r>
          </a:p>
        </p:txBody>
      </p:sp>
      <p:pic>
        <p:nvPicPr>
          <p:cNvPr id="8" name="Picture 15" descr="易思达白字 png">
            <a:extLst>
              <a:ext uri="{FF2B5EF4-FFF2-40B4-BE49-F238E27FC236}">
                <a16:creationId xmlns:a16="http://schemas.microsoft.com/office/drawing/2014/main" id="{335E7722-8200-B2D6-5C5D-A00AAA74E147}"/>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3820D614-499B-DEC3-8A79-2DF3488865F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BD5AE558-E09E-7C4A-1F1A-BFFB05B27258}"/>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1DF08A3A-72E9-3D18-8461-3804A9442F4C}"/>
              </a:ext>
            </a:extLst>
          </p:cNvPr>
          <p:cNvPicPr>
            <a:picLocks noChangeAspect="1"/>
          </p:cNvPicPr>
          <p:nvPr/>
        </p:nvPicPr>
        <p:blipFill>
          <a:blip r:embed="rId6"/>
          <a:stretch>
            <a:fillRect/>
          </a:stretch>
        </p:blipFill>
        <p:spPr>
          <a:xfrm>
            <a:off x="1777492" y="2233672"/>
            <a:ext cx="8466667" cy="438095"/>
          </a:xfrm>
          <a:prstGeom prst="rect">
            <a:avLst/>
          </a:prstGeom>
        </p:spPr>
      </p:pic>
      <p:pic>
        <p:nvPicPr>
          <p:cNvPr id="10" name="图片 9">
            <a:extLst>
              <a:ext uri="{FF2B5EF4-FFF2-40B4-BE49-F238E27FC236}">
                <a16:creationId xmlns:a16="http://schemas.microsoft.com/office/drawing/2014/main" id="{921F97C9-120C-A998-FED8-24DBCDD44B5D}"/>
              </a:ext>
            </a:extLst>
          </p:cNvPr>
          <p:cNvPicPr>
            <a:picLocks noChangeAspect="1"/>
          </p:cNvPicPr>
          <p:nvPr/>
        </p:nvPicPr>
        <p:blipFill>
          <a:blip r:embed="rId7"/>
          <a:stretch>
            <a:fillRect/>
          </a:stretch>
        </p:blipFill>
        <p:spPr>
          <a:xfrm>
            <a:off x="1099866" y="3193774"/>
            <a:ext cx="9895238" cy="904762"/>
          </a:xfrm>
          <a:prstGeom prst="rect">
            <a:avLst/>
          </a:prstGeom>
        </p:spPr>
      </p:pic>
      <p:pic>
        <p:nvPicPr>
          <p:cNvPr id="12" name="图片 11">
            <a:extLst>
              <a:ext uri="{FF2B5EF4-FFF2-40B4-BE49-F238E27FC236}">
                <a16:creationId xmlns:a16="http://schemas.microsoft.com/office/drawing/2014/main" id="{77070C3B-06F6-BE76-7231-E800B3A2AF83}"/>
              </a:ext>
            </a:extLst>
          </p:cNvPr>
          <p:cNvPicPr>
            <a:picLocks noChangeAspect="1"/>
          </p:cNvPicPr>
          <p:nvPr/>
        </p:nvPicPr>
        <p:blipFill>
          <a:blip r:embed="rId8"/>
          <a:stretch>
            <a:fillRect/>
          </a:stretch>
        </p:blipFill>
        <p:spPr>
          <a:xfrm>
            <a:off x="2749550" y="4670901"/>
            <a:ext cx="7847619" cy="1152381"/>
          </a:xfrm>
          <a:prstGeom prst="rect">
            <a:avLst/>
          </a:prstGeom>
        </p:spPr>
      </p:pic>
    </p:spTree>
    <p:extLst>
      <p:ext uri="{BB962C8B-B14F-4D97-AF65-F5344CB8AC3E}">
        <p14:creationId xmlns:p14="http://schemas.microsoft.com/office/powerpoint/2010/main" val="29759242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E54F4-EEA0-FB8C-F347-0C3D448A2E8B}"/>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E2E16E0-CD51-9093-2882-5CF702FE7C29}"/>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C28DA06B-1A37-7C82-2E8D-CCBFC0A7B9D6}"/>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9B96144-ADA0-0D7D-2564-AD9488B29F59}"/>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819D5B4D-C898-8550-3E72-12835B7D7EDF}"/>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F6A1A131-A0E5-9479-10F6-CC6613952FFA}"/>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BB481739-7F92-C0C5-B2FA-545C7A8EA896}"/>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E9034DC3-4319-4B48-EE45-D0D879FD7537}"/>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B65F6D86-9F35-F603-F9DA-8DDA4B59CD68}"/>
              </a:ext>
            </a:extLst>
          </p:cNvPr>
          <p:cNvSpPr txBox="1"/>
          <p:nvPr/>
        </p:nvSpPr>
        <p:spPr>
          <a:xfrm>
            <a:off x="621432" y="943575"/>
            <a:ext cx="4714243" cy="3828612"/>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添加</a:t>
            </a:r>
            <a:r>
              <a:rPr lang="en-US" altLang="zh-CN" sz="2000" b="1" dirty="0">
                <a:latin typeface="+mn-ea"/>
                <a:cs typeface="Times New Roman" panose="02020603050405020304" pitchFamily="18" charset="0"/>
              </a:rPr>
              <a:t>CP</a:t>
            </a:r>
          </a:p>
          <a:p>
            <a:pPr>
              <a:lnSpc>
                <a:spcPct val="150000"/>
              </a:lnSpc>
            </a:pPr>
            <a:r>
              <a:rPr lang="en-US" altLang="zh-CN" dirty="0"/>
              <a:t>    </a:t>
            </a:r>
            <a:r>
              <a:rPr lang="zh-CN" altLang="en-US" dirty="0"/>
              <a:t>加</a:t>
            </a:r>
            <a:r>
              <a:rPr lang="en-US" altLang="zh-CN" dirty="0"/>
              <a:t>CP</a:t>
            </a:r>
            <a:r>
              <a:rPr lang="zh-CN" altLang="en-US" dirty="0"/>
              <a:t>，当信道的冲激相应长度小于</a:t>
            </a:r>
            <a:r>
              <a:rPr lang="en-US" altLang="zh-CN" dirty="0"/>
              <a:t>CP</a:t>
            </a:r>
            <a:r>
              <a:rPr lang="zh-CN" altLang="en-US" dirty="0"/>
              <a:t>的长度时，延时的前一个符号没有机会进入后一个符号的区间来影响，从而可以消除码间串扰</a:t>
            </a:r>
            <a:endParaRPr lang="en-US" altLang="zh-CN" dirty="0"/>
          </a:p>
          <a:p>
            <a:pPr>
              <a:lnSpc>
                <a:spcPct val="150000"/>
              </a:lnSpc>
            </a:pPr>
            <a:r>
              <a:rPr lang="en-US" altLang="zh-CN" dirty="0"/>
              <a:t>    LTE</a:t>
            </a:r>
            <a:r>
              <a:rPr lang="zh-CN" altLang="en-US" dirty="0"/>
              <a:t>的一个时隙是</a:t>
            </a:r>
            <a:r>
              <a:rPr lang="en-US" altLang="zh-CN" dirty="0"/>
              <a:t>0.5ms</a:t>
            </a:r>
            <a:r>
              <a:rPr lang="zh-CN" altLang="en-US" dirty="0"/>
              <a:t>，对应的采样点是</a:t>
            </a:r>
            <a:r>
              <a:rPr lang="en-US" altLang="zh-CN" dirty="0"/>
              <a:t>15360</a:t>
            </a:r>
            <a:r>
              <a:rPr lang="zh-CN" altLang="en-US" dirty="0"/>
              <a:t>。一个时隙是</a:t>
            </a:r>
            <a:r>
              <a:rPr lang="en-US" altLang="zh-CN" dirty="0"/>
              <a:t>7</a:t>
            </a:r>
            <a:r>
              <a:rPr lang="zh-CN" altLang="en-US" dirty="0"/>
              <a:t>个</a:t>
            </a:r>
            <a:r>
              <a:rPr lang="en-US" altLang="zh-CN" dirty="0"/>
              <a:t>OFDM</a:t>
            </a:r>
            <a:r>
              <a:rPr lang="zh-CN" altLang="en-US" dirty="0"/>
              <a:t>符号，一个</a:t>
            </a:r>
            <a:r>
              <a:rPr lang="en-US" altLang="zh-CN" dirty="0"/>
              <a:t>OFDM</a:t>
            </a:r>
            <a:r>
              <a:rPr lang="zh-CN" altLang="en-US" dirty="0"/>
              <a:t>符号是</a:t>
            </a:r>
            <a:r>
              <a:rPr lang="en-US" altLang="zh-CN" dirty="0"/>
              <a:t>2048</a:t>
            </a:r>
            <a:r>
              <a:rPr lang="zh-CN" altLang="en-US" dirty="0"/>
              <a:t>个样点。</a:t>
            </a:r>
            <a:r>
              <a:rPr lang="en-US" altLang="zh-CN" dirty="0"/>
              <a:t>15360-2048*7</a:t>
            </a:r>
            <a:r>
              <a:rPr lang="zh-CN" altLang="en-US" dirty="0"/>
              <a:t>即为</a:t>
            </a:r>
            <a:r>
              <a:rPr lang="en-US" altLang="zh-CN" dirty="0"/>
              <a:t>CP</a:t>
            </a:r>
            <a:r>
              <a:rPr lang="zh-CN" altLang="en-US" dirty="0"/>
              <a:t>点数。具体每个符号</a:t>
            </a:r>
            <a:r>
              <a:rPr lang="en-US" altLang="zh-CN" dirty="0"/>
              <a:t>CP</a:t>
            </a:r>
            <a:r>
              <a:rPr lang="zh-CN" altLang="en-US" dirty="0"/>
              <a:t>的点数如图</a:t>
            </a:r>
            <a:endParaRPr lang="en-US" altLang="zh-CN" dirty="0"/>
          </a:p>
        </p:txBody>
      </p:sp>
      <p:pic>
        <p:nvPicPr>
          <p:cNvPr id="8" name="Picture 15" descr="易思达白字 png">
            <a:extLst>
              <a:ext uri="{FF2B5EF4-FFF2-40B4-BE49-F238E27FC236}">
                <a16:creationId xmlns:a16="http://schemas.microsoft.com/office/drawing/2014/main" id="{32ABBF18-7814-0CC5-CFC8-2B880ED1B364}"/>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53529C41-5F3D-3CFC-0796-D608C1AFEC17}"/>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E135B9B1-D2C4-D178-3AA5-E8FF6DA060BC}"/>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 name="图片 2">
            <a:extLst>
              <a:ext uri="{FF2B5EF4-FFF2-40B4-BE49-F238E27FC236}">
                <a16:creationId xmlns:a16="http://schemas.microsoft.com/office/drawing/2014/main" id="{9CD6F5E0-6B43-E6C6-F42D-D01C0F901794}"/>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6292599" y="513613"/>
            <a:ext cx="5026651" cy="2004733"/>
          </a:xfrm>
          <a:prstGeom prst="rect">
            <a:avLst/>
          </a:prstGeom>
          <a:noFill/>
          <a:ln>
            <a:noFill/>
          </a:ln>
        </p:spPr>
      </p:pic>
      <p:pic>
        <p:nvPicPr>
          <p:cNvPr id="11" name="图片 10">
            <a:extLst>
              <a:ext uri="{FF2B5EF4-FFF2-40B4-BE49-F238E27FC236}">
                <a16:creationId xmlns:a16="http://schemas.microsoft.com/office/drawing/2014/main" id="{A66B5064-4241-19DF-3F33-724DC2985F50}"/>
              </a:ext>
            </a:extLst>
          </p:cNvPr>
          <p:cNvPicPr>
            <a:picLocks noChangeAspect="1"/>
          </p:cNvPicPr>
          <p:nvPr/>
        </p:nvPicPr>
        <p:blipFill>
          <a:blip r:embed="rId7"/>
          <a:stretch>
            <a:fillRect/>
          </a:stretch>
        </p:blipFill>
        <p:spPr>
          <a:xfrm>
            <a:off x="6375519" y="2851371"/>
            <a:ext cx="4943731" cy="1223125"/>
          </a:xfrm>
          <a:prstGeom prst="rect">
            <a:avLst/>
          </a:prstGeom>
        </p:spPr>
      </p:pic>
      <p:pic>
        <p:nvPicPr>
          <p:cNvPr id="13" name="图片 12" descr="IMG_256">
            <a:extLst>
              <a:ext uri="{FF2B5EF4-FFF2-40B4-BE49-F238E27FC236}">
                <a16:creationId xmlns:a16="http://schemas.microsoft.com/office/drawing/2014/main" id="{C130D624-EA1A-B77A-8AD3-41816CDAE8EE}"/>
              </a:ext>
            </a:extLst>
          </p:cNvPr>
          <p:cNvPicPr>
            <a:picLocks noChangeAspect="1"/>
          </p:cNvPicPr>
          <p:nvPr/>
        </p:nvPicPr>
        <p:blipFill>
          <a:blip r:embed="rId8"/>
          <a:srcRect b="13457"/>
          <a:stretch>
            <a:fillRect/>
          </a:stretch>
        </p:blipFill>
        <p:spPr>
          <a:xfrm>
            <a:off x="6010826" y="4101967"/>
            <a:ext cx="5723200" cy="2390320"/>
          </a:xfrm>
          <a:prstGeom prst="rect">
            <a:avLst/>
          </a:prstGeom>
          <a:noFill/>
          <a:ln w="9525">
            <a:noFill/>
          </a:ln>
        </p:spPr>
      </p:pic>
    </p:spTree>
    <p:extLst>
      <p:ext uri="{BB962C8B-B14F-4D97-AF65-F5344CB8AC3E}">
        <p14:creationId xmlns:p14="http://schemas.microsoft.com/office/powerpoint/2010/main" val="17481215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DD8A7-7BDE-33FD-88F0-298176673017}"/>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2C57741C-0647-C8AE-9297-18685BD8D07B}"/>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8E79A9AF-29C4-2694-0141-FAFB69E9405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79CEE5D-EDAB-2C8A-F55E-8F52048E58F2}"/>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AB0C768A-C431-26FC-1B3E-817E1DC389D7}"/>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4211BE6E-E32F-B10A-C79F-4F501124B042}"/>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B155DDD6-5843-1B3D-A472-9145E293ABAE}"/>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4D28602-EB7D-0288-EBD5-18F1398D3B7A}"/>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474FE025-53DC-4619-37D5-E97CE3A5FF08}"/>
              </a:ext>
            </a:extLst>
          </p:cNvPr>
          <p:cNvSpPr txBox="1"/>
          <p:nvPr/>
        </p:nvSpPr>
        <p:spPr>
          <a:xfrm>
            <a:off x="621432" y="943575"/>
            <a:ext cx="10778789" cy="4242187"/>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去</a:t>
            </a:r>
            <a:r>
              <a:rPr lang="en-US" altLang="zh-CN" sz="2000" b="1" dirty="0">
                <a:latin typeface="+mn-ea"/>
                <a:cs typeface="Times New Roman" panose="02020603050405020304" pitchFamily="18" charset="0"/>
              </a:rPr>
              <a:t>CP</a:t>
            </a:r>
          </a:p>
          <a:p>
            <a:pPr>
              <a:lnSpc>
                <a:spcPct val="150000"/>
              </a:lnSpc>
            </a:pPr>
            <a:r>
              <a:rPr lang="en-US" altLang="zh-CN" dirty="0"/>
              <a:t>    </a:t>
            </a:r>
            <a:r>
              <a:rPr lang="zh-CN" altLang="en-US" dirty="0"/>
              <a:t>接收端将添加的</a:t>
            </a:r>
            <a:r>
              <a:rPr lang="en-US" altLang="zh-CN" dirty="0"/>
              <a:t>CP</a:t>
            </a:r>
            <a:r>
              <a:rPr lang="zh-CN" altLang="en-US" dirty="0"/>
              <a:t>去掉：</a:t>
            </a:r>
            <a:endParaRPr lang="en-US" altLang="zh-CN" dirty="0"/>
          </a:p>
          <a:p>
            <a:pPr>
              <a:lnSpc>
                <a:spcPct val="150000"/>
              </a:lnSpc>
            </a:pPr>
            <a:r>
              <a:rPr lang="en-US" altLang="zh-CN" dirty="0"/>
              <a:t>    LTE</a:t>
            </a:r>
            <a:r>
              <a:rPr lang="zh-CN" altLang="en-US" dirty="0"/>
              <a:t>的一个时隙是</a:t>
            </a:r>
            <a:r>
              <a:rPr lang="en-US" altLang="zh-CN" dirty="0"/>
              <a:t>0.5ms</a:t>
            </a:r>
            <a:r>
              <a:rPr lang="zh-CN" altLang="en-US" dirty="0"/>
              <a:t>，对应的采样点是</a:t>
            </a:r>
            <a:r>
              <a:rPr lang="en-US" altLang="zh-CN" dirty="0"/>
              <a:t>15360</a:t>
            </a:r>
            <a:r>
              <a:rPr lang="zh-CN" altLang="en-US" dirty="0"/>
              <a:t>。一个时隙是</a:t>
            </a:r>
            <a:r>
              <a:rPr lang="en-US" altLang="zh-CN" dirty="0"/>
              <a:t>7</a:t>
            </a:r>
            <a:r>
              <a:rPr lang="zh-CN" altLang="en-US" dirty="0"/>
              <a:t>个</a:t>
            </a:r>
            <a:r>
              <a:rPr lang="en-US" altLang="zh-CN" dirty="0"/>
              <a:t>OFDM</a:t>
            </a:r>
            <a:r>
              <a:rPr lang="zh-CN" altLang="en-US" dirty="0"/>
              <a:t>符号，一个</a:t>
            </a:r>
            <a:r>
              <a:rPr lang="en-US" altLang="zh-CN" dirty="0"/>
              <a:t>OFDM</a:t>
            </a:r>
            <a:r>
              <a:rPr lang="zh-CN" altLang="en-US" dirty="0"/>
              <a:t>符号是</a:t>
            </a:r>
            <a:r>
              <a:rPr lang="en-US" altLang="zh-CN" dirty="0"/>
              <a:t>2048</a:t>
            </a:r>
            <a:r>
              <a:rPr lang="zh-CN" altLang="en-US" dirty="0"/>
              <a:t>个样点。</a:t>
            </a:r>
            <a:r>
              <a:rPr lang="en-US" altLang="zh-CN" dirty="0"/>
              <a:t>15360-2048*7</a:t>
            </a:r>
            <a:r>
              <a:rPr lang="zh-CN" altLang="en-US" dirty="0"/>
              <a:t>即为</a:t>
            </a:r>
            <a:r>
              <a:rPr lang="en-US" altLang="zh-CN" dirty="0"/>
              <a:t>CP</a:t>
            </a:r>
            <a:r>
              <a:rPr lang="zh-CN" altLang="en-US" dirty="0"/>
              <a:t>点数。具体每个符号</a:t>
            </a:r>
            <a:r>
              <a:rPr lang="en-US" altLang="zh-CN" dirty="0"/>
              <a:t>CP</a:t>
            </a:r>
            <a:r>
              <a:rPr lang="zh-CN" altLang="en-US" dirty="0"/>
              <a:t>的点数如表</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zh-CN" dirty="0"/>
              <a:t>去</a:t>
            </a:r>
            <a:r>
              <a:rPr lang="en-US" altLang="zh-CN" dirty="0"/>
              <a:t>CP</a:t>
            </a:r>
            <a:r>
              <a:rPr lang="zh-CN" altLang="zh-CN" dirty="0"/>
              <a:t>的过程就是将每个符号加入的前缀数据去掉，还原出</a:t>
            </a:r>
            <a:r>
              <a:rPr lang="en-US" altLang="zh-CN" dirty="0"/>
              <a:t>IFFT</a:t>
            </a:r>
            <a:r>
              <a:rPr lang="zh-CN" altLang="zh-CN" dirty="0"/>
              <a:t>后数据</a:t>
            </a:r>
            <a:endParaRPr lang="en-US" altLang="zh-CN" dirty="0"/>
          </a:p>
        </p:txBody>
      </p:sp>
      <p:pic>
        <p:nvPicPr>
          <p:cNvPr id="8" name="Picture 15" descr="易思达白字 png">
            <a:extLst>
              <a:ext uri="{FF2B5EF4-FFF2-40B4-BE49-F238E27FC236}">
                <a16:creationId xmlns:a16="http://schemas.microsoft.com/office/drawing/2014/main" id="{8827878E-0F10-A80F-A72B-A1C4FD527CE0}"/>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F1603B88-2C6C-5757-4A3B-1AC6575AD130}"/>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023DFA69-4411-95CE-E417-0F7CCD2D51DA}"/>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6" name="图片 5">
            <a:extLst>
              <a:ext uri="{FF2B5EF4-FFF2-40B4-BE49-F238E27FC236}">
                <a16:creationId xmlns:a16="http://schemas.microsoft.com/office/drawing/2014/main" id="{11AD5B07-7B68-E25C-72AC-7858B03B4BCC}"/>
              </a:ext>
            </a:extLst>
          </p:cNvPr>
          <p:cNvPicPr>
            <a:picLocks noChangeAspect="1"/>
          </p:cNvPicPr>
          <p:nvPr/>
        </p:nvPicPr>
        <p:blipFill>
          <a:blip r:embed="rId6"/>
          <a:stretch>
            <a:fillRect/>
          </a:stretch>
        </p:blipFill>
        <p:spPr>
          <a:xfrm>
            <a:off x="1931547" y="2763741"/>
            <a:ext cx="7432372" cy="1888645"/>
          </a:xfrm>
          <a:prstGeom prst="rect">
            <a:avLst/>
          </a:prstGeom>
        </p:spPr>
      </p:pic>
    </p:spTree>
    <p:extLst>
      <p:ext uri="{BB962C8B-B14F-4D97-AF65-F5344CB8AC3E}">
        <p14:creationId xmlns:p14="http://schemas.microsoft.com/office/powerpoint/2010/main" val="113349834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42F8-1CDA-F213-6127-67B2C0A0CFA4}"/>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5EF8F5FE-F0B2-9735-758B-DEE3FCDFC529}"/>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5E29B018-E63A-8DB3-86AE-CE80098F2929}"/>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49B5049-88F4-72FC-0DB3-3DFF00579A51}"/>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2CC88975-8AD9-A99E-C214-90F88B037FCC}"/>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9808F425-B54D-EB39-7C05-17466ABAD22E}"/>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15A66670-22A6-F80B-4751-29F4B2B54D39}"/>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09452F1D-88A7-A1C9-E117-478B1050CB81}"/>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20D02C24-47CE-603E-EB16-E034CB6E425B}"/>
              </a:ext>
            </a:extLst>
          </p:cNvPr>
          <p:cNvSpPr txBox="1"/>
          <p:nvPr/>
        </p:nvSpPr>
        <p:spPr>
          <a:xfrm>
            <a:off x="621432" y="943575"/>
            <a:ext cx="10778789" cy="2582117"/>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14</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时域转频域</a:t>
            </a:r>
            <a:endParaRPr lang="en-US" altLang="zh-CN" sz="2000" b="1" dirty="0">
              <a:latin typeface="+mn-ea"/>
              <a:cs typeface="Times New Roman" panose="02020603050405020304" pitchFamily="18" charset="0"/>
            </a:endParaRPr>
          </a:p>
          <a:p>
            <a:pPr>
              <a:lnSpc>
                <a:spcPct val="150000"/>
              </a:lnSpc>
            </a:pPr>
            <a:r>
              <a:rPr lang="en-US" altLang="zh-CN" dirty="0"/>
              <a:t>    </a:t>
            </a:r>
            <a:r>
              <a:rPr lang="zh-CN" altLang="zh-CN" dirty="0"/>
              <a:t>在</a:t>
            </a:r>
            <a:r>
              <a:rPr lang="en-US" altLang="zh-CN" dirty="0"/>
              <a:t>IFFT</a:t>
            </a:r>
            <a:r>
              <a:rPr lang="zh-CN" altLang="zh-CN" dirty="0"/>
              <a:t>实现</a:t>
            </a:r>
            <a:r>
              <a:rPr lang="en-US" altLang="zh-CN" dirty="0"/>
              <a:t>OFDM</a:t>
            </a:r>
            <a:r>
              <a:rPr lang="zh-CN" altLang="zh-CN" dirty="0"/>
              <a:t>中，发送端添加了</a:t>
            </a:r>
            <a:r>
              <a:rPr lang="en-US" altLang="zh-CN" dirty="0"/>
              <a:t>IFFT</a:t>
            </a:r>
            <a:r>
              <a:rPr lang="zh-CN" altLang="zh-CN" dirty="0"/>
              <a:t>模块、接收端添加了</a:t>
            </a:r>
            <a:r>
              <a:rPr lang="en-US" altLang="zh-CN" dirty="0"/>
              <a:t>FFT</a:t>
            </a:r>
            <a:r>
              <a:rPr lang="zh-CN" altLang="zh-CN" dirty="0"/>
              <a:t>模块。</a:t>
            </a:r>
            <a:r>
              <a:rPr lang="en-US" altLang="zh-CN" dirty="0"/>
              <a:t>IFFT</a:t>
            </a:r>
            <a:r>
              <a:rPr lang="zh-CN" altLang="zh-CN" dirty="0"/>
              <a:t>模块的功能相当于说：别麻烦发送</a:t>
            </a:r>
            <a:r>
              <a:rPr lang="en-US" altLang="zh-CN" dirty="0"/>
              <a:t>N</a:t>
            </a:r>
            <a:r>
              <a:rPr lang="zh-CN" altLang="zh-CN" dirty="0"/>
              <a:t>个子载波信号了，我直接算出你们在空中会叠加成啥样子吧；</a:t>
            </a:r>
            <a:r>
              <a:rPr lang="en-US" altLang="zh-CN" dirty="0"/>
              <a:t>FFT</a:t>
            </a:r>
            <a:r>
              <a:rPr lang="zh-CN" altLang="zh-CN" dirty="0"/>
              <a:t>模块的功能相当于说：别用老式的积分方法来去除其余的正交子载波了，我帮你一次把</a:t>
            </a:r>
            <a:r>
              <a:rPr lang="en-US" altLang="zh-CN" dirty="0"/>
              <a:t>N</a:t>
            </a:r>
            <a:r>
              <a:rPr lang="zh-CN" altLang="zh-CN" dirty="0"/>
              <a:t>个携带信号全算出来吧。就是这样，</a:t>
            </a:r>
            <a:r>
              <a:rPr lang="en-US" altLang="zh-CN" dirty="0"/>
              <a:t>IFFT</a:t>
            </a:r>
            <a:r>
              <a:rPr lang="zh-CN" altLang="zh-CN" dirty="0"/>
              <a:t>实现</a:t>
            </a:r>
            <a:r>
              <a:rPr lang="en-US" altLang="zh-CN" dirty="0"/>
              <a:t>OFDM</a:t>
            </a:r>
            <a:r>
              <a:rPr lang="zh-CN" altLang="zh-CN" dirty="0"/>
              <a:t>的系统用</a:t>
            </a:r>
            <a:r>
              <a:rPr lang="en-US" altLang="zh-CN" dirty="0"/>
              <a:t>”</a:t>
            </a:r>
            <a:r>
              <a:rPr lang="zh-CN" altLang="zh-CN" dirty="0"/>
              <a:t>数学的方法</a:t>
            </a:r>
            <a:r>
              <a:rPr lang="en-US" altLang="zh-CN" dirty="0"/>
              <a:t>“</a:t>
            </a:r>
            <a:r>
              <a:rPr lang="zh-CN" altLang="zh-CN" dirty="0"/>
              <a:t>，在发送端计算信号的叠加波形，在接收端去除正交子载波，从而大大简化了系统的复杂度</a:t>
            </a:r>
            <a:endParaRPr lang="en-US" altLang="zh-CN" dirty="0"/>
          </a:p>
        </p:txBody>
      </p:sp>
      <p:pic>
        <p:nvPicPr>
          <p:cNvPr id="8" name="Picture 15" descr="易思达白字 png">
            <a:extLst>
              <a:ext uri="{FF2B5EF4-FFF2-40B4-BE49-F238E27FC236}">
                <a16:creationId xmlns:a16="http://schemas.microsoft.com/office/drawing/2014/main" id="{493FFF1A-1112-6A33-CEF3-A0F48D88A726}"/>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8D376E3B-0773-E9A7-C46C-5BFD8C61CE7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B7E6AD42-A314-D094-E941-FAD40CE4DA1B}"/>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34206090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7FF8F-9B7F-2CAC-4732-BFD71A41FB5C}"/>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C1B43F70-BF9F-DAAF-C913-2A37A8610DCF}"/>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65720CA3-4CDE-7830-41FD-9B46F4DDA87E}"/>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5EADFB2-9408-BD5B-F18F-230C8C4DAA77}"/>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5625A0F0-7294-A879-C1CF-1DDFDF1E040C}"/>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20F5FFAC-9F1B-13A2-4329-9160187CDE73}"/>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FFED6301-D4B3-7A3A-25B1-90DD01083290}"/>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A57C7B0E-9632-0870-8162-E01F4401ECCC}"/>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CF7686C2-EC2F-33C9-2B26-F1BB038331C4}"/>
              </a:ext>
            </a:extLst>
          </p:cNvPr>
          <p:cNvSpPr txBox="1"/>
          <p:nvPr/>
        </p:nvSpPr>
        <p:spPr>
          <a:xfrm>
            <a:off x="621432" y="943575"/>
            <a:ext cx="10778789" cy="175112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15</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解资源映射</a:t>
            </a:r>
            <a:endParaRPr lang="en-US" altLang="zh-CN" sz="2000" b="1" dirty="0">
              <a:latin typeface="+mn-ea"/>
              <a:cs typeface="Times New Roman" panose="02020603050405020304" pitchFamily="18" charset="0"/>
            </a:endParaRPr>
          </a:p>
          <a:p>
            <a:pPr>
              <a:lnSpc>
                <a:spcPct val="150000"/>
              </a:lnSpc>
            </a:pPr>
            <a:r>
              <a:rPr lang="en-US" altLang="zh-CN" dirty="0"/>
              <a:t>    LTE</a:t>
            </a:r>
            <a:r>
              <a:rPr lang="zh-CN" altLang="zh-CN" dirty="0"/>
              <a:t>资源映射是将调制后的有用复值数据和导频数据映射到</a:t>
            </a:r>
            <a:r>
              <a:rPr lang="en-US" altLang="zh-CN" dirty="0"/>
              <a:t>14</a:t>
            </a:r>
            <a:r>
              <a:rPr lang="zh-CN" altLang="zh-CN" dirty="0"/>
              <a:t>个符号上，其中有用数据占用</a:t>
            </a:r>
            <a:r>
              <a:rPr lang="en-US" altLang="zh-CN" dirty="0"/>
              <a:t>12</a:t>
            </a:r>
            <a:r>
              <a:rPr lang="zh-CN" altLang="zh-CN" dirty="0"/>
              <a:t>个符号，导频占用</a:t>
            </a:r>
            <a:r>
              <a:rPr lang="en-US" altLang="zh-CN" dirty="0"/>
              <a:t>2</a:t>
            </a:r>
            <a:r>
              <a:rPr lang="zh-CN" altLang="zh-CN" dirty="0"/>
              <a:t>个符号，解资源映射是将接收到的符号数据中的复值数据和导频数据恢复并去掉</a:t>
            </a:r>
            <a:r>
              <a:rPr lang="en-US" altLang="zh-CN" dirty="0"/>
              <a:t>IFFT</a:t>
            </a:r>
            <a:r>
              <a:rPr lang="zh-CN" altLang="zh-CN" dirty="0"/>
              <a:t>处理时填充的</a:t>
            </a:r>
            <a:r>
              <a:rPr lang="en-US" altLang="zh-CN" dirty="0"/>
              <a:t>0</a:t>
            </a:r>
            <a:r>
              <a:rPr lang="zh-CN" altLang="zh-CN" dirty="0"/>
              <a:t>数据</a:t>
            </a:r>
            <a:endParaRPr lang="en-US" altLang="zh-CN" dirty="0"/>
          </a:p>
        </p:txBody>
      </p:sp>
      <p:pic>
        <p:nvPicPr>
          <p:cNvPr id="8" name="Picture 15" descr="易思达白字 png">
            <a:extLst>
              <a:ext uri="{FF2B5EF4-FFF2-40B4-BE49-F238E27FC236}">
                <a16:creationId xmlns:a16="http://schemas.microsoft.com/office/drawing/2014/main" id="{F023B5A8-D0E5-D118-64E5-E0D4C6F79F84}"/>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0B4CC7F6-2600-5205-8DE9-D99159903807}"/>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1011382B-5EF0-2CDC-CCCB-7E718A18F4F8}"/>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71031587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50B32-2907-0915-677F-92CACA85188B}"/>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156711D0-0B7C-CCDE-71AA-FD93B67DD218}"/>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1B0F0106-7CD5-1B51-BF4E-16D02FF2C67C}"/>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6D14812-511C-55A9-AED0-57DD1A76D63A}"/>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679D8451-30C5-3692-7E2A-82D501D63587}"/>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C51D829F-6BEB-D0B8-BDDC-9B1484FA1DEC}"/>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0AB43755-D4B4-8690-4B12-9D113B3C86DD}"/>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98C72A8A-A3EB-DBFE-BA6E-200B48D79E63}"/>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3EDC4F14-ACD3-17CA-6F77-A27347660016}"/>
              </a:ext>
            </a:extLst>
          </p:cNvPr>
          <p:cNvSpPr txBox="1"/>
          <p:nvPr/>
        </p:nvSpPr>
        <p:spPr>
          <a:xfrm>
            <a:off x="621432" y="943575"/>
            <a:ext cx="10778789" cy="91820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16</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信道估计与均衡</a:t>
            </a:r>
            <a:endParaRPr lang="en-US" altLang="zh-CN" sz="2000" b="1" dirty="0">
              <a:latin typeface="+mn-ea"/>
              <a:cs typeface="Times New Roman" panose="02020603050405020304" pitchFamily="18" charset="0"/>
            </a:endParaRPr>
          </a:p>
          <a:p>
            <a:pPr>
              <a:lnSpc>
                <a:spcPct val="150000"/>
              </a:lnSpc>
            </a:pPr>
            <a:r>
              <a:rPr lang="en-US" altLang="zh-CN" dirty="0"/>
              <a:t>    </a:t>
            </a:r>
          </a:p>
        </p:txBody>
      </p:sp>
      <p:pic>
        <p:nvPicPr>
          <p:cNvPr id="8" name="Picture 15" descr="易思达白字 png">
            <a:extLst>
              <a:ext uri="{FF2B5EF4-FFF2-40B4-BE49-F238E27FC236}">
                <a16:creationId xmlns:a16="http://schemas.microsoft.com/office/drawing/2014/main" id="{CA478804-A82B-8A88-0B00-1E259505609C}"/>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6059789E-04ED-4AFD-0D80-AB296A9BC1B6}"/>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92BBAD00-97C6-7276-073B-55F3F1ED6D6E}"/>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5" name="图片 4">
            <a:extLst>
              <a:ext uri="{FF2B5EF4-FFF2-40B4-BE49-F238E27FC236}">
                <a16:creationId xmlns:a16="http://schemas.microsoft.com/office/drawing/2014/main" id="{C7E60F7C-36AF-B488-EB34-DAB733B6B978}"/>
              </a:ext>
            </a:extLst>
          </p:cNvPr>
          <p:cNvPicPr>
            <a:picLocks noChangeAspect="1"/>
          </p:cNvPicPr>
          <p:nvPr/>
        </p:nvPicPr>
        <p:blipFill>
          <a:blip r:embed="rId6"/>
          <a:stretch>
            <a:fillRect/>
          </a:stretch>
        </p:blipFill>
        <p:spPr>
          <a:xfrm>
            <a:off x="1039929" y="1513148"/>
            <a:ext cx="8918341" cy="1586183"/>
          </a:xfrm>
          <a:prstGeom prst="rect">
            <a:avLst/>
          </a:prstGeom>
        </p:spPr>
      </p:pic>
      <p:pic>
        <p:nvPicPr>
          <p:cNvPr id="10" name="图片 9">
            <a:extLst>
              <a:ext uri="{FF2B5EF4-FFF2-40B4-BE49-F238E27FC236}">
                <a16:creationId xmlns:a16="http://schemas.microsoft.com/office/drawing/2014/main" id="{5B03048D-8D26-87A1-0117-5CD2B2046E67}"/>
              </a:ext>
            </a:extLst>
          </p:cNvPr>
          <p:cNvPicPr>
            <a:picLocks noChangeAspect="1"/>
          </p:cNvPicPr>
          <p:nvPr/>
        </p:nvPicPr>
        <p:blipFill>
          <a:blip r:embed="rId7"/>
          <a:stretch>
            <a:fillRect/>
          </a:stretch>
        </p:blipFill>
        <p:spPr>
          <a:xfrm>
            <a:off x="1187881" y="3354972"/>
            <a:ext cx="8361905" cy="3142857"/>
          </a:xfrm>
          <a:prstGeom prst="rect">
            <a:avLst/>
          </a:prstGeom>
        </p:spPr>
      </p:pic>
    </p:spTree>
    <p:extLst>
      <p:ext uri="{BB962C8B-B14F-4D97-AF65-F5344CB8AC3E}">
        <p14:creationId xmlns:p14="http://schemas.microsoft.com/office/powerpoint/2010/main" val="15961455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F2F0A-01EC-B1CC-AB8E-CF7EBC69EAE0}"/>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0A0D0523-2345-85E0-F7ED-09D8105E41A3}"/>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6008C00D-334D-D683-7662-88CD08E9E36F}"/>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331F57E-0E29-CD62-A8E9-9583E948C82F}"/>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DB581D62-0AE6-9EBD-8027-AD7BB53004B5}"/>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0920F38B-DF56-5DF4-A7D6-287A50EA7B05}"/>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D3415DD0-DE65-FC26-B417-18996F33F8EB}"/>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FD66DABC-7C72-0B23-917A-F1D5A1DF32CB}"/>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333180AA-3BE8-C1D9-2533-1317050B76AC}"/>
              </a:ext>
            </a:extLst>
          </p:cNvPr>
          <p:cNvSpPr txBox="1"/>
          <p:nvPr/>
        </p:nvSpPr>
        <p:spPr>
          <a:xfrm>
            <a:off x="621432" y="943575"/>
            <a:ext cx="10778789" cy="4242187"/>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17</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解调</a:t>
            </a:r>
            <a:endParaRPr lang="en-US" altLang="zh-CN" sz="2000" b="1" dirty="0">
              <a:latin typeface="+mn-ea"/>
              <a:cs typeface="Times New Roman" panose="02020603050405020304" pitchFamily="18" charset="0"/>
            </a:endParaRPr>
          </a:p>
          <a:p>
            <a:pPr>
              <a:lnSpc>
                <a:spcPct val="150000"/>
              </a:lnSpc>
            </a:pPr>
            <a:r>
              <a:rPr lang="en-US" altLang="zh-CN" dirty="0"/>
              <a:t>    </a:t>
            </a:r>
            <a:r>
              <a:rPr lang="zh-CN" altLang="zh-CN" dirty="0"/>
              <a:t>数字信息在信道中传输时常常发生错误，接收端必须进行判决以确定发送端发送的是什么码元。通常有下列三种判决方法。</a:t>
            </a:r>
          </a:p>
          <a:p>
            <a:pPr>
              <a:lnSpc>
                <a:spcPct val="150000"/>
              </a:lnSpc>
            </a:pPr>
            <a:r>
              <a:rPr lang="en-US" altLang="zh-CN" dirty="0"/>
              <a:t>    (1)</a:t>
            </a:r>
            <a:r>
              <a:rPr lang="zh-CN" altLang="zh-CN" dirty="0"/>
              <a:t>判决器硬性做出接收符号是</a:t>
            </a:r>
            <a:r>
              <a:rPr lang="en-US" altLang="zh-CN" dirty="0"/>
              <a:t>1</a:t>
            </a:r>
            <a:r>
              <a:rPr lang="zh-CN" altLang="zh-CN" dirty="0"/>
              <a:t>码元还是</a:t>
            </a:r>
            <a:r>
              <a:rPr lang="en-US" altLang="zh-CN" dirty="0"/>
              <a:t>0</a:t>
            </a:r>
            <a:r>
              <a:rPr lang="zh-CN" altLang="zh-CN" dirty="0"/>
              <a:t>码元的判决，这种判决方法称为硬判决。</a:t>
            </a:r>
          </a:p>
          <a:p>
            <a:pPr>
              <a:lnSpc>
                <a:spcPct val="150000"/>
              </a:lnSpc>
            </a:pPr>
            <a:r>
              <a:rPr lang="en-US" altLang="zh-CN" dirty="0"/>
              <a:t>    (2)</a:t>
            </a:r>
            <a:r>
              <a:rPr lang="zh-CN" altLang="zh-CN" dirty="0"/>
              <a:t>判决器对可以做出正确判决的接收符号，分别判决为</a:t>
            </a:r>
            <a:r>
              <a:rPr lang="en-US" altLang="zh-CN" dirty="0"/>
              <a:t> 1</a:t>
            </a:r>
            <a:r>
              <a:rPr lang="zh-CN" altLang="zh-CN" dirty="0"/>
              <a:t>码元或</a:t>
            </a:r>
            <a:r>
              <a:rPr lang="en-US" altLang="zh-CN" dirty="0"/>
              <a:t> 0</a:t>
            </a:r>
            <a:r>
              <a:rPr lang="zh-CN" altLang="zh-CN" dirty="0"/>
              <a:t>码元</a:t>
            </a:r>
            <a:r>
              <a:rPr lang="en-US" altLang="zh-CN" dirty="0"/>
              <a:t>:</a:t>
            </a:r>
            <a:r>
              <a:rPr lang="zh-CN" altLang="zh-CN" dirty="0"/>
              <a:t>对没有把握做 出正确判决的接收符号，暂时搁置起来不做判决，并用“</a:t>
            </a:r>
            <a:r>
              <a:rPr lang="en-US" altLang="zh-CN" dirty="0"/>
              <a:t>X</a:t>
            </a:r>
            <a:r>
              <a:rPr lang="zh-CN" altLang="zh-CN" dirty="0"/>
              <a:t>“表示，称为删除符号。</a:t>
            </a:r>
          </a:p>
          <a:p>
            <a:pPr>
              <a:lnSpc>
                <a:spcPct val="150000"/>
              </a:lnSpc>
            </a:pPr>
            <a:r>
              <a:rPr lang="en-US" altLang="zh-CN" dirty="0"/>
              <a:t>    (3)</a:t>
            </a:r>
            <a:r>
              <a:rPr lang="zh-CN" altLang="zh-CN" dirty="0"/>
              <a:t>判决器在判决接收符号为</a:t>
            </a:r>
            <a:r>
              <a:rPr lang="en-US" altLang="zh-CN" dirty="0"/>
              <a:t>1</a:t>
            </a:r>
            <a:r>
              <a:rPr lang="zh-CN" altLang="zh-CN" dirty="0"/>
              <a:t>码元或</a:t>
            </a:r>
            <a:r>
              <a:rPr lang="en-US" altLang="zh-CN" dirty="0"/>
              <a:t> 0</a:t>
            </a:r>
            <a:r>
              <a:rPr lang="zh-CN" altLang="zh-CN" dirty="0"/>
              <a:t>码元时，同时还附带一个可信程度的指标，这种判决方法称为软判决。</a:t>
            </a:r>
          </a:p>
          <a:p>
            <a:pPr>
              <a:lnSpc>
                <a:spcPct val="150000"/>
              </a:lnSpc>
            </a:pPr>
            <a:r>
              <a:rPr lang="en-US" altLang="zh-CN" dirty="0"/>
              <a:t>    </a:t>
            </a:r>
            <a:r>
              <a:rPr lang="zh-CN" altLang="en-US" dirty="0"/>
              <a:t>发射端采用的调制方式有</a:t>
            </a:r>
            <a:r>
              <a:rPr lang="en-US" altLang="zh-CN" dirty="0"/>
              <a:t>QPSK</a:t>
            </a:r>
            <a:r>
              <a:rPr lang="zh-CN" altLang="en-US" dirty="0"/>
              <a:t>、</a:t>
            </a:r>
            <a:r>
              <a:rPr lang="en-US" altLang="zh-CN" dirty="0"/>
              <a:t>16QAM</a:t>
            </a:r>
            <a:r>
              <a:rPr lang="zh-CN" altLang="en-US" dirty="0"/>
              <a:t>、</a:t>
            </a:r>
            <a:r>
              <a:rPr lang="en-US" altLang="zh-CN" dirty="0"/>
              <a:t>64QAM</a:t>
            </a:r>
            <a:r>
              <a:rPr lang="zh-CN" altLang="en-US" dirty="0"/>
              <a:t>，接收端对应的解调方式也分三种。</a:t>
            </a:r>
            <a:endParaRPr lang="en-US" altLang="zh-CN" dirty="0"/>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8DFB5771-6FA1-F99A-16D2-8CF082FA9CC3}"/>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BDBE6458-4E50-96BD-2F6D-B1EBFC1BAAAF}"/>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C4C986A9-2FD2-F6BC-90D9-DD90B4BEDC98}"/>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77790134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20488-544F-7C8B-4300-EEC61932157E}"/>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8458A164-B364-F1AF-5F42-2E33FE107FD4}"/>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4F6B9A79-F10F-285D-51C1-B341328C3796}"/>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9926C52-6357-F248-3604-036D75335815}"/>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BBEC9D5E-4413-1D94-2ECD-764ACD9E7F48}"/>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E2677E3F-B098-321F-51BF-62ECAEAA5BA0}"/>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71DA8E38-8737-9A3C-1207-DD8A68BA148D}"/>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4D738B23-7A44-EA2D-82CA-F7A03608B48A}"/>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041C37D9-ABD0-9582-D5A2-E0FFDE1BB8F5}"/>
              </a:ext>
            </a:extLst>
          </p:cNvPr>
          <p:cNvSpPr txBox="1"/>
          <p:nvPr/>
        </p:nvSpPr>
        <p:spPr>
          <a:xfrm>
            <a:off x="621432" y="943575"/>
            <a:ext cx="10778789" cy="1333698"/>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17</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解调</a:t>
            </a:r>
            <a:endParaRPr lang="en-US" altLang="zh-CN" sz="2000" b="1" dirty="0">
              <a:latin typeface="+mn-ea"/>
              <a:cs typeface="Times New Roman" panose="02020603050405020304" pitchFamily="18" charset="0"/>
            </a:endParaRPr>
          </a:p>
          <a:p>
            <a:pPr>
              <a:lnSpc>
                <a:spcPct val="150000"/>
              </a:lnSpc>
            </a:pPr>
            <a:r>
              <a:rPr lang="zh-CN" altLang="en-US" dirty="0"/>
              <a:t>发射端采用的调制方式有</a:t>
            </a:r>
            <a:r>
              <a:rPr lang="en-US" altLang="zh-CN" dirty="0"/>
              <a:t>QPSK</a:t>
            </a:r>
            <a:r>
              <a:rPr lang="zh-CN" altLang="en-US" dirty="0"/>
              <a:t>、</a:t>
            </a:r>
            <a:r>
              <a:rPr lang="en-US" altLang="zh-CN" dirty="0"/>
              <a:t>16QAM</a:t>
            </a:r>
            <a:r>
              <a:rPr lang="zh-CN" altLang="en-US" dirty="0"/>
              <a:t>、</a:t>
            </a:r>
            <a:r>
              <a:rPr lang="en-US" altLang="zh-CN" dirty="0"/>
              <a:t>64QAM</a:t>
            </a:r>
            <a:r>
              <a:rPr lang="zh-CN" altLang="en-US" dirty="0"/>
              <a:t>，接收端对应的解调方式也分三种。</a:t>
            </a:r>
            <a:endParaRPr lang="en-US" altLang="zh-CN" dirty="0"/>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B1868D52-1A69-5118-D559-010F002D5516}"/>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9EC8BB57-0A77-E333-6AF4-F5194D20B7DD}"/>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E6F65CFA-4AFA-CB18-8297-05B1FCE96931}"/>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3" name="图片 2">
            <a:extLst>
              <a:ext uri="{FF2B5EF4-FFF2-40B4-BE49-F238E27FC236}">
                <a16:creationId xmlns:a16="http://schemas.microsoft.com/office/drawing/2014/main" id="{DEA9CA4E-E1E2-E1CB-7E0B-3EB07CCA4D06}"/>
              </a:ext>
            </a:extLst>
          </p:cNvPr>
          <p:cNvPicPr>
            <a:picLocks noChangeAspect="1"/>
          </p:cNvPicPr>
          <p:nvPr/>
        </p:nvPicPr>
        <p:blipFill>
          <a:blip r:embed="rId6"/>
          <a:stretch>
            <a:fillRect/>
          </a:stretch>
        </p:blipFill>
        <p:spPr>
          <a:xfrm>
            <a:off x="787096" y="2277273"/>
            <a:ext cx="8999997" cy="3352195"/>
          </a:xfrm>
          <a:prstGeom prst="rect">
            <a:avLst/>
          </a:prstGeom>
          <a:noFill/>
          <a:ln>
            <a:noFill/>
          </a:ln>
        </p:spPr>
      </p:pic>
    </p:spTree>
    <p:extLst>
      <p:ext uri="{BB962C8B-B14F-4D97-AF65-F5344CB8AC3E}">
        <p14:creationId xmlns:p14="http://schemas.microsoft.com/office/powerpoint/2010/main" val="371381541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CE530-D78D-9C86-D5CD-CADBDAA6D331}"/>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F3A8C952-E725-83A4-35E8-FF6733E4F226}"/>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FFA514D9-DACE-B9BF-CFF9-9C6CE991F771}"/>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D5D28B8-AE30-DF64-E5E1-B63069CC4CB6}"/>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701BA556-9B0A-FE35-39E2-1405DC9648E7}"/>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3A99C405-597E-8BDE-53EB-E1F0FCC34BCF}"/>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7A3927E6-B703-2E8E-AB8A-998356584AAE}"/>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33A9748-771B-71DC-EFA8-2F9307EDABC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F7228438-2E81-9969-B816-FA9E0FA37C4B}"/>
              </a:ext>
            </a:extLst>
          </p:cNvPr>
          <p:cNvSpPr txBox="1"/>
          <p:nvPr/>
        </p:nvSpPr>
        <p:spPr>
          <a:xfrm>
            <a:off x="621432" y="943575"/>
            <a:ext cx="10778789" cy="5073184"/>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18</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解扰</a:t>
            </a:r>
            <a:endParaRPr lang="en-US" altLang="zh-CN" sz="2000" b="1" dirty="0">
              <a:latin typeface="+mn-ea"/>
              <a:cs typeface="Times New Roman" panose="02020603050405020304" pitchFamily="18" charset="0"/>
            </a:endParaRPr>
          </a:p>
          <a:p>
            <a:pPr>
              <a:lnSpc>
                <a:spcPct val="150000"/>
              </a:lnSpc>
            </a:pPr>
            <a:r>
              <a:rPr lang="zh-CN" altLang="en-US" dirty="0"/>
              <a:t>    </a:t>
            </a:r>
            <a:r>
              <a:rPr lang="zh-CN" altLang="zh-CN" dirty="0"/>
              <a:t>根据本小区的</a:t>
            </a:r>
            <a:r>
              <a:rPr lang="en-US" altLang="zh-CN" dirty="0"/>
              <a:t>ID</a:t>
            </a:r>
            <a:r>
              <a:rPr lang="zh-CN" altLang="zh-CN" dirty="0"/>
              <a:t>形成的小区专用扰码序列对接收到的本小区内的信息进行解扰，这样可以在一定程度上减小临小区间的干扰这种将干扰进行随机化的方法虽然不能降低干扰的能量，但是能使干扰的特性近似白噪声</a:t>
            </a:r>
            <a:r>
              <a:rPr lang="zh-CN" altLang="en-US" dirty="0"/>
              <a:t>。</a:t>
            </a:r>
            <a:endParaRPr lang="en-US" altLang="zh-CN" dirty="0"/>
          </a:p>
          <a:p>
            <a:pPr>
              <a:lnSpc>
                <a:spcPct val="150000"/>
              </a:lnSpc>
            </a:pPr>
            <a:r>
              <a:rPr lang="zh-CN" altLang="en-US" dirty="0"/>
              <a:t>    接收端解扰流程与发送端加扰逻辑一一对应，确保能精准恢复原始数据：基站或终端先根据自身标识（如小区 </a:t>
            </a:r>
            <a:r>
              <a:rPr lang="en-US" altLang="zh-CN" dirty="0"/>
              <a:t>ID</a:t>
            </a:r>
            <a:r>
              <a:rPr lang="zh-CN" altLang="en-US" dirty="0"/>
              <a:t>、用户 </a:t>
            </a:r>
            <a:r>
              <a:rPr lang="en-US" altLang="zh-CN" dirty="0"/>
              <a:t>RNTI</a:t>
            </a:r>
            <a:r>
              <a:rPr lang="zh-CN" altLang="en-US" dirty="0"/>
              <a:t>）和传输参数（如子帧索引），生成与发送端完全一致的伪随机序列。这是解扰的核心前提，序列一旦不匹配就无法恢复正确数据。</a:t>
            </a:r>
          </a:p>
          <a:p>
            <a:pPr>
              <a:lnSpc>
                <a:spcPct val="150000"/>
              </a:lnSpc>
            </a:pPr>
            <a:r>
              <a:rPr lang="zh-CN" altLang="en-US" dirty="0"/>
              <a:t>    再通过异或运算完成解扰。若接收端先做硬判决解调，直接用接收比特流与伪随机序列异或即可；若先做软判决解调，会把伪随机序列的 </a:t>
            </a:r>
            <a:r>
              <a:rPr lang="en-US" altLang="zh-CN" dirty="0"/>
              <a:t>0 </a:t>
            </a:r>
            <a:r>
              <a:rPr lang="zh-CN" altLang="en-US" dirty="0"/>
              <a:t>映射为 </a:t>
            </a:r>
            <a:r>
              <a:rPr lang="en-US" altLang="zh-CN" dirty="0"/>
              <a:t>1</a:t>
            </a:r>
            <a:r>
              <a:rPr lang="zh-CN" altLang="en-US" dirty="0"/>
              <a:t>、</a:t>
            </a:r>
            <a:r>
              <a:rPr lang="en-US" altLang="zh-CN" dirty="0"/>
              <a:t>1 </a:t>
            </a:r>
            <a:r>
              <a:rPr lang="zh-CN" altLang="en-US" dirty="0"/>
              <a:t>映射为 </a:t>
            </a:r>
            <a:r>
              <a:rPr lang="en-US" altLang="zh-CN" dirty="0"/>
              <a:t>-1</a:t>
            </a:r>
            <a:r>
              <a:rPr lang="zh-CN" altLang="en-US" dirty="0"/>
              <a:t>，再与接收信号的对数似然比相乘，实现解扰。比如接收的扰码流是 “</a:t>
            </a:r>
            <a:r>
              <a:rPr lang="en-US" altLang="zh-CN" dirty="0"/>
              <a:t>1100”</a:t>
            </a:r>
            <a:r>
              <a:rPr lang="zh-CN" altLang="en-US" dirty="0"/>
              <a:t>，对应的伪随机序列是 “</a:t>
            </a:r>
            <a:r>
              <a:rPr lang="en-US" altLang="zh-CN" dirty="0"/>
              <a:t>1010”</a:t>
            </a:r>
            <a:r>
              <a:rPr lang="zh-CN" altLang="en-US" dirty="0"/>
              <a:t>，异或后就能还原出原始的 “</a:t>
            </a:r>
            <a:r>
              <a:rPr lang="en-US" altLang="zh-CN" dirty="0"/>
              <a:t>0110” </a:t>
            </a:r>
            <a:r>
              <a:rPr lang="zh-CN" altLang="en-US" dirty="0"/>
              <a:t>比特流</a:t>
            </a:r>
          </a:p>
          <a:p>
            <a:pPr>
              <a:lnSpc>
                <a:spcPct val="150000"/>
              </a:lnSpc>
            </a:pPr>
            <a:endParaRPr lang="en-US" altLang="zh-CN" dirty="0"/>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7DDC20FF-BEED-A045-C13E-BD5E3A5C7D8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5DCC02B2-4169-750D-2390-9BEF1A526FC7}"/>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FB367252-42BE-8050-3455-8CB2D7C4D059}"/>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7918430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38126-EC7F-2B7A-DDDA-95B4B57032B5}"/>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1D73147E-D49B-AA8A-B5F9-35F4097C0BF4}"/>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156A25B1-837C-4BA9-A3AE-C0A4BD87D54F}"/>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B68EBC6-2925-9D4D-9C09-A7E6F564E330}"/>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782103D7-89AE-B7B0-BC43-EC6D626456D7}"/>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D7F489D8-1FBB-A2B3-8DE1-5D08EFFC45C5}"/>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5758060C-3818-3188-09CB-1311E0BBF9AF}"/>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30451164-CEEA-034E-05E4-E2E8AD8B8175}"/>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5F918767-5C5A-DAD6-E803-F9C7C370905F}"/>
              </a:ext>
            </a:extLst>
          </p:cNvPr>
          <p:cNvSpPr txBox="1"/>
          <p:nvPr/>
        </p:nvSpPr>
        <p:spPr>
          <a:xfrm>
            <a:off x="621432" y="943575"/>
            <a:ext cx="10778789" cy="341119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19</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解交织</a:t>
            </a:r>
            <a:endParaRPr lang="en-US" altLang="zh-CN" sz="2000" b="1" dirty="0">
              <a:latin typeface="+mn-ea"/>
              <a:cs typeface="Times New Roman" panose="02020603050405020304" pitchFamily="18" charset="0"/>
            </a:endParaRPr>
          </a:p>
          <a:p>
            <a:pPr>
              <a:lnSpc>
                <a:spcPct val="150000"/>
              </a:lnSpc>
            </a:pPr>
            <a:r>
              <a:rPr lang="zh-CN" altLang="en-US" dirty="0"/>
              <a:t>    发送端进行了交织操作，接收端会执行对应的解交织流程，恢复数据原始顺序。</a:t>
            </a:r>
            <a:endParaRPr lang="en-US" altLang="zh-CN" dirty="0"/>
          </a:p>
          <a:p>
            <a:pPr>
              <a:lnSpc>
                <a:spcPct val="150000"/>
              </a:lnSpc>
            </a:pPr>
            <a:r>
              <a:rPr lang="en-US" altLang="zh-CN" dirty="0"/>
              <a:t>    </a:t>
            </a:r>
            <a:r>
              <a:rPr lang="zh-CN" altLang="en-US" dirty="0"/>
              <a:t>比如收到子块交织后的码流，会先按列写入 </a:t>
            </a:r>
            <a:r>
              <a:rPr lang="en-US" altLang="zh-CN" dirty="0"/>
              <a:t>32 </a:t>
            </a:r>
            <a:r>
              <a:rPr lang="zh-CN" altLang="en-US" dirty="0"/>
              <a:t>列矩阵，再按行读出，去掉填充比特；遇到 </a:t>
            </a:r>
            <a:r>
              <a:rPr lang="en-US" altLang="zh-CN" dirty="0"/>
              <a:t>QPP </a:t>
            </a:r>
            <a:r>
              <a:rPr lang="zh-CN" altLang="en-US" dirty="0"/>
              <a:t>交织（</a:t>
            </a:r>
            <a:r>
              <a:rPr lang="en-US" altLang="zh-CN" dirty="0"/>
              <a:t>Turbo </a:t>
            </a:r>
            <a:r>
              <a:rPr lang="zh-CN" altLang="en-US" dirty="0"/>
              <a:t>编码内置交织）的码流，则通过与发送端一致的 </a:t>
            </a:r>
            <a:r>
              <a:rPr lang="en-US" altLang="zh-CN" dirty="0"/>
              <a:t>QPP </a:t>
            </a:r>
            <a:r>
              <a:rPr lang="zh-CN" altLang="en-US" dirty="0"/>
              <a:t>算法反向计算，还原比特的原始排列。</a:t>
            </a:r>
            <a:endParaRPr lang="en-US" altLang="zh-CN" dirty="0"/>
          </a:p>
          <a:p>
            <a:pPr>
              <a:lnSpc>
                <a:spcPct val="150000"/>
              </a:lnSpc>
            </a:pPr>
            <a:r>
              <a:rPr lang="en-US" altLang="zh-CN" dirty="0"/>
              <a:t>    </a:t>
            </a:r>
            <a:r>
              <a:rPr lang="zh-CN" altLang="en-US" dirty="0"/>
              <a:t>解交织后，离散的随机错误会变回原来的突发错误模式吗？</a:t>
            </a:r>
            <a:endParaRPr lang="en-US" altLang="zh-CN" dirty="0"/>
          </a:p>
          <a:p>
            <a:pPr>
              <a:lnSpc>
                <a:spcPct val="150000"/>
              </a:lnSpc>
            </a:pPr>
            <a:r>
              <a:rPr lang="en-US" altLang="zh-CN" dirty="0"/>
              <a:t>    </a:t>
            </a:r>
            <a:r>
              <a:rPr lang="zh-CN" altLang="en-US" dirty="0"/>
              <a:t>不会，解交织的核心是让数据回到编码时的顺序，此时之前被分散的错误已变成单个随机错误，正好适配 </a:t>
            </a:r>
            <a:r>
              <a:rPr lang="en-US" altLang="zh-CN" dirty="0"/>
              <a:t>Turbo </a:t>
            </a:r>
            <a:r>
              <a:rPr lang="zh-CN" altLang="en-US" dirty="0"/>
              <a:t>译码器处理随机错误的特性，最终通过迭代译码准确恢复数据</a:t>
            </a:r>
            <a:endParaRPr lang="en-US" altLang="zh-CN" dirty="0"/>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0A7DBFA4-47D0-3E83-DD33-11B4B577480D}"/>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F4C59D36-302B-D947-4CF6-794DE11E4851}"/>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28EB5DB6-1704-18E5-3701-59E0D9B6AFC4}"/>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06719318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8DD68-4DEA-7854-EE30-63ED3EA93745}"/>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394321AE-927E-75F7-C3B9-48D945BD264B}"/>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2FD713AE-C6C3-D59A-FB90-B462F5F7AC2A}"/>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8493F439-23AE-199F-3355-240DDB431442}"/>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37F8CE6F-FE66-AC85-1FF2-D8E746AA7A7D}"/>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1AD63166-FD13-72B8-57A8-81F915E91CC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C437F72C-FDA2-205E-D9FD-8A5A8F7D362B}"/>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4F134486-BB24-F20F-6DE6-A4AE1DF494A0}"/>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298B3294-8036-B97A-1BE3-B7B84C4634D9}"/>
              </a:ext>
            </a:extLst>
          </p:cNvPr>
          <p:cNvSpPr txBox="1"/>
          <p:nvPr/>
        </p:nvSpPr>
        <p:spPr>
          <a:xfrm>
            <a:off x="621432" y="943575"/>
            <a:ext cx="10778789" cy="3965188"/>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19</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解码块级联</a:t>
            </a:r>
            <a:endParaRPr lang="en-US" altLang="zh-CN" sz="2000" b="1" dirty="0">
              <a:latin typeface="+mn-ea"/>
              <a:cs typeface="Times New Roman" panose="02020603050405020304" pitchFamily="18" charset="0"/>
            </a:endParaRPr>
          </a:p>
          <a:p>
            <a:pPr>
              <a:lnSpc>
                <a:spcPct val="150000"/>
              </a:lnSpc>
            </a:pPr>
            <a:r>
              <a:rPr lang="zh-CN" altLang="en-US" dirty="0"/>
              <a:t>    级联后的码流送入物理信道传输；接收端收到后，先按协议规则反向拆分出各个独立码块，再分别译码，最后通过 </a:t>
            </a:r>
            <a:r>
              <a:rPr lang="en-US" altLang="zh-CN" dirty="0"/>
              <a:t>CB </a:t>
            </a:r>
            <a:r>
              <a:rPr lang="zh-CN" altLang="en-US" dirty="0"/>
              <a:t>级 </a:t>
            </a:r>
            <a:r>
              <a:rPr lang="en-US" altLang="zh-CN" dirty="0"/>
              <a:t>CRC </a:t>
            </a:r>
            <a:r>
              <a:rPr lang="zh-CN" altLang="en-US" dirty="0"/>
              <a:t>验证单个码块是否正确，通过 </a:t>
            </a:r>
            <a:r>
              <a:rPr lang="en-US" altLang="zh-CN" dirty="0"/>
              <a:t>TB </a:t>
            </a:r>
            <a:r>
              <a:rPr lang="zh-CN" altLang="en-US" dirty="0"/>
              <a:t>级 </a:t>
            </a:r>
            <a:r>
              <a:rPr lang="en-US" altLang="zh-CN" dirty="0"/>
              <a:t>CRC </a:t>
            </a:r>
            <a:r>
              <a:rPr lang="zh-CN" altLang="en-US" dirty="0"/>
              <a:t>验证整体传输块是否无误。</a:t>
            </a:r>
            <a:endParaRPr lang="en-US" altLang="zh-CN" dirty="0"/>
          </a:p>
          <a:p>
            <a:pPr>
              <a:lnSpc>
                <a:spcPct val="150000"/>
              </a:lnSpc>
            </a:pPr>
            <a:endParaRPr lang="en-US" altLang="zh-CN" dirty="0"/>
          </a:p>
          <a:p>
            <a:pPr>
              <a:lnSpc>
                <a:spcPct val="150000"/>
              </a:lnSpc>
            </a:pPr>
            <a:endParaRPr lang="en-US" altLang="zh-CN" dirty="0"/>
          </a:p>
          <a:p>
            <a:pPr>
              <a:lnSpc>
                <a:spcPct val="150000"/>
              </a:lnSpc>
            </a:pPr>
            <a:r>
              <a:rPr lang="en-US" altLang="zh-CN" sz="2000" b="1" dirty="0">
                <a:latin typeface="+mn-ea"/>
                <a:cs typeface="Times New Roman" panose="02020603050405020304" pitchFamily="18" charset="0"/>
              </a:rPr>
              <a:t>20</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解速率匹配</a:t>
            </a:r>
            <a:endParaRPr lang="en-US" altLang="zh-CN" sz="2000" b="1" dirty="0">
              <a:latin typeface="+mn-ea"/>
              <a:cs typeface="Times New Roman" panose="02020603050405020304" pitchFamily="18" charset="0"/>
            </a:endParaRPr>
          </a:p>
          <a:p>
            <a:pPr>
              <a:lnSpc>
                <a:spcPct val="150000"/>
              </a:lnSpc>
            </a:pPr>
            <a:r>
              <a:rPr lang="zh-CN" altLang="en-US" dirty="0">
                <a:latin typeface="+mn-ea"/>
                <a:cs typeface="Times New Roman" panose="02020603050405020304" pitchFamily="18" charset="0"/>
              </a:rPr>
              <a:t>    解速率匹配算法与速率匹配相反，恢复被打掉的比特，或者打掉重复的比特</a:t>
            </a:r>
            <a:endParaRPr lang="en-US" altLang="zh-CN" dirty="0">
              <a:latin typeface="+mn-ea"/>
              <a:cs typeface="Times New Roman" panose="02020603050405020304" pitchFamily="18" charset="0"/>
            </a:endParaRPr>
          </a:p>
          <a:p>
            <a:pPr>
              <a:lnSpc>
                <a:spcPct val="150000"/>
              </a:lnSpc>
            </a:pPr>
            <a:endParaRPr lang="en-US" altLang="zh-CN" sz="2000" b="1" dirty="0">
              <a:latin typeface="+mn-ea"/>
              <a:cs typeface="Times New Roman" panose="02020603050405020304" pitchFamily="18" charset="0"/>
            </a:endParaRPr>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8F242FC3-8052-C1D4-7E82-5CD0F3966F88}"/>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A902A9B0-3F70-0E3C-F655-EDFB54E84167}"/>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9683A1AB-F4C4-0146-9FBA-DD018E3054B7}"/>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21471466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F08EA-86BA-619B-C7C2-6913A8AAD4FE}"/>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8DD23A1D-B61C-2835-81A8-631481AE57E5}"/>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DD06D51F-0B4F-B64D-26A5-6E32A019391F}"/>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A2FFED0-4263-C8DA-2C09-DB3B2D658827}"/>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7FBEED95-87F8-4004-BB1E-7F4A3E16B5FB}"/>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92E2B71C-9CE1-AF60-A102-30BCDD7D81BE}"/>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3DDAFCAA-2C86-5C61-A025-876F97F149D8}"/>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04EC72CD-7AED-FCB1-6E38-2BA3DE556EFF}"/>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C8A249B9-3E0D-0271-12B5-831CFD7D93E6}"/>
              </a:ext>
            </a:extLst>
          </p:cNvPr>
          <p:cNvSpPr txBox="1"/>
          <p:nvPr/>
        </p:nvSpPr>
        <p:spPr>
          <a:xfrm>
            <a:off x="621432" y="943575"/>
            <a:ext cx="10778789" cy="5491055"/>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21</a:t>
            </a:r>
            <a:r>
              <a:rPr lang="zh-CN" altLang="zh-CN" sz="2000" b="1" dirty="0">
                <a:latin typeface="+mn-ea"/>
                <a:cs typeface="Times New Roman" panose="02020603050405020304" pitchFamily="18" charset="0"/>
              </a:rPr>
              <a:t>、</a:t>
            </a:r>
            <a:r>
              <a:rPr lang="en-US" altLang="zh-CN" sz="2000" b="1" dirty="0">
                <a:latin typeface="+mn-ea"/>
                <a:cs typeface="Times New Roman" panose="02020603050405020304" pitchFamily="18" charset="0"/>
              </a:rPr>
              <a:t>Turbo</a:t>
            </a:r>
            <a:r>
              <a:rPr lang="zh-CN" altLang="en-US" sz="2000" b="1" dirty="0">
                <a:latin typeface="+mn-ea"/>
                <a:cs typeface="Times New Roman" panose="02020603050405020304" pitchFamily="18" charset="0"/>
              </a:rPr>
              <a:t>译码</a:t>
            </a:r>
            <a:endParaRPr lang="en-US" altLang="zh-CN" sz="2000" b="1" dirty="0">
              <a:latin typeface="+mn-ea"/>
              <a:cs typeface="Times New Roman" panose="02020603050405020304" pitchFamily="18" charset="0"/>
            </a:endParaRPr>
          </a:p>
          <a:p>
            <a:pPr>
              <a:lnSpc>
                <a:spcPct val="150000"/>
              </a:lnSpc>
            </a:pPr>
            <a:r>
              <a:rPr lang="zh-CN" altLang="en-US" dirty="0"/>
              <a:t>    在 </a:t>
            </a:r>
            <a:r>
              <a:rPr lang="en-US" altLang="zh-CN" dirty="0"/>
              <a:t>LTE </a:t>
            </a:r>
            <a:r>
              <a:rPr lang="zh-CN" altLang="en-US" dirty="0"/>
              <a:t>系统中，</a:t>
            </a:r>
            <a:r>
              <a:rPr lang="en-US" altLang="zh-CN" dirty="0"/>
              <a:t>Turbo </a:t>
            </a:r>
            <a:r>
              <a:rPr lang="zh-CN" altLang="en-US" dirty="0"/>
              <a:t>译码是对应 </a:t>
            </a:r>
            <a:r>
              <a:rPr lang="en-US" altLang="zh-CN" dirty="0"/>
              <a:t>Turbo </a:t>
            </a:r>
            <a:r>
              <a:rPr lang="zh-CN" altLang="en-US" dirty="0"/>
              <a:t>编码的核心译码技术，核心是通过</a:t>
            </a:r>
            <a:r>
              <a:rPr lang="zh-CN" altLang="en-US" b="1" dirty="0"/>
              <a:t>软输入软输出（</a:t>
            </a:r>
            <a:r>
              <a:rPr lang="en-US" altLang="zh-CN" b="1" dirty="0"/>
              <a:t>SISO</a:t>
            </a:r>
            <a:r>
              <a:rPr lang="zh-CN" altLang="en-US" b="1" dirty="0"/>
              <a:t>）</a:t>
            </a:r>
            <a:r>
              <a:rPr lang="zh-CN" altLang="en-US" dirty="0"/>
              <a:t>译码器的迭代协作，逐步修正译码结果，实现接近香农极限的纠错性能。该方法主要使用一个译码器的外信息当作对方译码器输入端的先验信息，以提高译码性能。这样可以让两个分量译码器输出的序列能够得到充分的利用， 从而提高 </a:t>
            </a:r>
            <a:r>
              <a:rPr lang="en-US" altLang="zh-CN" dirty="0"/>
              <a:t>Turbo </a:t>
            </a:r>
            <a:r>
              <a:rPr lang="zh-CN" altLang="en-US" dirty="0"/>
              <a:t>码的纠错能力。采用迭代译码的方式使得最后的结果逼近最大似然。</a:t>
            </a:r>
            <a:endParaRPr lang="en-US" altLang="zh-CN" dirty="0"/>
          </a:p>
          <a:p>
            <a:pPr>
              <a:lnSpc>
                <a:spcPct val="150000"/>
              </a:lnSpc>
            </a:pPr>
            <a:r>
              <a:rPr lang="zh-CN" altLang="en-US" dirty="0"/>
              <a:t>    要完成迭代译码，离不开几个核心组件的配合：</a:t>
            </a:r>
            <a:endParaRPr lang="en-US" altLang="zh-CN" dirty="0"/>
          </a:p>
          <a:p>
            <a:pPr>
              <a:lnSpc>
                <a:spcPct val="150000"/>
              </a:lnSpc>
            </a:pPr>
            <a:r>
              <a:rPr lang="zh-CN" altLang="en-US" b="1" dirty="0"/>
              <a:t>    两个 </a:t>
            </a:r>
            <a:r>
              <a:rPr lang="en-US" altLang="zh-CN" b="1" dirty="0"/>
              <a:t>SISO </a:t>
            </a:r>
            <a:r>
              <a:rPr lang="zh-CN" altLang="en-US" b="1" dirty="0"/>
              <a:t>译码器</a:t>
            </a:r>
            <a:r>
              <a:rPr lang="zh-CN" altLang="en-US" dirty="0"/>
              <a:t>：核心运算单元，能接收带噪声的软信息（不是 </a:t>
            </a:r>
            <a:r>
              <a:rPr lang="en-US" altLang="zh-CN" dirty="0"/>
              <a:t>0/1 </a:t>
            </a:r>
            <a:r>
              <a:rPr lang="zh-CN" altLang="en-US" dirty="0"/>
              <a:t>硬信号，而是带概率的信号），输出译码结果和额外的 “外信息”</a:t>
            </a:r>
            <a:endParaRPr lang="en-US" altLang="zh-CN" dirty="0"/>
          </a:p>
          <a:p>
            <a:pPr>
              <a:lnSpc>
                <a:spcPct val="150000"/>
              </a:lnSpc>
            </a:pPr>
            <a:r>
              <a:rPr lang="zh-CN" altLang="en-US" b="1" dirty="0"/>
              <a:t>    交织器与去交织器</a:t>
            </a:r>
            <a:r>
              <a:rPr lang="zh-CN" altLang="en-US" dirty="0"/>
              <a:t>：和编码端的交织器对应。去交织器负责把打乱的信息恢复顺序，交织器则负责适配第二个译码器的输入需求，确保两个译码器的信息能对应上</a:t>
            </a:r>
            <a:endParaRPr lang="en-US" altLang="zh-CN" dirty="0"/>
          </a:p>
          <a:p>
            <a:pPr>
              <a:lnSpc>
                <a:spcPct val="150000"/>
              </a:lnSpc>
            </a:pPr>
            <a:r>
              <a:rPr lang="zh-CN" altLang="en-US" b="1" dirty="0"/>
              <a:t>    对数似然比（</a:t>
            </a:r>
            <a:r>
              <a:rPr lang="en-US" altLang="zh-CN" b="1" dirty="0"/>
              <a:t>LLR</a:t>
            </a:r>
            <a:r>
              <a:rPr lang="zh-CN" altLang="en-US" b="1" dirty="0"/>
              <a:t>）计算器</a:t>
            </a:r>
            <a:r>
              <a:rPr lang="zh-CN" altLang="en-US" dirty="0"/>
              <a:t>：把接收的模拟信号转换成 </a:t>
            </a:r>
            <a:r>
              <a:rPr lang="en-US" altLang="zh-CN" dirty="0"/>
              <a:t>LLR </a:t>
            </a:r>
            <a:r>
              <a:rPr lang="zh-CN" altLang="en-US" dirty="0"/>
              <a:t>值。</a:t>
            </a:r>
            <a:r>
              <a:rPr lang="en-US" altLang="zh-CN" dirty="0"/>
              <a:t>LLR </a:t>
            </a:r>
            <a:r>
              <a:rPr lang="zh-CN" altLang="en-US" dirty="0"/>
              <a:t>是判断比特是 </a:t>
            </a:r>
            <a:r>
              <a:rPr lang="en-US" altLang="zh-CN" dirty="0"/>
              <a:t>0 </a:t>
            </a:r>
            <a:r>
              <a:rPr lang="zh-CN" altLang="en-US" dirty="0"/>
              <a:t>还是 </a:t>
            </a:r>
            <a:r>
              <a:rPr lang="en-US" altLang="zh-CN" dirty="0"/>
              <a:t>1 </a:t>
            </a:r>
            <a:r>
              <a:rPr lang="zh-CN" altLang="en-US" dirty="0"/>
              <a:t>的 “置信度指标”，正数值越大代表是 </a:t>
            </a:r>
            <a:r>
              <a:rPr lang="en-US" altLang="zh-CN" dirty="0"/>
              <a:t>1 </a:t>
            </a:r>
            <a:r>
              <a:rPr lang="zh-CN" altLang="en-US" dirty="0"/>
              <a:t>的概率越高，负数值越小代表是 </a:t>
            </a:r>
            <a:r>
              <a:rPr lang="en-US" altLang="zh-CN" dirty="0"/>
              <a:t>0 </a:t>
            </a:r>
            <a:r>
              <a:rPr lang="zh-CN" altLang="en-US" dirty="0"/>
              <a:t>的概率越高，是译码中信息传递的核心载体</a:t>
            </a:r>
            <a:endParaRPr lang="en-US" altLang="zh-CN" sz="2000" b="1" dirty="0">
              <a:latin typeface="+mn-ea"/>
              <a:cs typeface="Times New Roman" panose="02020603050405020304" pitchFamily="18" charset="0"/>
            </a:endParaRPr>
          </a:p>
        </p:txBody>
      </p:sp>
      <p:pic>
        <p:nvPicPr>
          <p:cNvPr id="8" name="Picture 15" descr="易思达白字 png">
            <a:extLst>
              <a:ext uri="{FF2B5EF4-FFF2-40B4-BE49-F238E27FC236}">
                <a16:creationId xmlns:a16="http://schemas.microsoft.com/office/drawing/2014/main" id="{AEBB7167-0A74-8D60-DABF-E5A5032EA9EA}"/>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1D82C29F-7D43-E633-B5C2-3160AB09887D}"/>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40CDD5C8-D5D5-10AF-83FC-6CF58AF9F28C}"/>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2641903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1A0BB-69CB-77C2-A429-7692B77C6AD6}"/>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80179E3C-4CB0-ED8D-EF7C-B8CB1FBFA2FF}"/>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A4946634-7663-DDE4-7C3F-BF509421EE61}"/>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127310B-423D-E0B4-C7A1-8641D20FB16C}"/>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2EC34C0A-0B59-97F4-11EF-C1496FFBFE86}"/>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2B747AFB-A7B1-BF73-4387-879C05824309}"/>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438C5EDF-7BD0-6DA7-8281-61065D833B8B}"/>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34C73D48-C6CC-8627-FF1B-A3E6A704563E}"/>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61379C06-0EBF-5A5D-BE86-A3B8294FEAAB}"/>
              </a:ext>
            </a:extLst>
          </p:cNvPr>
          <p:cNvSpPr txBox="1"/>
          <p:nvPr/>
        </p:nvSpPr>
        <p:spPr>
          <a:xfrm>
            <a:off x="621432" y="943575"/>
            <a:ext cx="10778789" cy="4288353"/>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21</a:t>
            </a:r>
            <a:r>
              <a:rPr lang="zh-CN" altLang="zh-CN" sz="2000" b="1" dirty="0">
                <a:latin typeface="+mn-ea"/>
                <a:cs typeface="Times New Roman" panose="02020603050405020304" pitchFamily="18" charset="0"/>
              </a:rPr>
              <a:t>、</a:t>
            </a:r>
            <a:r>
              <a:rPr lang="en-US" altLang="zh-CN" sz="2000" b="1" dirty="0">
                <a:latin typeface="+mn-ea"/>
                <a:cs typeface="Times New Roman" panose="02020603050405020304" pitchFamily="18" charset="0"/>
              </a:rPr>
              <a:t>Turbo</a:t>
            </a:r>
            <a:r>
              <a:rPr lang="zh-CN" altLang="en-US" sz="2000" b="1" dirty="0">
                <a:latin typeface="+mn-ea"/>
                <a:cs typeface="Times New Roman" panose="02020603050405020304" pitchFamily="18" charset="0"/>
              </a:rPr>
              <a:t>译码</a:t>
            </a:r>
            <a:endParaRPr lang="en-US" altLang="zh-CN" sz="2000" b="1" dirty="0">
              <a:latin typeface="+mn-ea"/>
              <a:cs typeface="Times New Roman" panose="02020603050405020304" pitchFamily="18" charset="0"/>
            </a:endParaRPr>
          </a:p>
          <a:p>
            <a:pPr>
              <a:lnSpc>
                <a:spcPct val="150000"/>
              </a:lnSpc>
            </a:pPr>
            <a:r>
              <a:rPr lang="zh-CN" altLang="en-US" dirty="0"/>
              <a:t>    译码器主要的组成部分有：两个软输入软输出 </a:t>
            </a:r>
            <a:r>
              <a:rPr lang="en-US" altLang="zh-CN" dirty="0"/>
              <a:t>SISO </a:t>
            </a:r>
            <a:r>
              <a:rPr lang="zh-CN" altLang="en-US" dirty="0"/>
              <a:t>的译码器、交织、解交织和判决模块。每个分量译码器都有三个输入</a:t>
            </a:r>
            <a:r>
              <a:rPr lang="en-US" altLang="zh-CN" dirty="0"/>
              <a:t>(</a:t>
            </a:r>
            <a:r>
              <a:rPr lang="zh-CN" altLang="en-US" dirty="0"/>
              <a:t>原始序列、校验序列、先验信息</a:t>
            </a:r>
            <a:r>
              <a:rPr lang="en-US" altLang="zh-CN" dirty="0"/>
              <a:t>)</a:t>
            </a:r>
            <a:r>
              <a:rPr lang="zh-CN" altLang="en-US" dirty="0"/>
              <a:t>。首先将接收到的原始序列与校验序列 </a:t>
            </a:r>
            <a:r>
              <a:rPr lang="en-US" altLang="zh-CN" dirty="0"/>
              <a:t>1</a:t>
            </a:r>
            <a:r>
              <a:rPr lang="zh-CN" altLang="en-US" dirty="0"/>
              <a:t>输入到 </a:t>
            </a:r>
            <a:r>
              <a:rPr lang="en-US" altLang="zh-CN" dirty="0"/>
              <a:t>SISO1 </a:t>
            </a:r>
            <a:r>
              <a:rPr lang="zh-CN" altLang="en-US" dirty="0"/>
              <a:t>中去，根据给定的算法完成译码，输出为外信息</a:t>
            </a:r>
            <a:r>
              <a:rPr lang="en-US" altLang="zh-CN" dirty="0"/>
              <a:t>1</a:t>
            </a:r>
            <a:r>
              <a:rPr lang="zh-CN" altLang="en-US" dirty="0"/>
              <a:t>。继而送入到交织器对外信息</a:t>
            </a:r>
            <a:r>
              <a:rPr lang="en-US" altLang="zh-CN" dirty="0"/>
              <a:t>2</a:t>
            </a:r>
            <a:r>
              <a:rPr lang="zh-CN" altLang="en-US" dirty="0"/>
              <a:t>的地址进行置换，当作</a:t>
            </a:r>
            <a:r>
              <a:rPr lang="en-US" altLang="zh-CN" dirty="0"/>
              <a:t>SISO2</a:t>
            </a:r>
            <a:r>
              <a:rPr lang="zh-CN" altLang="en-US" dirty="0"/>
              <a:t>输入端的先验信息，同样</a:t>
            </a:r>
            <a:r>
              <a:rPr lang="en-US" altLang="zh-CN" dirty="0"/>
              <a:t>SISO2</a:t>
            </a:r>
            <a:r>
              <a:rPr lang="zh-CN" altLang="en-US" dirty="0"/>
              <a:t>也需要对输入端的先验信息作相关的外理之后，当作外信息</a:t>
            </a:r>
            <a:r>
              <a:rPr lang="en-US" altLang="zh-CN" dirty="0"/>
              <a:t>2</a:t>
            </a:r>
            <a:r>
              <a:rPr lang="zh-CN" altLang="en-US" dirty="0"/>
              <a:t>输出，在通过解交织后送入到 </a:t>
            </a:r>
            <a:r>
              <a:rPr lang="en-US" altLang="zh-CN" dirty="0"/>
              <a:t>SISO1 </a:t>
            </a:r>
            <a:r>
              <a:rPr lang="zh-CN" altLang="en-US" dirty="0"/>
              <a:t>中，作为下次迭代</a:t>
            </a:r>
            <a:r>
              <a:rPr lang="en-US" altLang="zh-CN" dirty="0"/>
              <a:t>SISO1 </a:t>
            </a:r>
            <a:r>
              <a:rPr lang="zh-CN" altLang="en-US" dirty="0"/>
              <a:t>的输入。</a:t>
            </a:r>
            <a:r>
              <a:rPr lang="en-US" altLang="zh-CN" dirty="0"/>
              <a:t>SISO1 </a:t>
            </a:r>
            <a:r>
              <a:rPr lang="zh-CN" altLang="en-US" dirty="0"/>
              <a:t>和 </a:t>
            </a:r>
            <a:r>
              <a:rPr lang="en-US" altLang="zh-CN" dirty="0"/>
              <a:t>SISO2 </a:t>
            </a:r>
            <a:r>
              <a:rPr lang="zh-CN" altLang="en-US" dirty="0"/>
              <a:t>通过持续的交换相互间的外信息，增加彼此之间的相关性。如此不断的进行相同的操作，直至译码达到法代次数后，将输出的序列经过判决器进行判决处理后。得出最后的译码序列。</a:t>
            </a:r>
            <a:endParaRPr lang="en-US" altLang="zh-CN" dirty="0"/>
          </a:p>
          <a:p>
            <a:pPr>
              <a:lnSpc>
                <a:spcPct val="150000"/>
              </a:lnSpc>
            </a:pPr>
            <a:endParaRPr lang="en-US" altLang="zh-CN" sz="2000" b="1" dirty="0">
              <a:latin typeface="+mn-ea"/>
              <a:cs typeface="Times New Roman" panose="02020603050405020304" pitchFamily="18" charset="0"/>
            </a:endParaRPr>
          </a:p>
          <a:p>
            <a:pPr>
              <a:lnSpc>
                <a:spcPct val="150000"/>
              </a:lnSpc>
            </a:pPr>
            <a:endParaRPr lang="en-US" altLang="zh-CN" dirty="0"/>
          </a:p>
        </p:txBody>
      </p:sp>
      <p:pic>
        <p:nvPicPr>
          <p:cNvPr id="8" name="Picture 15" descr="易思达白字 png">
            <a:extLst>
              <a:ext uri="{FF2B5EF4-FFF2-40B4-BE49-F238E27FC236}">
                <a16:creationId xmlns:a16="http://schemas.microsoft.com/office/drawing/2014/main" id="{4259C2E8-41B4-BE26-3611-56F762F12CE0}"/>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FF3FECB4-3D4D-FA23-C81D-1414428146BD}"/>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C3F76708-F196-2D74-F7AC-E423856DBFF4}"/>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 name="图片 11">
            <a:extLst>
              <a:ext uri="{FF2B5EF4-FFF2-40B4-BE49-F238E27FC236}">
                <a16:creationId xmlns:a16="http://schemas.microsoft.com/office/drawing/2014/main" id="{1617CA86-5EFD-17C8-4121-71E5EC0F199C}"/>
              </a:ext>
            </a:extLst>
          </p:cNvPr>
          <p:cNvPicPr>
            <a:picLocks noChangeAspect="1"/>
          </p:cNvPicPr>
          <p:nvPr/>
        </p:nvPicPr>
        <p:blipFill>
          <a:blip r:embed="rId6"/>
          <a:stretch>
            <a:fillRect/>
          </a:stretch>
        </p:blipFill>
        <p:spPr>
          <a:xfrm>
            <a:off x="3014505" y="4425291"/>
            <a:ext cx="5158784" cy="1998120"/>
          </a:xfrm>
          <a:prstGeom prst="rect">
            <a:avLst/>
          </a:prstGeom>
        </p:spPr>
      </p:pic>
    </p:spTree>
    <p:extLst>
      <p:ext uri="{BB962C8B-B14F-4D97-AF65-F5344CB8AC3E}">
        <p14:creationId xmlns:p14="http://schemas.microsoft.com/office/powerpoint/2010/main" val="15520266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B24D2E-82D0-7EF2-B0F8-C85DF3817201}"/>
            </a:ext>
          </a:extLst>
        </p:cNvPr>
        <p:cNvGrpSpPr/>
        <p:nvPr/>
      </p:nvGrpSpPr>
      <p:grpSpPr>
        <a:xfrm>
          <a:off x="0" y="0"/>
          <a:ext cx="0" cy="0"/>
          <a:chOff x="0" y="0"/>
          <a:chExt cx="0" cy="0"/>
        </a:xfrm>
      </p:grpSpPr>
      <p:sp>
        <p:nvSpPr>
          <p:cNvPr id="7" name="PA_文本框 6">
            <a:extLst>
              <a:ext uri="{FF2B5EF4-FFF2-40B4-BE49-F238E27FC236}">
                <a16:creationId xmlns:a16="http://schemas.microsoft.com/office/drawing/2014/main" id="{67A0E0DA-9FF2-B79E-D7EB-EE07B56E2468}"/>
              </a:ext>
            </a:extLst>
          </p:cNvPr>
          <p:cNvSpPr txBox="1"/>
          <p:nvPr>
            <p:custDataLst>
              <p:tags r:id="rId1"/>
            </p:custDataLst>
          </p:nvPr>
        </p:nvSpPr>
        <p:spPr>
          <a:xfrm>
            <a:off x="1191408" y="236414"/>
            <a:ext cx="2781152" cy="584775"/>
          </a:xfrm>
          <a:prstGeom prst="rect">
            <a:avLst/>
          </a:prstGeom>
          <a:noFill/>
        </p:spPr>
        <p:txBody>
          <a:bodyPr wrap="square" rtlCol="0">
            <a:spAutoFit/>
          </a:bodyPr>
          <a:lstStyle/>
          <a:p>
            <a:r>
              <a:rPr lang="zh-CN" altLang="en-US" sz="3200" dirty="0">
                <a:solidFill>
                  <a:schemeClr val="tx1">
                    <a:lumMod val="85000"/>
                    <a:lumOff val="15000"/>
                  </a:schemeClr>
                </a:solidFill>
                <a:latin typeface="+mj-ea"/>
                <a:ea typeface="+mj-ea"/>
              </a:rPr>
              <a:t>项目原理：</a:t>
            </a:r>
          </a:p>
        </p:txBody>
      </p:sp>
      <p:sp>
        <p:nvSpPr>
          <p:cNvPr id="20" name="矩形 19">
            <a:extLst>
              <a:ext uri="{FF2B5EF4-FFF2-40B4-BE49-F238E27FC236}">
                <a16:creationId xmlns:a16="http://schemas.microsoft.com/office/drawing/2014/main" id="{9D3E5FF4-F27E-9B5B-FB8F-99ABE332A82D}"/>
              </a:ext>
            </a:extLst>
          </p:cNvPr>
          <p:cNvSpPr/>
          <p:nvPr/>
        </p:nvSpPr>
        <p:spPr>
          <a:xfrm>
            <a:off x="576082" y="294050"/>
            <a:ext cx="427501" cy="4275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EDEB34D-3C30-81FD-24E7-F0CC17FA9593}"/>
              </a:ext>
            </a:extLst>
          </p:cNvPr>
          <p:cNvSpPr/>
          <p:nvPr/>
        </p:nvSpPr>
        <p:spPr>
          <a:xfrm>
            <a:off x="1099866" y="786766"/>
            <a:ext cx="176030" cy="17603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8" name="组合 37">
            <a:extLst>
              <a:ext uri="{FF2B5EF4-FFF2-40B4-BE49-F238E27FC236}">
                <a16:creationId xmlns:a16="http://schemas.microsoft.com/office/drawing/2014/main" id="{2B2D0978-191D-2B97-53F6-7ABF5DE492B1}"/>
              </a:ext>
            </a:extLst>
          </p:cNvPr>
          <p:cNvGrpSpPr/>
          <p:nvPr/>
        </p:nvGrpSpPr>
        <p:grpSpPr>
          <a:xfrm>
            <a:off x="0" y="6489700"/>
            <a:ext cx="12192000" cy="259231"/>
            <a:chOff x="0" y="6489700"/>
            <a:chExt cx="12192000" cy="259231"/>
          </a:xfrm>
        </p:grpSpPr>
        <p:sp>
          <p:nvSpPr>
            <p:cNvPr id="28" name="矩形 27">
              <a:extLst>
                <a:ext uri="{FF2B5EF4-FFF2-40B4-BE49-F238E27FC236}">
                  <a16:creationId xmlns:a16="http://schemas.microsoft.com/office/drawing/2014/main" id="{738DE706-150F-B3F2-EE83-BA006BAE6502}"/>
                </a:ext>
              </a:extLst>
            </p:cNvPr>
            <p:cNvSpPr/>
            <p:nvPr/>
          </p:nvSpPr>
          <p:spPr>
            <a:xfrm>
              <a:off x="5686425" y="6489700"/>
              <a:ext cx="819150" cy="259231"/>
            </a:xfrm>
            <a:prstGeom prst="rect">
              <a:avLst/>
            </a:prstGeom>
            <a:no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lumMod val="65000"/>
                      <a:lumOff val="35000"/>
                    </a:schemeClr>
                  </a:solidFill>
                </a:rPr>
                <a:t>Part two</a:t>
              </a:r>
              <a:endParaRPr lang="zh-CN" altLang="en-US" sz="1100" dirty="0">
                <a:solidFill>
                  <a:schemeClr val="tx1">
                    <a:lumMod val="65000"/>
                    <a:lumOff val="35000"/>
                  </a:schemeClr>
                </a:solidFill>
              </a:endParaRPr>
            </a:p>
          </p:txBody>
        </p:sp>
        <p:cxnSp>
          <p:nvCxnSpPr>
            <p:cNvPr id="30" name="直接连接符 29">
              <a:extLst>
                <a:ext uri="{FF2B5EF4-FFF2-40B4-BE49-F238E27FC236}">
                  <a16:creationId xmlns:a16="http://schemas.microsoft.com/office/drawing/2014/main" id="{10F12A7F-90ED-75A2-ABF4-41A79234E3C3}"/>
                </a:ext>
              </a:extLst>
            </p:cNvPr>
            <p:cNvCxnSpPr>
              <a:cxnSpLocks/>
            </p:cNvCxnSpPr>
            <p:nvPr/>
          </p:nvCxnSpPr>
          <p:spPr>
            <a:xfrm>
              <a:off x="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1C711EA5-2602-29F5-E4A4-DFEE1238872F}"/>
                </a:ext>
              </a:extLst>
            </p:cNvPr>
            <p:cNvCxnSpPr>
              <a:cxnSpLocks/>
            </p:cNvCxnSpPr>
            <p:nvPr/>
          </p:nvCxnSpPr>
          <p:spPr>
            <a:xfrm>
              <a:off x="6692900" y="6621585"/>
              <a:ext cx="5499100" cy="0"/>
            </a:xfrm>
            <a:prstGeom prst="line">
              <a:avLst/>
            </a:prstGeom>
            <a:ln>
              <a:solidFill>
                <a:schemeClr val="tx1">
                  <a:lumMod val="65000"/>
                  <a:lumOff val="35000"/>
                </a:schemeClr>
              </a:solidFill>
            </a:ln>
          </p:spPr>
          <p:style>
            <a:lnRef idx="1">
              <a:schemeClr val="dk1"/>
            </a:lnRef>
            <a:fillRef idx="0">
              <a:schemeClr val="dk1"/>
            </a:fillRef>
            <a:effectRef idx="0">
              <a:schemeClr val="dk1"/>
            </a:effectRef>
            <a:fontRef idx="minor">
              <a:schemeClr val="tx1"/>
            </a:fontRef>
          </p:style>
        </p:cxnSp>
      </p:grpSp>
      <p:sp>
        <p:nvSpPr>
          <p:cNvPr id="2" name="TextBox 78">
            <a:extLst>
              <a:ext uri="{FF2B5EF4-FFF2-40B4-BE49-F238E27FC236}">
                <a16:creationId xmlns:a16="http://schemas.microsoft.com/office/drawing/2014/main" id="{61BEAC75-BC5F-BDF5-65E4-694A639F19E8}"/>
              </a:ext>
            </a:extLst>
          </p:cNvPr>
          <p:cNvSpPr txBox="1"/>
          <p:nvPr/>
        </p:nvSpPr>
        <p:spPr>
          <a:xfrm>
            <a:off x="621432" y="943575"/>
            <a:ext cx="10778789" cy="3459280"/>
          </a:xfrm>
          <a:prstGeom prst="rect">
            <a:avLst/>
          </a:prstGeom>
          <a:noFill/>
        </p:spPr>
        <p:txBody>
          <a:bodyPr wrap="square" rtlCol="0">
            <a:spAutoFit/>
          </a:bodyPr>
          <a:lstStyle/>
          <a:p>
            <a:pPr>
              <a:lnSpc>
                <a:spcPct val="150000"/>
              </a:lnSpc>
            </a:pPr>
            <a:r>
              <a:rPr lang="en-US" altLang="zh-CN" sz="2000" b="1" dirty="0">
                <a:latin typeface="+mn-ea"/>
                <a:cs typeface="Times New Roman" panose="02020603050405020304" pitchFamily="18" charset="0"/>
              </a:rPr>
              <a:t>22</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码块信息汇聚</a:t>
            </a:r>
            <a:endParaRPr lang="en-US" altLang="zh-CN" sz="2000" b="1" dirty="0">
              <a:latin typeface="+mn-ea"/>
              <a:cs typeface="Times New Roman" panose="02020603050405020304" pitchFamily="18" charset="0"/>
            </a:endParaRPr>
          </a:p>
          <a:p>
            <a:pPr>
              <a:lnSpc>
                <a:spcPct val="150000"/>
              </a:lnSpc>
            </a:pPr>
            <a:r>
              <a:rPr lang="zh-CN" altLang="en-US" dirty="0"/>
              <a:t>    </a:t>
            </a:r>
            <a:r>
              <a:rPr lang="zh-CN" altLang="zh-CN" dirty="0"/>
              <a:t>码块分割的逆过程，将码块重新组合起来，进行</a:t>
            </a:r>
            <a:r>
              <a:rPr lang="en-GB" altLang="zh-CN" dirty="0"/>
              <a:t>CRC</a:t>
            </a:r>
            <a:r>
              <a:rPr lang="zh-CN" altLang="zh-CN" dirty="0"/>
              <a:t>校验，验证接收端数据</a:t>
            </a:r>
            <a:endParaRPr lang="en-US" altLang="zh-CN" sz="2000" b="1" dirty="0">
              <a:latin typeface="+mn-ea"/>
              <a:cs typeface="Times New Roman" panose="02020603050405020304" pitchFamily="18" charset="0"/>
            </a:endParaRPr>
          </a:p>
          <a:p>
            <a:pPr>
              <a:lnSpc>
                <a:spcPct val="150000"/>
              </a:lnSpc>
            </a:pPr>
            <a:endParaRPr lang="en-US" altLang="zh-CN" dirty="0"/>
          </a:p>
          <a:p>
            <a:pPr>
              <a:lnSpc>
                <a:spcPct val="150000"/>
              </a:lnSpc>
            </a:pPr>
            <a:endParaRPr lang="en-US" altLang="zh-CN" dirty="0"/>
          </a:p>
          <a:p>
            <a:pPr>
              <a:lnSpc>
                <a:spcPct val="150000"/>
              </a:lnSpc>
            </a:pPr>
            <a:r>
              <a:rPr lang="en-US" altLang="zh-CN" sz="2000" b="1" dirty="0">
                <a:latin typeface="+mn-ea"/>
                <a:cs typeface="Times New Roman" panose="02020603050405020304" pitchFamily="18" charset="0"/>
              </a:rPr>
              <a:t>23</a:t>
            </a:r>
            <a:r>
              <a:rPr lang="zh-CN" altLang="zh-CN" sz="2000" b="1" dirty="0">
                <a:latin typeface="+mn-ea"/>
                <a:cs typeface="Times New Roman" panose="02020603050405020304" pitchFamily="18" charset="0"/>
              </a:rPr>
              <a:t>、</a:t>
            </a:r>
            <a:r>
              <a:rPr lang="zh-CN" altLang="en-US" sz="2000" b="1" dirty="0">
                <a:latin typeface="+mn-ea"/>
                <a:cs typeface="Times New Roman" panose="02020603050405020304" pitchFamily="18" charset="0"/>
              </a:rPr>
              <a:t>解</a:t>
            </a:r>
            <a:r>
              <a:rPr lang="en-US" altLang="zh-CN" sz="2000" b="1" dirty="0">
                <a:latin typeface="+mn-ea"/>
                <a:cs typeface="Times New Roman" panose="02020603050405020304" pitchFamily="18" charset="0"/>
              </a:rPr>
              <a:t>CRC</a:t>
            </a:r>
          </a:p>
          <a:p>
            <a:pPr>
              <a:lnSpc>
                <a:spcPct val="150000"/>
              </a:lnSpc>
            </a:pPr>
            <a:r>
              <a:rPr lang="zh-CN" altLang="en-US" dirty="0"/>
              <a:t>    从</a:t>
            </a:r>
            <a:r>
              <a:rPr lang="en-US" altLang="zh-CN" dirty="0"/>
              <a:t>CRC</a:t>
            </a:r>
            <a:r>
              <a:rPr lang="zh-CN" altLang="en-US" dirty="0"/>
              <a:t>的编码规则可以看出，</a:t>
            </a:r>
            <a:r>
              <a:rPr lang="en-US" altLang="zh-CN" dirty="0"/>
              <a:t>CRC</a:t>
            </a:r>
            <a:r>
              <a:rPr lang="zh-CN" altLang="en-US" dirty="0"/>
              <a:t>编码实际上是将待发送的</a:t>
            </a:r>
            <a:r>
              <a:rPr lang="en-US" altLang="zh-CN" dirty="0"/>
              <a:t>k</a:t>
            </a:r>
            <a:r>
              <a:rPr lang="zh-CN" altLang="en-US" dirty="0"/>
              <a:t>位二进制多项式</a:t>
            </a:r>
            <a:r>
              <a:rPr lang="en-US" altLang="zh-CN" dirty="0"/>
              <a:t>P</a:t>
            </a:r>
            <a:r>
              <a:rPr lang="zh-CN" altLang="en-US" dirty="0"/>
              <a:t>（</a:t>
            </a:r>
            <a:r>
              <a:rPr lang="en-US" altLang="zh-CN" dirty="0"/>
              <a:t>x</a:t>
            </a:r>
            <a:r>
              <a:rPr lang="zh-CN" altLang="en-US" dirty="0"/>
              <a:t>）转换成了可以被</a:t>
            </a:r>
            <a:r>
              <a:rPr lang="en-US" altLang="zh-CN" dirty="0"/>
              <a:t>G</a:t>
            </a:r>
            <a:r>
              <a:rPr lang="zh-CN" altLang="en-US" dirty="0"/>
              <a:t>（</a:t>
            </a:r>
            <a:r>
              <a:rPr lang="en-US" altLang="zh-CN" dirty="0"/>
              <a:t>x</a:t>
            </a:r>
            <a:r>
              <a:rPr lang="zh-CN" altLang="en-US" dirty="0"/>
              <a:t>）除尽的</a:t>
            </a:r>
            <a:r>
              <a:rPr lang="en-US" altLang="zh-CN" dirty="0" err="1"/>
              <a:t>k+r</a:t>
            </a:r>
            <a:r>
              <a:rPr lang="zh-CN" altLang="en-US" dirty="0"/>
              <a:t>位二进制多项式</a:t>
            </a:r>
            <a:r>
              <a:rPr lang="en-US" altLang="zh-CN" dirty="0"/>
              <a:t>T</a:t>
            </a:r>
            <a:r>
              <a:rPr lang="zh-CN" altLang="en-US" dirty="0"/>
              <a:t>（</a:t>
            </a:r>
            <a:r>
              <a:rPr lang="en-US" altLang="zh-CN" dirty="0"/>
              <a:t>x</a:t>
            </a:r>
            <a:r>
              <a:rPr lang="zh-CN" altLang="en-US" dirty="0"/>
              <a:t>）。所以，进行译码时可以用接收到的数据去除</a:t>
            </a:r>
            <a:r>
              <a:rPr lang="en-US" altLang="zh-CN" dirty="0"/>
              <a:t>G</a:t>
            </a:r>
            <a:r>
              <a:rPr lang="zh-CN" altLang="en-US" dirty="0"/>
              <a:t>（</a:t>
            </a:r>
            <a:r>
              <a:rPr lang="en-US" altLang="zh-CN" dirty="0"/>
              <a:t>x</a:t>
            </a:r>
            <a:r>
              <a:rPr lang="zh-CN" altLang="en-US" dirty="0"/>
              <a:t>），如果余数为</a:t>
            </a:r>
            <a:r>
              <a:rPr lang="en-US" altLang="zh-CN" dirty="0"/>
              <a:t>0</a:t>
            </a:r>
            <a:r>
              <a:rPr lang="zh-CN" altLang="en-US" dirty="0"/>
              <a:t>，则表示传输过程没有错误；否则，传输过程存在错误。</a:t>
            </a:r>
            <a:endParaRPr lang="en-US" altLang="zh-CN" dirty="0"/>
          </a:p>
        </p:txBody>
      </p:sp>
      <p:pic>
        <p:nvPicPr>
          <p:cNvPr id="8" name="Picture 15" descr="易思达白字 png">
            <a:extLst>
              <a:ext uri="{FF2B5EF4-FFF2-40B4-BE49-F238E27FC236}">
                <a16:creationId xmlns:a16="http://schemas.microsoft.com/office/drawing/2014/main" id="{27E123DD-2F72-3262-8578-E4179113AB3E}"/>
              </a:ext>
            </a:extLst>
          </p:cNvPr>
          <p:cNvPicPr>
            <a:picLocks noChangeAspect="1" noChangeArrowheads="1"/>
          </p:cNvPicPr>
          <p:nvPr/>
        </p:nvPicPr>
        <p:blipFill>
          <a:blip r:embed="rId4">
            <a:clrChange>
              <a:clrFrom>
                <a:srgbClr val="000000">
                  <a:alpha val="0"/>
                </a:srgbClr>
              </a:clrFrom>
              <a:clrTo>
                <a:srgbClr val="000000">
                  <a:alpha val="0"/>
                </a:srgbClr>
              </a:clrTo>
            </a:clrChange>
            <a:duotone>
              <a:prstClr val="black"/>
              <a:srgbClr val="0000C8">
                <a:tint val="45000"/>
                <a:satMod val="400000"/>
              </a:srgbClr>
            </a:duotone>
          </a:blip>
          <a:srcRect l="18529" r="17647" b="31000"/>
          <a:stretch>
            <a:fillRect/>
          </a:stretch>
        </p:blipFill>
        <p:spPr bwMode="auto">
          <a:xfrm>
            <a:off x="11400222" y="79123"/>
            <a:ext cx="742856" cy="709593"/>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pic>
      <p:pic>
        <p:nvPicPr>
          <p:cNvPr id="9" name="图片 8">
            <a:extLst>
              <a:ext uri="{FF2B5EF4-FFF2-40B4-BE49-F238E27FC236}">
                <a16:creationId xmlns:a16="http://schemas.microsoft.com/office/drawing/2014/main" id="{3A1FE3AC-EF77-B9F1-A679-E83FF568CF64}"/>
              </a:ext>
            </a:extLst>
          </p:cNvPr>
          <p:cNvPicPr>
            <a:picLocks noChangeAspect="1"/>
          </p:cNvPicPr>
          <p:nvPr/>
        </p:nvPicPr>
        <p:blipFill>
          <a:blip r:embed="rId5"/>
          <a:stretch>
            <a:fillRect/>
          </a:stretch>
        </p:blipFill>
        <p:spPr>
          <a:xfrm>
            <a:off x="10935965" y="6252708"/>
            <a:ext cx="1207113" cy="341406"/>
          </a:xfrm>
          <a:prstGeom prst="rect">
            <a:avLst/>
          </a:prstGeom>
          <a:effectLst>
            <a:glow rad="63500">
              <a:schemeClr val="accent2">
                <a:satMod val="175000"/>
                <a:alpha val="40000"/>
              </a:schemeClr>
            </a:glow>
            <a:outerShdw blurRad="50800" dist="38100" dir="2700000" algn="tl" rotWithShape="0">
              <a:prstClr val="black">
                <a:alpha val="40000"/>
              </a:prstClr>
            </a:outerShdw>
          </a:effectLst>
        </p:spPr>
      </p:pic>
      <p:sp>
        <p:nvSpPr>
          <p:cNvPr id="4" name="Rectangle 2">
            <a:extLst>
              <a:ext uri="{FF2B5EF4-FFF2-40B4-BE49-F238E27FC236}">
                <a16:creationId xmlns:a16="http://schemas.microsoft.com/office/drawing/2014/main" id="{81F3A9EF-47CC-1A88-C2B2-DAD2E3BA7A1A}"/>
              </a:ext>
            </a:extLst>
          </p:cNvPr>
          <p:cNvSpPr>
            <a:spLocks noChangeArrowheads="1"/>
          </p:cNvSpPr>
          <p:nvPr/>
        </p:nvSpPr>
        <p:spPr bwMode="auto">
          <a:xfrm>
            <a:off x="139689" y="5165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367357434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barn(inVertical)">
                                      <p:cBhvr>
                                        <p:cTn id="7" dur="500"/>
                                        <p:tgtEl>
                                          <p:spTgt spid="38"/>
                                        </p:tgtEl>
                                      </p:cBhvr>
                                    </p:animEffect>
                                  </p:childTnLst>
                                </p:cTn>
                              </p:par>
                              <p:par>
                                <p:cTn id="8" presetID="2" presetClass="entr" presetSubtype="9"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 calcmode="lin" valueType="num">
                                      <p:cBhvr additive="base">
                                        <p:cTn id="10" dur="250" fill="hold"/>
                                        <p:tgtEl>
                                          <p:spTgt spid="21"/>
                                        </p:tgtEl>
                                        <p:attrNameLst>
                                          <p:attrName>ppt_x</p:attrName>
                                        </p:attrNameLst>
                                      </p:cBhvr>
                                      <p:tavLst>
                                        <p:tav tm="0">
                                          <p:val>
                                            <p:strVal val="0-#ppt_w/2"/>
                                          </p:val>
                                        </p:tav>
                                        <p:tav tm="100000">
                                          <p:val>
                                            <p:strVal val="#ppt_x"/>
                                          </p:val>
                                        </p:tav>
                                      </p:tavLst>
                                    </p:anim>
                                    <p:anim calcmode="lin" valueType="num">
                                      <p:cBhvr additive="base">
                                        <p:cTn id="11" dur="250" fill="hold"/>
                                        <p:tgtEl>
                                          <p:spTgt spid="21"/>
                                        </p:tgtEl>
                                        <p:attrNameLst>
                                          <p:attrName>ppt_y</p:attrName>
                                        </p:attrNameLst>
                                      </p:cBhvr>
                                      <p:tavLst>
                                        <p:tav tm="0">
                                          <p:val>
                                            <p:strVal val="0-#ppt_h/2"/>
                                          </p:val>
                                        </p:tav>
                                        <p:tav tm="100000">
                                          <p:val>
                                            <p:strVal val="#ppt_y"/>
                                          </p:val>
                                        </p:tav>
                                      </p:tavLst>
                                    </p:anim>
                                  </p:childTnLst>
                                </p:cTn>
                              </p:par>
                              <p:par>
                                <p:cTn id="12" presetID="2" presetClass="entr" presetSubtype="9" fill="hold" grpId="0" nodeType="withEffect">
                                  <p:stCondLst>
                                    <p:cond delay="150"/>
                                  </p:stCondLst>
                                  <p:childTnLst>
                                    <p:set>
                                      <p:cBhvr>
                                        <p:cTn id="13" dur="1" fill="hold">
                                          <p:stCondLst>
                                            <p:cond delay="0"/>
                                          </p:stCondLst>
                                        </p:cTn>
                                        <p:tgtEl>
                                          <p:spTgt spid="20"/>
                                        </p:tgtEl>
                                        <p:attrNameLst>
                                          <p:attrName>style.visibility</p:attrName>
                                        </p:attrNameLst>
                                      </p:cBhvr>
                                      <p:to>
                                        <p:strVal val="visible"/>
                                      </p:to>
                                    </p:set>
                                    <p:anim calcmode="lin" valueType="num">
                                      <p:cBhvr additive="base">
                                        <p:cTn id="14" dur="250" fill="hold"/>
                                        <p:tgtEl>
                                          <p:spTgt spid="20"/>
                                        </p:tgtEl>
                                        <p:attrNameLst>
                                          <p:attrName>ppt_x</p:attrName>
                                        </p:attrNameLst>
                                      </p:cBhvr>
                                      <p:tavLst>
                                        <p:tav tm="0">
                                          <p:val>
                                            <p:strVal val="0-#ppt_w/2"/>
                                          </p:val>
                                        </p:tav>
                                        <p:tav tm="100000">
                                          <p:val>
                                            <p:strVal val="#ppt_x"/>
                                          </p:val>
                                        </p:tav>
                                      </p:tavLst>
                                    </p:anim>
                                    <p:anim calcmode="lin" valueType="num">
                                      <p:cBhvr additive="base">
                                        <p:cTn id="15" dur="250" fill="hold"/>
                                        <p:tgtEl>
                                          <p:spTgt spid="20"/>
                                        </p:tgtEl>
                                        <p:attrNameLst>
                                          <p:attrName>ppt_y</p:attrName>
                                        </p:attrNameLst>
                                      </p:cBhvr>
                                      <p:tavLst>
                                        <p:tav tm="0">
                                          <p:val>
                                            <p:strVal val="0-#ppt_h/2"/>
                                          </p:val>
                                        </p:tav>
                                        <p:tav tm="100000">
                                          <p:val>
                                            <p:strVal val="#ppt_y"/>
                                          </p:val>
                                        </p:tav>
                                      </p:tavLst>
                                    </p:anim>
                                  </p:childTnLst>
                                </p:cTn>
                              </p:par>
                            </p:childTnLst>
                          </p:cTn>
                        </p:par>
                        <p:par>
                          <p:cTn id="16" fill="hold">
                            <p:stCondLst>
                              <p:cond delay="500"/>
                            </p:stCondLst>
                            <p:childTnLst>
                              <p:par>
                                <p:cTn id="17" presetID="29" presetClass="entr" presetSubtype="0" fill="hold" grpId="0" nodeType="after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500" fill="hold"/>
                                        <p:tgtEl>
                                          <p:spTgt spid="7"/>
                                        </p:tgtEl>
                                        <p:attrNameLst>
                                          <p:attrName>ppt_x</p:attrName>
                                        </p:attrNameLst>
                                      </p:cBhvr>
                                      <p:tavLst>
                                        <p:tav tm="0">
                                          <p:val>
                                            <p:strVal val="#ppt_x-.2"/>
                                          </p:val>
                                        </p:tav>
                                        <p:tav tm="100000">
                                          <p:val>
                                            <p:strVal val="#ppt_x"/>
                                          </p:val>
                                        </p:tav>
                                      </p:tavLst>
                                    </p:anim>
                                    <p:anim calcmode="lin" valueType="num">
                                      <p:cBhvr>
                                        <p:cTn id="20"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1" dur="5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750"/>
                                        <p:tgtEl>
                                          <p:spTgt spid="2"/>
                                        </p:tgtEl>
                                      </p:cBhvr>
                                    </p:animEffect>
                                    <p:anim calcmode="lin" valueType="num">
                                      <p:cBhvr>
                                        <p:cTn id="25" dur="750" fill="hold"/>
                                        <p:tgtEl>
                                          <p:spTgt spid="2"/>
                                        </p:tgtEl>
                                        <p:attrNameLst>
                                          <p:attrName>ppt_x</p:attrName>
                                        </p:attrNameLst>
                                      </p:cBhvr>
                                      <p:tavLst>
                                        <p:tav tm="0">
                                          <p:val>
                                            <p:strVal val="#ppt_x"/>
                                          </p:val>
                                        </p:tav>
                                        <p:tav tm="100000">
                                          <p:val>
                                            <p:strVal val="#ppt_x"/>
                                          </p:val>
                                        </p:tav>
                                      </p:tavLst>
                                    </p:anim>
                                    <p:anim calcmode="lin" valueType="num">
                                      <p:cBhvr>
                                        <p:cTn id="26"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animBg="1"/>
      <p:bldP spid="21" grpId="0" animBg="1"/>
      <p:bldP spid="2"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产品培训"/>
</p:tagLst>
</file>

<file path=ppt/tags/tag2.xml><?xml version="1.0" encoding="utf-8"?>
<p:tagLst xmlns:a="http://schemas.openxmlformats.org/drawingml/2006/main" xmlns:r="http://schemas.openxmlformats.org/officeDocument/2006/relationships" xmlns:p="http://schemas.openxmlformats.org/presentationml/2006/main">
  <p:tag name="PA" val="v3.0.0"/>
</p:tagLst>
</file>

<file path=ppt/tags/tag3.xml><?xml version="1.0" encoding="utf-8"?>
<p:tagLst xmlns:a="http://schemas.openxmlformats.org/drawingml/2006/main" xmlns:r="http://schemas.openxmlformats.org/officeDocument/2006/relationships" xmlns:p="http://schemas.openxmlformats.org/presentationml/2006/main">
  <p:tag name="PA" val="v3.0.0"/>
</p:tagLst>
</file>

<file path=ppt/tags/tag4.xml><?xml version="1.0" encoding="utf-8"?>
<p:tagLst xmlns:a="http://schemas.openxmlformats.org/drawingml/2006/main" xmlns:r="http://schemas.openxmlformats.org/officeDocument/2006/relationships" xmlns:p="http://schemas.openxmlformats.org/presentationml/2006/main">
  <p:tag name="PA" val="v3.0.0"/>
</p:tagLst>
</file>

<file path=ppt/tags/tag5.xml><?xml version="1.0" encoding="utf-8"?>
<p:tagLst xmlns:a="http://schemas.openxmlformats.org/drawingml/2006/main" xmlns:r="http://schemas.openxmlformats.org/officeDocument/2006/relationships" xmlns:p="http://schemas.openxmlformats.org/presentationml/2006/main">
  <p:tag name="PA" val="v3.0.0"/>
</p:tagLst>
</file>

<file path=ppt/tags/tag6.xml><?xml version="1.0" encoding="utf-8"?>
<p:tagLst xmlns:a="http://schemas.openxmlformats.org/drawingml/2006/main" xmlns:r="http://schemas.openxmlformats.org/officeDocument/2006/relationships" xmlns:p="http://schemas.openxmlformats.org/presentationml/2006/main">
  <p:tag name="PA" val="v3.0.0"/>
</p:tagLst>
</file>

<file path=ppt/tags/tag7.xml><?xml version="1.0" encoding="utf-8"?>
<p:tagLst xmlns:a="http://schemas.openxmlformats.org/drawingml/2006/main" xmlns:r="http://schemas.openxmlformats.org/officeDocument/2006/relationships" xmlns:p="http://schemas.openxmlformats.org/presentationml/2006/main">
  <p:tag name="PA" val="v3.0.0"/>
</p:tagLst>
</file>

<file path=ppt/tags/tag8.xml><?xml version="1.0" encoding="utf-8"?>
<p:tagLst xmlns:a="http://schemas.openxmlformats.org/drawingml/2006/main" xmlns:r="http://schemas.openxmlformats.org/officeDocument/2006/relationships" xmlns:p="http://schemas.openxmlformats.org/presentationml/2006/main">
  <p:tag name="PA" val="v3.0.0"/>
</p:tagLst>
</file>

<file path=ppt/tags/tag9.xml><?xml version="1.0" encoding="utf-8"?>
<p:tagLst xmlns:a="http://schemas.openxmlformats.org/drawingml/2006/main" xmlns:r="http://schemas.openxmlformats.org/officeDocument/2006/relationships" xmlns:p="http://schemas.openxmlformats.org/presentationml/2006/main">
  <p:tag name="PA" val="v3.0.0"/>
</p:tagLst>
</file>

<file path=ppt/tags/tag10.xml><?xml version="1.0" encoding="utf-8"?>
<p:tagLst xmlns:a="http://schemas.openxmlformats.org/drawingml/2006/main" xmlns:r="http://schemas.openxmlformats.org/officeDocument/2006/relationships" xmlns:p="http://schemas.openxmlformats.org/presentationml/2006/main">
  <p:tag name="PA" val="v3.0.0"/>
</p:tagLst>
</file>

<file path=ppt/tags/tag11.xml><?xml version="1.0" encoding="utf-8"?>
<p:tagLst xmlns:a="http://schemas.openxmlformats.org/drawingml/2006/main" xmlns:r="http://schemas.openxmlformats.org/officeDocument/2006/relationships" xmlns:p="http://schemas.openxmlformats.org/presentationml/2006/main">
  <p:tag name="PA" val="v3.0.0"/>
</p:tagLst>
</file>

<file path=ppt/tags/tag12.xml><?xml version="1.0" encoding="utf-8"?>
<p:tagLst xmlns:a="http://schemas.openxmlformats.org/drawingml/2006/main" xmlns:r="http://schemas.openxmlformats.org/officeDocument/2006/relationships" xmlns:p="http://schemas.openxmlformats.org/presentationml/2006/main">
  <p:tag name="PA" val="v3.0.0"/>
</p:tagLst>
</file>

<file path=ppt/tags/tag13.xml><?xml version="1.0" encoding="utf-8"?>
<p:tagLst xmlns:a="http://schemas.openxmlformats.org/drawingml/2006/main" xmlns:r="http://schemas.openxmlformats.org/officeDocument/2006/relationships" xmlns:p="http://schemas.openxmlformats.org/presentationml/2006/main">
  <p:tag name="PA" val="v3.0.0"/>
</p:tagLst>
</file>

<file path=ppt/tags/tag14.xml><?xml version="1.0" encoding="utf-8"?>
<p:tagLst xmlns:a="http://schemas.openxmlformats.org/drawingml/2006/main" xmlns:r="http://schemas.openxmlformats.org/officeDocument/2006/relationships" xmlns:p="http://schemas.openxmlformats.org/presentationml/2006/main">
  <p:tag name="PA" val="v3.0.0"/>
</p:tagLst>
</file>

<file path=ppt/tags/tag15.xml><?xml version="1.0" encoding="utf-8"?>
<p:tagLst xmlns:a="http://schemas.openxmlformats.org/drawingml/2006/main" xmlns:r="http://schemas.openxmlformats.org/officeDocument/2006/relationships" xmlns:p="http://schemas.openxmlformats.org/presentationml/2006/main">
  <p:tag name="PA" val="v3.0.0"/>
</p:tagLst>
</file>

<file path=ppt/tags/tag16.xml><?xml version="1.0" encoding="utf-8"?>
<p:tagLst xmlns:a="http://schemas.openxmlformats.org/drawingml/2006/main" xmlns:r="http://schemas.openxmlformats.org/officeDocument/2006/relationships" xmlns:p="http://schemas.openxmlformats.org/presentationml/2006/main">
  <p:tag name="PA" val="v3.0.0"/>
</p:tagLst>
</file>

<file path=ppt/tags/tag17.xml><?xml version="1.0" encoding="utf-8"?>
<p:tagLst xmlns:a="http://schemas.openxmlformats.org/drawingml/2006/main" xmlns:r="http://schemas.openxmlformats.org/officeDocument/2006/relationships" xmlns:p="http://schemas.openxmlformats.org/presentationml/2006/main">
  <p:tag name="PA" val="v3.0.0"/>
</p:tagLst>
</file>

<file path=ppt/tags/tag18.xml><?xml version="1.0" encoding="utf-8"?>
<p:tagLst xmlns:a="http://schemas.openxmlformats.org/drawingml/2006/main" xmlns:r="http://schemas.openxmlformats.org/officeDocument/2006/relationships" xmlns:p="http://schemas.openxmlformats.org/presentationml/2006/main">
  <p:tag name="PA" val="v3.0.0"/>
</p:tagLst>
</file>

<file path=ppt/tags/tag19.xml><?xml version="1.0" encoding="utf-8"?>
<p:tagLst xmlns:a="http://schemas.openxmlformats.org/drawingml/2006/main" xmlns:r="http://schemas.openxmlformats.org/officeDocument/2006/relationships" xmlns:p="http://schemas.openxmlformats.org/presentationml/2006/main">
  <p:tag name="PA" val="v3.0.0"/>
</p:tagLst>
</file>

<file path=ppt/tags/tag20.xml><?xml version="1.0" encoding="utf-8"?>
<p:tagLst xmlns:a="http://schemas.openxmlformats.org/drawingml/2006/main" xmlns:r="http://schemas.openxmlformats.org/officeDocument/2006/relationships" xmlns:p="http://schemas.openxmlformats.org/presentationml/2006/main">
  <p:tag name="PA" val="v3.0.0"/>
</p:tagLst>
</file>

<file path=ppt/tags/tag21.xml><?xml version="1.0" encoding="utf-8"?>
<p:tagLst xmlns:a="http://schemas.openxmlformats.org/drawingml/2006/main" xmlns:r="http://schemas.openxmlformats.org/officeDocument/2006/relationships" xmlns:p="http://schemas.openxmlformats.org/presentationml/2006/main">
  <p:tag name="PA" val="v3.0.0"/>
</p:tagLst>
</file>

<file path=ppt/tags/tag22.xml><?xml version="1.0" encoding="utf-8"?>
<p:tagLst xmlns:a="http://schemas.openxmlformats.org/drawingml/2006/main" xmlns:r="http://schemas.openxmlformats.org/officeDocument/2006/relationships" xmlns:p="http://schemas.openxmlformats.org/presentationml/2006/main">
  <p:tag name="PA" val="v3.0.0"/>
</p:tagLst>
</file>

<file path=ppt/tags/tag23.xml><?xml version="1.0" encoding="utf-8"?>
<p:tagLst xmlns:a="http://schemas.openxmlformats.org/drawingml/2006/main" xmlns:r="http://schemas.openxmlformats.org/officeDocument/2006/relationships" xmlns:p="http://schemas.openxmlformats.org/presentationml/2006/main">
  <p:tag name="PA" val="v3.0.0"/>
</p:tagLst>
</file>

<file path=ppt/tags/tag24.xml><?xml version="1.0" encoding="utf-8"?>
<p:tagLst xmlns:a="http://schemas.openxmlformats.org/drawingml/2006/main" xmlns:r="http://schemas.openxmlformats.org/officeDocument/2006/relationships" xmlns:p="http://schemas.openxmlformats.org/presentationml/2006/main">
  <p:tag name="PA" val="v3.0.0"/>
</p:tagLst>
</file>

<file path=ppt/tags/tag25.xml><?xml version="1.0" encoding="utf-8"?>
<p:tagLst xmlns:a="http://schemas.openxmlformats.org/drawingml/2006/main" xmlns:r="http://schemas.openxmlformats.org/officeDocument/2006/relationships" xmlns:p="http://schemas.openxmlformats.org/presentationml/2006/main">
  <p:tag name="PA" val="v3.0.0"/>
</p:tagLst>
</file>

<file path=ppt/tags/tag26.xml><?xml version="1.0" encoding="utf-8"?>
<p:tagLst xmlns:a="http://schemas.openxmlformats.org/drawingml/2006/main" xmlns:r="http://schemas.openxmlformats.org/officeDocument/2006/relationships" xmlns:p="http://schemas.openxmlformats.org/presentationml/2006/main">
  <p:tag name="PA" val="v3.0.0"/>
</p:tagLst>
</file>

<file path=ppt/tags/tag27.xml><?xml version="1.0" encoding="utf-8"?>
<p:tagLst xmlns:a="http://schemas.openxmlformats.org/drawingml/2006/main" xmlns:r="http://schemas.openxmlformats.org/officeDocument/2006/relationships" xmlns:p="http://schemas.openxmlformats.org/presentationml/2006/main">
  <p:tag name="PA" val="v3.0.0"/>
</p:tagLst>
</file>

<file path=ppt/tags/tag28.xml><?xml version="1.0" encoding="utf-8"?>
<p:tagLst xmlns:a="http://schemas.openxmlformats.org/drawingml/2006/main" xmlns:r="http://schemas.openxmlformats.org/officeDocument/2006/relationships" xmlns:p="http://schemas.openxmlformats.org/presentationml/2006/main">
  <p:tag name="PA" val="v3.0.0"/>
</p:tagLst>
</file>

<file path=ppt/tags/tag29.xml><?xml version="1.0" encoding="utf-8"?>
<p:tagLst xmlns:a="http://schemas.openxmlformats.org/drawingml/2006/main" xmlns:r="http://schemas.openxmlformats.org/officeDocument/2006/relationships" xmlns:p="http://schemas.openxmlformats.org/presentationml/2006/main">
  <p:tag name="PA" val="v3.0.0"/>
</p:tagLst>
</file>

<file path=ppt/tags/tag30.xml><?xml version="1.0" encoding="utf-8"?>
<p:tagLst xmlns:a="http://schemas.openxmlformats.org/drawingml/2006/main" xmlns:r="http://schemas.openxmlformats.org/officeDocument/2006/relationships" xmlns:p="http://schemas.openxmlformats.org/presentationml/2006/main">
  <p:tag name="PA" val="v3.0.0"/>
</p:tagLst>
</file>

<file path=ppt/tags/tag31.xml><?xml version="1.0" encoding="utf-8"?>
<p:tagLst xmlns:a="http://schemas.openxmlformats.org/drawingml/2006/main" xmlns:r="http://schemas.openxmlformats.org/officeDocument/2006/relationships" xmlns:p="http://schemas.openxmlformats.org/presentationml/2006/main">
  <p:tag name="PA" val="v3.0.0"/>
</p:tagLst>
</file>

<file path=ppt/tags/tag32.xml><?xml version="1.0" encoding="utf-8"?>
<p:tagLst xmlns:a="http://schemas.openxmlformats.org/drawingml/2006/main" xmlns:r="http://schemas.openxmlformats.org/officeDocument/2006/relationships" xmlns:p="http://schemas.openxmlformats.org/presentationml/2006/main">
  <p:tag name="PA" val="v3.0.0"/>
</p:tagLst>
</file>

<file path=ppt/tags/tag33.xml><?xml version="1.0" encoding="utf-8"?>
<p:tagLst xmlns:a="http://schemas.openxmlformats.org/drawingml/2006/main" xmlns:r="http://schemas.openxmlformats.org/officeDocument/2006/relationships" xmlns:p="http://schemas.openxmlformats.org/presentationml/2006/main">
  <p:tag name="PA" val="v3.0.0"/>
</p:tagLst>
</file>

<file path=ppt/tags/tag34.xml><?xml version="1.0" encoding="utf-8"?>
<p:tagLst xmlns:a="http://schemas.openxmlformats.org/drawingml/2006/main" xmlns:r="http://schemas.openxmlformats.org/officeDocument/2006/relationships" xmlns:p="http://schemas.openxmlformats.org/presentationml/2006/main">
  <p:tag name="PA" val="v3.0.0"/>
</p:tagLst>
</file>

<file path=ppt/tags/tag35.xml><?xml version="1.0" encoding="utf-8"?>
<p:tagLst xmlns:a="http://schemas.openxmlformats.org/drawingml/2006/main" xmlns:r="http://schemas.openxmlformats.org/officeDocument/2006/relationships" xmlns:p="http://schemas.openxmlformats.org/presentationml/2006/main">
  <p:tag name="PA" val="v3.0.0"/>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05.6,&quot;left&quot;:52,&quot;top&quot;:146.63291338582675,&quot;width&quot;:859.0906299212598}"/>
</p:tagLst>
</file>

<file path=ppt/tags/tag44.xml><?xml version="1.0" encoding="utf-8"?>
<p:tagLst xmlns:a="http://schemas.openxmlformats.org/drawingml/2006/main" xmlns:r="http://schemas.openxmlformats.org/officeDocument/2006/relationships" xmlns:p="http://schemas.openxmlformats.org/presentationml/2006/main">
  <p:tag name="PA" val="v3.0.0"/>
</p:tagLst>
</file>

<file path=ppt/tags/tag45.xml><?xml version="1.0" encoding="utf-8"?>
<p:tagLst xmlns:a="http://schemas.openxmlformats.org/drawingml/2006/main" xmlns:r="http://schemas.openxmlformats.org/officeDocument/2006/relationships" xmlns:p="http://schemas.openxmlformats.org/presentationml/2006/main">
  <p:tag name="PA" val="v3.0.0"/>
</p:tagLst>
</file>

<file path=ppt/tags/tag46.xml><?xml version="1.0" encoding="utf-8"?>
<p:tagLst xmlns:a="http://schemas.openxmlformats.org/drawingml/2006/main" xmlns:r="http://schemas.openxmlformats.org/officeDocument/2006/relationships" xmlns:p="http://schemas.openxmlformats.org/presentationml/2006/main">
  <p:tag name="PA" val="v3.0.0"/>
</p:tagLst>
</file>

<file path=ppt/tags/tag47.xml><?xml version="1.0" encoding="utf-8"?>
<p:tagLst xmlns:a="http://schemas.openxmlformats.org/drawingml/2006/main" xmlns:r="http://schemas.openxmlformats.org/officeDocument/2006/relationships" xmlns:p="http://schemas.openxmlformats.org/presentationml/2006/main">
  <p:tag name="PA" val="v3.0.0"/>
</p:tagLst>
</file>

<file path=ppt/tags/tag48.xml><?xml version="1.0" encoding="utf-8"?>
<p:tagLst xmlns:a="http://schemas.openxmlformats.org/drawingml/2006/main" xmlns:r="http://schemas.openxmlformats.org/officeDocument/2006/relationships" xmlns:p="http://schemas.openxmlformats.org/presentationml/2006/main">
  <p:tag name="PA" val="v3.0.0"/>
</p:tagLst>
</file>

<file path=ppt/tags/tag49.xml><?xml version="1.0" encoding="utf-8"?>
<p:tagLst xmlns:a="http://schemas.openxmlformats.org/drawingml/2006/main" xmlns:r="http://schemas.openxmlformats.org/officeDocument/2006/relationships" xmlns:p="http://schemas.openxmlformats.org/presentationml/2006/main">
  <p:tag name="PA" val="v3.0.0"/>
</p:tagLst>
</file>

<file path=ppt/tags/tag50.xml><?xml version="1.0" encoding="utf-8"?>
<p:tagLst xmlns:a="http://schemas.openxmlformats.org/drawingml/2006/main" xmlns:r="http://schemas.openxmlformats.org/officeDocument/2006/relationships" xmlns:p="http://schemas.openxmlformats.org/presentationml/2006/main">
  <p:tag name="PA" val="v3.0.0"/>
</p:tagLst>
</file>

<file path=ppt/tags/tag51.xml><?xml version="1.0" encoding="utf-8"?>
<p:tagLst xmlns:a="http://schemas.openxmlformats.org/drawingml/2006/main" xmlns:r="http://schemas.openxmlformats.org/officeDocument/2006/relationships" xmlns:p="http://schemas.openxmlformats.org/presentationml/2006/main">
  <p:tag name="PA" val="v3.0.0"/>
</p:tagLst>
</file>

<file path=ppt/tags/tag52.xml><?xml version="1.0" encoding="utf-8"?>
<p:tagLst xmlns:a="http://schemas.openxmlformats.org/drawingml/2006/main" xmlns:r="http://schemas.openxmlformats.org/officeDocument/2006/relationships" xmlns:p="http://schemas.openxmlformats.org/presentationml/2006/main">
  <p:tag name="PA" val="v3.0.0"/>
</p:tagLst>
</file>

<file path=ppt/tags/tag53.xml><?xml version="1.0" encoding="utf-8"?>
<p:tagLst xmlns:a="http://schemas.openxmlformats.org/drawingml/2006/main" xmlns:r="http://schemas.openxmlformats.org/officeDocument/2006/relationships" xmlns:p="http://schemas.openxmlformats.org/presentationml/2006/main">
  <p:tag name="PA" val="v3.0.0"/>
</p:tagLst>
</file>

<file path=ppt/tags/tag54.xml><?xml version="1.0" encoding="utf-8"?>
<p:tagLst xmlns:a="http://schemas.openxmlformats.org/drawingml/2006/main" xmlns:r="http://schemas.openxmlformats.org/officeDocument/2006/relationships" xmlns:p="http://schemas.openxmlformats.org/presentationml/2006/main">
  <p:tag name="PA" val="v3.0.0"/>
</p:tagLst>
</file>

<file path=ppt/tags/tag55.xml><?xml version="1.0" encoding="utf-8"?>
<p:tagLst xmlns:a="http://schemas.openxmlformats.org/drawingml/2006/main" xmlns:r="http://schemas.openxmlformats.org/officeDocument/2006/relationships" xmlns:p="http://schemas.openxmlformats.org/presentationml/2006/main">
  <p:tag name="PA" val="v3.0.0"/>
</p:tagLst>
</file>

<file path=ppt/tags/tag56.xml><?xml version="1.0" encoding="utf-8"?>
<p:tagLst xmlns:a="http://schemas.openxmlformats.org/drawingml/2006/main" xmlns:r="http://schemas.openxmlformats.org/officeDocument/2006/relationships" xmlns:p="http://schemas.openxmlformats.org/presentationml/2006/main">
  <p:tag name="PA" val="v3.0.0"/>
</p:tagLst>
</file>

<file path=ppt/tags/tag57.xml><?xml version="1.0" encoding="utf-8"?>
<p:tagLst xmlns:a="http://schemas.openxmlformats.org/drawingml/2006/main" xmlns:r="http://schemas.openxmlformats.org/officeDocument/2006/relationships" xmlns:p="http://schemas.openxmlformats.org/presentationml/2006/main">
  <p:tag name="PA" val="v3.0.0"/>
</p:tagLst>
</file>

<file path=ppt/tags/tag58.xml><?xml version="1.0" encoding="utf-8"?>
<p:tagLst xmlns:a="http://schemas.openxmlformats.org/drawingml/2006/main" xmlns:r="http://schemas.openxmlformats.org/officeDocument/2006/relationships" xmlns:p="http://schemas.openxmlformats.org/presentationml/2006/main">
  <p:tag name="PA" val="v3.0.0"/>
</p:tagLst>
</file>

<file path=ppt/tags/tag59.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Office Theme">
  <a:themeElements>
    <a:clrScheme name="自定义 2">
      <a:dk1>
        <a:srgbClr val="000000"/>
      </a:dk1>
      <a:lt1>
        <a:srgbClr val="FFFFFF"/>
      </a:lt1>
      <a:dk2>
        <a:srgbClr val="778495"/>
      </a:dk2>
      <a:lt2>
        <a:srgbClr val="F0F0F0"/>
      </a:lt2>
      <a:accent1>
        <a:srgbClr val="B80106"/>
      </a:accent1>
      <a:accent2>
        <a:srgbClr val="F65050"/>
      </a:accent2>
      <a:accent3>
        <a:srgbClr val="FC7C7C"/>
      </a:accent3>
      <a:accent4>
        <a:srgbClr val="FE6666"/>
      </a:accent4>
      <a:accent5>
        <a:srgbClr val="EE2222"/>
      </a:accent5>
      <a:accent6>
        <a:srgbClr val="D22828"/>
      </a:accent6>
      <a:hlink>
        <a:srgbClr val="B80106"/>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
    <a:dk1>
      <a:srgbClr val="000000"/>
    </a:dk1>
    <a:lt1>
      <a:srgbClr val="FFFFFF"/>
    </a:lt1>
    <a:dk2>
      <a:srgbClr val="778495"/>
    </a:dk2>
    <a:lt2>
      <a:srgbClr val="F0F0F0"/>
    </a:lt2>
    <a:accent1>
      <a:srgbClr val="B80106"/>
    </a:accent1>
    <a:accent2>
      <a:srgbClr val="F65050"/>
    </a:accent2>
    <a:accent3>
      <a:srgbClr val="FC7C7C"/>
    </a:accent3>
    <a:accent4>
      <a:srgbClr val="FE6666"/>
    </a:accent4>
    <a:accent5>
      <a:srgbClr val="EE2222"/>
    </a:accent5>
    <a:accent6>
      <a:srgbClr val="D22828"/>
    </a:accent6>
    <a:hlink>
      <a:srgbClr val="B80106"/>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5439</TotalTime>
  <Words>6088</Words>
  <Application>Microsoft Office PowerPoint</Application>
  <PresentationFormat>宽屏</PresentationFormat>
  <Paragraphs>342</Paragraphs>
  <Slides>44</Slides>
  <Notes>44</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2" baseType="lpstr">
      <vt:lpstr>-apple-system</vt:lpstr>
      <vt:lpstr>宋体</vt:lpstr>
      <vt:lpstr>微软雅黑</vt:lpstr>
      <vt:lpstr>Arial</vt:lpstr>
      <vt:lpstr>Calibri</vt:lpstr>
      <vt:lpstr>Times New Roman</vt:lpstr>
      <vt:lpstr>Office Theme</vt:lpstr>
      <vt:lpstr>Visio.Drawing.11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kan</dc:creator>
  <dc:description>http://www.ypppt.com/</dc:description>
  <cp:lastModifiedBy>成 杨</cp:lastModifiedBy>
  <cp:revision>237</cp:revision>
  <dcterms:created xsi:type="dcterms:W3CDTF">2017-08-18T03:02:00Z</dcterms:created>
  <dcterms:modified xsi:type="dcterms:W3CDTF">2026-08-17T03:17:39Z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2052-10.1.0.6929</vt:lpwstr>
  </property>
</Properties>
</file>