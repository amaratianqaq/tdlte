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88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 各位老师好, 我们小组的题目是基于软件无线电平台的TD-LTE物理层协议通信系统设计。我是路洋铭, 主要负责发射链路; 这位是吕坤炎, 负责接收链路; 系统联调与测试验证由我们两人共同完成。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本次汇报分十一个部分, 重点在收发链路实现与验证结果。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TD-LTE物理层是4G通信最底层, 本项目在MATLAB实现PUSCH结构完整收发链路, 并通过XSRP平台射频收发。任务书要求: 实现CRC、码块分割、Turbo编码、调制、导频等模块, 搭建完整系统, 最终CRC校验正确、误码率0。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系统分三层: MATLAB算法层、以太网UDP传输、XSRP射频收发。关键参数: 100RB共1200子载波, 2048点FFT, 14个OFDM符号, 导频在符号3和10, 三种调制方式。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帧结构: 10ms无线帧 → 1ms子帧 → 0.5ms时隙 → 7个OFDM符号。每子帧30720样点。数据子载波1199个(DC置空), 导频在符号3和10, 三种调制对应不同TBsize和码块数。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路洋铭负责发射链路Tx, 吕坤炎负责接收链路Rx, 链路串通、测试验证、硬件排障两人共同完成。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发射链路12个环节。输出1ms子帧30720样点IQ信号, 通过UDP发送到XSRP平台。功能分四组: 信道编码、调制传输、资源映射、OFDM。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信源按调制方式和TBsize生成随机比特。CRC24A用LFSR模2除法: 信息后补24个0, 首位为1就异或生成多项式, 余数即校验位。传输块级用CRC24A, 码块级用CRC24B。接收端再算一次, 余数为0说明未出错。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码块分割: B大于6144要分块, 每块长必须是协议表里的合法值, 不足补filler位数0处理, 每块加CRC24B。QPSK分3块K=5312, 16QAM分5块K=5696, 64QAM分9块K=6144。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Turbo编码: 两个8状态RSC子编码器+QPP交织器, 码率1/3, 尾比特强制状态归零。PCCC结构让两个编码器互相印证, 译码端才能迭代纠错。系统比特只传一份。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速率匹配三步: 子块交织(32列)→比特收集(循环缓冲)→比特选择(k0起读E位)。打孔只丢校验比特不丢系统比特。E分配余数按协议给最后γ个码块——这是调试中踩过的坑。级联后按顺序拼接送调制。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调制: QPSK 2bit/符号, 16QAM 4bit, 64QAM 6bit。I/Q交错位映射, 按36.211查表。能量归一化QPSK除√2, 16QAM除√10, 64QAM除√42。64QAM点间距小, 需要更高SNR。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导频生成: 先定组号u再定组内序号v, 构造ZC基序列(恒模), 再循环移位。导频在符号3和10。接收端拿这个已知序列做信道估计。DC子载波也置0与数据一致。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资源映射把数据和导频放上14×1200时频网格。OFDM三步: 子载波映射1200→2048补848个0, 2048点IFFT, 加CP。CP长的160其余144, 共30720样点。DC置空避免本振泄漏。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接收链路与发射端一一对应, 额外增加同步、信道估计、均衡、软判决四块。输入XSRP回传的IQ, 输出原始比特和CRC校验结果。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同步: 两级频偏搜索(粗±10kHz/100Hz, 细±150Hz/10Hz)+互相关定时。用已知发送信号做互相关最稳健, 抗DC/低频干扰。rho是对齐质量指标, 打通后0.98~0.99。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信道估计: 导频处LS估计→时域线性插值→频域平滑(窗64)。均衡用MMSE, 噪声方差的导频残差中位数估计。MMSE比ZF好在噪声大时不放大噪声。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软解调输出LLR软信息, 比硬判决多2~4dB增益。Turbo译码: 两个SISO译码器交换外信息迭代, 最多24次, Log-MAP比Max-Log-MAP好0.2~0.5dB。码块CRC24B通过提前终止。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联调验证: 分模块替换法+端到端验证脚本。结果: 三种调制全BER=0、CRC通过, 小TB含filler场景也通过。说明Tx和Rx模块实现正确, 链路串通成功。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性能测试三环节对比定位损耗。实测QPSK全链路约1dB比特SNR即可CRC通过, 约3.3dB每子载波, 只比纯Turbo的理论门槛高0.5dB, 接近理论极限。优化: 频域平滑+噪声方差中位数估计。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硬件联调: MATLAB发射数据UDP送给XSRP, 射频发出收回, 回传先同步再解调。排障历程: UDP收包→I路解包字节序(rho 0.3→0.8)→削波(扫txPeak)→64QAM相干平均→EVM定位底噪。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开发过程七个阶段: 先读三个3GPP协议, 然后两人并行实现Tx和Rx, 链路串通后性能优化, 最后硬件联调排障并开发可视化调试工具。git记录二十多次提交。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总结: 完整实现TD-LTE物理层收发链路, 三种调制全链路验证通过, 性能接近理论极限, 完成硬件联调排障。收获: 模块化系统化能力、协议理解、排障经验。展望: 标准实验环境硬件终验、下行链路扩展。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汇报完毕, 谢谢各位老师, 欢迎批评指正!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66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6692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66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66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66928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66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804672"/>
            <a:ext cx="2468880" cy="1097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基于软件无线电平台的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TD-LTE 物理层协议通信系统设计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课程设计验收汇报 ——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17520" y="4709160"/>
            <a:ext cx="6126480" cy="960120"/>
          </a:xfrm>
          <a:prstGeom prst="roundRect">
            <a:avLst>
              <a:gd name="adj" fmla="val 11429"/>
            </a:avLst>
          </a:prstGeom>
          <a:solidFill>
            <a:srgbClr val="123B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4818888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汇报人：路洋铭 · 吕坤炎
</a:t>
            </a:r>
            <a:endParaRPr lang="en-US" sz="17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分工：发射链路（Tx）· 接收链路（Rx）· 系统联调与验证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57784" y="1170432"/>
            <a:ext cx="1005840" cy="2743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0020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项目背景与任务需求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2048256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03704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203704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651760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0720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807208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关键参数与帧结构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3255264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41071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410712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开发分工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80160" y="3858768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01421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4014216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发射链路实现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4462272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61772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接收链路实现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5065776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60020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49440" y="1600200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系统联调与仿真验证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2048256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203704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49440" y="2203704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性能测试与优化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0" y="2651760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807208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2807208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硬件联调与排障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3255264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341071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49440" y="3410712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开发过程回顾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0" y="3858768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4014216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949440" y="4014216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9440" y="4462272"/>
            <a:ext cx="4251960" cy="7315"/>
          </a:xfrm>
          <a:prstGeom prst="rect">
            <a:avLst/>
          </a:prstGeom>
          <a:solidFill>
            <a:srgbClr val="2C568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项目背景与任务需求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了解任务: TD-LTE物理层链路 + XSRP软件无线电平台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36921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D:\TDLTE\docs\ppt_build\icons\towe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6550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572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TD-LTE 物理层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95528" y="2212848"/>
            <a:ext cx="482057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4G 核心: 物理层承载无线信道上的比特流传输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调制解调、信道编码、多址接入、资源分配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本项目: 实现 PUSCH 结构完整物理层收发链路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19565" y="1325880"/>
            <a:ext cx="536921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93885" y="155448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2" descr="D:\TDLTE\docs\ppt_build\icons\dis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469" y="16550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79685" y="1572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XSRP 软件无线电平台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12173" y="2212848"/>
            <a:ext cx="482057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机箱 + 射频部分 + 基带部分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IQ 数据 DA/AD 转换、上变频、射频天线收发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以太网传输 IQ 数据 (30.72MHz 采样)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2"/>
          <p:cNvSpPr/>
          <p:nvPr/>
        </p:nvSpPr>
        <p:spPr>
          <a:xfrm>
            <a:off x="502920" y="39776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任务要求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4434840"/>
            <a:ext cx="1118585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77240" y="4572000"/>
            <a:ext cx="10637215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功能要求  </a:t>
            </a: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根据给定模块接口实现 CRC/码块分割/Turbo编码/调制/导频等功能模块，搭建完整通信系统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指标要求  </a:t>
            </a: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发射/接收频率 2380MHz 可设置；发射衰减 1~90dB；接收增益 1~40dB；QPSK/16QAM/64QAM 可切换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验收标准  </a:t>
            </a: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完整链路接收数据 CRC 校验正确、误码率为 0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diagram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软硬件总体架构: MATLAB 算法层 + XSRP 射频收发层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805381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算法实现层 (MATLAB)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181051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" y="1810512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发射链路 Tx (PUSCH)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40480" y="181051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77056" y="1810512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接收链路 Rx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34086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信源→CRC→码块分割→Turbo→速率匹配→…→OFDM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25420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同步→FFT→信道估计→均衡→Turbo译码→解CRC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83524" y="2926080"/>
            <a:ext cx="292608" cy="181417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" y="3291840"/>
            <a:ext cx="8053816" cy="548640"/>
          </a:xfrm>
          <a:prstGeom prst="roundRect">
            <a:avLst>
              <a:gd name="adj" fmla="val 13333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3291840"/>
            <a:ext cx="8053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以太网 UDP 传输 · 采样率 30.72MHz · 每子帧 30720 样点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83524" y="3931920"/>
            <a:ext cx="292608" cy="181417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" y="4297680"/>
            <a:ext cx="805381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XSRP 软件无线电平台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482803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68096" y="48280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 转换 + 上变频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0" y="482803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779776" y="48280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射频发射 (2.38GHz)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482803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91456" y="48280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射频接收 + 下变频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766560" y="482803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03136" y="4828032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 转换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31520" y="53766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空中无线信道 (天线收发)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876776" y="1280160"/>
            <a:ext cx="2811999" cy="448056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59656" y="1389888"/>
            <a:ext cx="24462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077944" y="184708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 数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955768" y="1847088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(20MHz)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077944" y="23225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子载波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955768" y="2322576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 (15kHz)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077944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点数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955768" y="2798064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9077944" y="32735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OFDM符号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955768" y="3273552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14/子帧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077944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导频符号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955768" y="3749040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3、10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077944" y="42245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调制方式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955768" y="4224528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QPSK/16QAM/64QAM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077944" y="47000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载波频率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955768" y="4700016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2380 MHz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077944" y="517550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 size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955768" y="5175504"/>
            <a:ext cx="156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15840/28336/55056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wav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关键参数与帧结构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3GPP 36.211: 帧 → 子帧 → 时隙 → OFDM 符号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816645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帧结构分层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6596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无线帧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17520" y="1965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ms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2532888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53288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子帧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17520" y="2532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ms × 10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3099816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09981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时隙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17520" y="309981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ms × 2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" y="3666744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3816" y="3666744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 符号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017520" y="366674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× 2 = 14 个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7240" y="4233672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13816" y="4233672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采样点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017520" y="42336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2048 点/符号 + CP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7240" y="5029200"/>
            <a:ext cx="52680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每子帧 = 14×2048 + CP = 30720 样点 (30.72MHz × 1ms)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55140" y="1325880"/>
            <a:ext cx="5033635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29460" y="1481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参数明细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294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资源块 RB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92500" y="1965960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个 · 每 RB 12 子载波 × 180kHz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29460" y="23682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子载波间隔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392500" y="2368296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kHz (20MHz 带宽 / 1200 子载波)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92946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数据子载波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92500" y="2770632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1199 (DC 子载波第 601 行置空)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92946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导频位置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92500" y="3172968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3、10 (每时隙 1 个, 共 2 个)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29460" y="3575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数据符号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392500" y="3575304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个/子帧 (14 - 2 导频)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92946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 长度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92500" y="3977640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0: 160, 其余符号: 144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929460" y="43799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调制方式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392500" y="4379976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 (2bit) / 16QAM (4bit) / 64QAM (6bit)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929460" y="4782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 size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392500" y="4782312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15840 / 28336 / 55056 (对应三种调制)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929460" y="5184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码块数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392500" y="5184648"/>
            <a:ext cx="3021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(K=5312) / 5 (K=5696) / 9 (K=6144)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开发分工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/ Rx 双链路并行开发，联调验证共同完成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467615" cy="420624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B2B4A"/>
          </a:solidFill>
          <a:ln/>
        </p:spPr>
      </p:sp>
      <p:pic>
        <p:nvPicPr>
          <p:cNvPr id="8" name="Image 1" descr="D:\TDLTE\docs\ppt_build\icons\towe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7739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468880"/>
            <a:ext cx="2827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路洋铭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2926080"/>
            <a:ext cx="2827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发射链路 Tx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3401568"/>
            <a:ext cx="28275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信源生成与 CRC 添加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码块分割 + Turbo 编码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速率匹配与码块级联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加扰、调制、导频生成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资源映射与 OFDM 发射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62040" y="1371600"/>
            <a:ext cx="3467615" cy="4206240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8208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D:\TDLTE\docs\ppt_build\icons\chi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096" y="17739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82080" y="2468880"/>
            <a:ext cx="2827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吕坤炎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682080" y="2926080"/>
            <a:ext cx="2827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接收链路 Rx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82080" y="3401568"/>
            <a:ext cx="28275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时频同步 (频偏/定时)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 解调与解资源映射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信道估计与 MMSE 均衡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解调、解扰、解交织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Turbo 译码与 CRC 校验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1160" y="1371600"/>
            <a:ext cx="3467615" cy="4206240"/>
          </a:xfrm>
          <a:prstGeom prst="roundRect">
            <a:avLst>
              <a:gd name="adj" fmla="val 2110"/>
            </a:avLst>
          </a:prstGeom>
          <a:solidFill>
            <a:srgbClr val="0B2B4A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41200" y="1645920"/>
            <a:ext cx="640080" cy="64008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0" name="Image 3" descr="D:\TDLTE\docs\ppt_build\icons\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216" y="177393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41200" y="2468880"/>
            <a:ext cx="2827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共同完成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541200" y="2926080"/>
            <a:ext cx="2827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链路串通 · 测试验证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541200" y="3401568"/>
            <a:ext cx="28275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全链路串通与联调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误码率/SNR 性能测试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XSRP 硬件排障与优化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可视化调试工具开发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tow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发射链路总览 (Tx)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个环节 · 依据 3GPP TS 36.211 / 36.212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5855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621128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57704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信源生成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1520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0" name="Shape 7"/>
          <p:cNvSpPr/>
          <p:nvPr/>
        </p:nvSpPr>
        <p:spPr>
          <a:xfrm>
            <a:off x="3645256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81832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添加CRC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95648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9384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5960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码块分割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19776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693512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30088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Turbo编码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43904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9" name="Shape 16"/>
          <p:cNvSpPr/>
          <p:nvPr/>
        </p:nvSpPr>
        <p:spPr>
          <a:xfrm>
            <a:off x="6717640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54216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速率匹配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68032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2" name="Shape 19"/>
          <p:cNvSpPr/>
          <p:nvPr/>
        </p:nvSpPr>
        <p:spPr>
          <a:xfrm>
            <a:off x="7741768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8344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码块级联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592160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5" name="Shape 22"/>
          <p:cNvSpPr/>
          <p:nvPr/>
        </p:nvSpPr>
        <p:spPr>
          <a:xfrm>
            <a:off x="8765896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02472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交织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45256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81832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加扰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95648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9384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05960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19776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3" name="Shape 30"/>
          <p:cNvSpPr/>
          <p:nvPr/>
        </p:nvSpPr>
        <p:spPr>
          <a:xfrm>
            <a:off x="5693512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730088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导频生成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43904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6" name="Shape 33"/>
          <p:cNvSpPr/>
          <p:nvPr/>
        </p:nvSpPr>
        <p:spPr>
          <a:xfrm>
            <a:off x="6717640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23B6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754216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资源映射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568032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9" name="Shape 36"/>
          <p:cNvSpPr/>
          <p:nvPr/>
        </p:nvSpPr>
        <p:spPr>
          <a:xfrm>
            <a:off x="7741768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778344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OFDM+CP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02920" y="3520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1ms 子帧时域 IQ 信号 · 30720 样点 · 经 UDP 发往 XSRP 平台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02920" y="4160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43" name="Text 40"/>
          <p:cNvSpPr/>
          <p:nvPr/>
        </p:nvSpPr>
        <p:spPr>
          <a:xfrm>
            <a:off x="502920" y="41605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四组功能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02920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67512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1" descr="D:\TDLTE\docs\ppt_build\icons\cod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828032"/>
            <a:ext cx="219456" cy="219456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124712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信道编码组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67512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 → 码块分割 → Turbo → 速率匹配 → 级联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345104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3509696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1" name="Image 2" descr="D:\TDLTE\docs\ppt_build\icons\layer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848" y="4828032"/>
            <a:ext cx="219456" cy="219456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966896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调制传输组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3509696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交织 → 加扰 → 调制 → 导频生成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187288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351880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6" name="Image 3" descr="D:\TDLTE\docs\ppt_build\icons\filter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032" y="4828032"/>
            <a:ext cx="219456" cy="21945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6809080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资源映射组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6351880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资源映射 (100RB · 1200 子载波 · DC 置空)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9029471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9194063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1" name="Image 4" descr="D:\TDLTE\docs\ppt_build\icons\wav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215" y="4828032"/>
            <a:ext cx="219456" cy="219456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9651263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 组</a:t>
            </a:r>
            <a:endParaRPr lang="en-US" sz="1200" dirty="0"/>
          </a:p>
        </p:txBody>
      </p:sp>
      <p:sp>
        <p:nvSpPr>
          <p:cNvPr id="63" name="Text 56"/>
          <p:cNvSpPr/>
          <p:nvPr/>
        </p:nvSpPr>
        <p:spPr>
          <a:xfrm>
            <a:off x="9194063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子载波映射 → IFFT → 添加 CP → 时域输出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模块详解① 信源生成与 CRC 校验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CRC24A: 3GPP 36.212 §5.1.1 · 校验多项式模 2 除法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模块实现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659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 TBGen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2066544"/>
            <a:ext cx="201168" cy="12472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19659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38728" y="196596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CRC24A 附加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2697480"/>
            <a:ext cx="4596853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随机生成 TBsize 个 0/1 比特 (信源)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LFSR 模 2 除法: 信息补 24 个 0, 首位为 1 则异或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校验位附在信息后, 输出 B = TBsize + 24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生成多项式: gCRC24A = D²⁴+D²³+D¹⁸+D¹⁷+D¹⁴+D¹¹+D¹⁰+D⁷+D⁶+D⁵+D⁴+D³+D+1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码块级用 CRC24B (D²⁴+D²³+D⁶+D⁵+D+1), 传输块级用 24A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接收端再算一次 CRC, 余数为 0 → 无误码 (CRC 只检错不纠错)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Tx/CRCAttach.m, Tx/TBGen.m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gro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模块详解② 码块分割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36.212 §5.1.2 · 大传输块拆成 ≤6144 位的码块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实现流程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B = TBsize+24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2093976"/>
            <a:ext cx="201168" cy="12472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1993392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75888" y="19933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&gt; 6144 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2743200"/>
            <a:ext cx="4596853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ceil(B / 6120) 确定码块数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按协议表选 K+ / K- 两个合法块长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不足的用 filler (填充比特, 按 0 处理) 补齐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每块尾部附加 24 位 CRC24B (第二次 CRC)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 (三种调制)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70168" y="19933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76008" y="19933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TBsize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27568" y="199339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码块数 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433408" y="19933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块长 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484968" y="19933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filler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70168" y="24048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76008" y="24048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15840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27568" y="24048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433408" y="24048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5312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484968" y="24048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70168" y="28163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16QAM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76008" y="281635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28336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27568" y="28163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433408" y="281635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5696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484968" y="28163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70168" y="3227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76008" y="32278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55056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427568" y="32278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433408" y="32278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6144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484968" y="32278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70168" y="379476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64QAM: K×C = 6144×9 = 55296 = B′ 恰好整除, 无填充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70168" y="4297680"/>
            <a:ext cx="5044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Tx/CodeBlockSeg.m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og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模块详解③ Turbo 编码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36.212 §5.1.3.2 · PCCC 并行级联卷积码 · 码率 1/3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编码器结构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659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输入码块 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251460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" y="251460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RSC 编码器1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34640" y="251460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871216" y="251460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RSC 编码器2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97480" y="2157984"/>
            <a:ext cx="146304" cy="90708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2834640" y="196596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871216" y="1965960"/>
            <a:ext cx="1755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QPP 交织器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697480" y="2615184"/>
            <a:ext cx="146304" cy="90708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154680"/>
            <a:ext cx="45968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系统流 d0 + 校验流 d1 + 校验流 d2 (每流 K+4 位)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3657600"/>
            <a:ext cx="459685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状态 RSC: g0(D)=1+D²+D³, g1(D)=1+D+D³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QPP 交织: Π(i) = (f1·i + f2·i²) mod K, f1/f2 查表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尾比特: 3 步强制寄存器归零, 两编码器共 12 位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编码速率 1/3: 1 位信息产生 3 位编码输出 (冗余比例大, 纠错能力强)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交织打乱顺序 → 两个编码器看到不同的信息顺序 → 译码时互相印证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尾比特保证终止状态为 0, 译码端才知道网格终点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系统比特只发一份, 第二路只发校验 → 省资源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Tx/TurboEncode.m + Tx/TurboIntlvrIdx.m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swa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模块详解④ 速率匹配与码块级联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36.212 §5.1.4 · 子块交织→比特收集→比特选择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三步流程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子块交织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19751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三路数据按 32 列排矩阵, 列置换后读出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9077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9077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比特收集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23160" y="28895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装入循环缓冲 w: v0 全部 + v1/v2 逐位交错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8221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比特选择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23160" y="38039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k0 起读 E 个比特, 循环重复或部分丢弃 (打孔)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7240" y="4846320"/>
            <a:ext cx="45968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级联: 各码块 E 位按顺序拼接 → 调制输入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自适应信道容量: 编码输出 ≠ 物理信道可承载比特数, 必须打孔/重复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打孔优先级: 只丢校验比特, 绝不丢系统比特 (先丢第二路再丢第一路)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分配: G 不被码块数整除时, 余数按协议分给最后 γ 个码块 (rateMatchEr.m)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接收端逆过程: 重复位 LLR 相加 = 软合并, 打孔位按擦除置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Tx/RateMatch.m + Tx/CodeBlockCat.m + Rx/DeRateMatch.m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wav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模块详解⑤ 调制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36.211 §7.1 · QPSK / 16QAM / 64QAM · 符号能量归一化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星座图速览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65960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659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bit/符号 · 4 个星座点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441448"/>
            <a:ext cx="45968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 1/√2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7240" y="27432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3816" y="2743200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16QAM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659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bit/符号 · 16 个星座点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3218688"/>
            <a:ext cx="45968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 1/√10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7240" y="35204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13816" y="3520440"/>
            <a:ext cx="978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659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bit/符号 · 64 个星座点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3995928"/>
            <a:ext cx="45968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 1/√42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" y="4480560"/>
            <a:ext cx="45968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"交错位"映射: I 由第 1,3(,5) 位决定, Q 由第 2,4(,6) 位决定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调制把比特变成复值符号, 映射规则与接收端解调严格对应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能量归一化: 保证统计上每个符号平均能量为 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 点间距小 → 同噪声下更难判对, 需要更高 SNR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发送与接收端必须用同一套映射规则 (解调全错的常见原因)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Tx/Modulate.m, Rx/DemodulateSoft.m (LLR 软判决)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dis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模块详解⑥ 导频生成 (DMRS)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36.211 §5.5.1/5.5.2 · 信道估计的参照信号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生成步骤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定组号 u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19751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= (fgh + fss) mod 30, fss = (CellID + Δss) mod 30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95351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9535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定组内序号 v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23160" y="293522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序列跳转关闭时 v = 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391363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9136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构造 ZC 基序列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23160" y="389534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x_q(m) = exp(-jπq·m(m+1)/N_ZC), 恒模序列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48737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3816" y="487375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循环移位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423160" y="485546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= 2π·n_cs/12, 按 CellID/NDMRS1/cyc_shift 计算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导频是接收端已知的参考序列 → 信道估计 (LS) 的依据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位于符号 3、10 (每时隙 1 个), 与数据时分复用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ZC 序列恒模: |r(n)| = 1, 便于信道估计且峰均比低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映射: 每 RB 12 个子载波, DC 位置置 0 (与数据侧一致)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Tx/RefSignalGen.m (含组跳转/序列跳转选项)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filt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模块详解⑦ 资源映射与 OFDM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3GPP 36.211 §5.3.4 / §5.3.3 · 时频网格 → 时域 IQ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 三步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B2B4A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子载波映射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19751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 → 2048: 后 600 放前, 前 600 放后, 中间补 848 个 0 (genFredata)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9077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9077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IFFT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23160" y="28895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每符号 2048 点 IFFT, 频域转时域 (genantdata)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8221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加 CP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23160" y="38039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 0 加 160 点, 其余加 144 点, 尾部拷贝到头部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7240" y="4892040"/>
            <a:ext cx="459685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资源映射: 14 符号 × 1200 子载波网格, 数据占 12 符号, 导频占 2 符号, DC 置空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OFDM: 多载波并行传输, 子载波间隔 15kHz 保证正交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IFFT/FFT 实现了"数学上的多载波调制", 简化系统复杂度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 消除符号间干扰 (ISI) 和子载波间干扰 (ICI)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子载波置空: 避免本振泄漏直接落在数据上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Tx/ResMap.m + Tx/OFDMMod.m (覆盖任务书任务 6/7)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hi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接收链路总览 (Rx)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个环节 · 与发射端一一对应 + 同步/信道估计/均衡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5855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621128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57704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时频同步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71520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0" name="Shape 7"/>
          <p:cNvSpPr/>
          <p:nvPr/>
        </p:nvSpPr>
        <p:spPr>
          <a:xfrm>
            <a:off x="3645256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81832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去CP+FFT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95648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9384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5960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解资源映射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19776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693512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30088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信道估计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43904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9" name="Shape 16"/>
          <p:cNvSpPr/>
          <p:nvPr/>
        </p:nvSpPr>
        <p:spPr>
          <a:xfrm>
            <a:off x="6717640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54216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MMSE均衡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68032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2" name="Shape 19"/>
          <p:cNvSpPr/>
          <p:nvPr/>
        </p:nvSpPr>
        <p:spPr>
          <a:xfrm>
            <a:off x="7741768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78344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软解调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592160" y="201168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5" name="Shape 22"/>
          <p:cNvSpPr/>
          <p:nvPr/>
        </p:nvSpPr>
        <p:spPr>
          <a:xfrm>
            <a:off x="8765896" y="182880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02472" y="18288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解扰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45256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81832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解交织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495648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9384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05960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解速率匹配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19776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3" name="Shape 30"/>
          <p:cNvSpPr/>
          <p:nvPr/>
        </p:nvSpPr>
        <p:spPr>
          <a:xfrm>
            <a:off x="5693512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730088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Turbo译码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43904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6" name="Shape 33"/>
          <p:cNvSpPr/>
          <p:nvPr/>
        </p:nvSpPr>
        <p:spPr>
          <a:xfrm>
            <a:off x="6717640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2A86A8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754216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码块汇聚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568032" y="2971800"/>
            <a:ext cx="128016" cy="79370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9" name="Shape 36"/>
          <p:cNvSpPr/>
          <p:nvPr/>
        </p:nvSpPr>
        <p:spPr>
          <a:xfrm>
            <a:off x="7741768" y="2788920"/>
            <a:ext cx="804672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778344" y="278892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解CRC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02920" y="3520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XSRP 回传的 30720 样点 IQ · 输出: 原始信息比特 + CRC 校验结果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02920" y="4160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43" name="Text 40"/>
          <p:cNvSpPr/>
          <p:nvPr/>
        </p:nvSpPr>
        <p:spPr>
          <a:xfrm>
            <a:off x="502920" y="41605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相比发射端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02920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67512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1" descr="D:\TDLTE\docs\ppt_build\icons\sync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828032"/>
            <a:ext cx="219456" cy="219456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124712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新增① 同步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67512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硬件引入的延迟/频偏, 必须先校正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345104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3509696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1" name="Image 2" descr="D:\TDLTE\docs\ppt_build\icons\char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2848" y="4828032"/>
            <a:ext cx="219456" cy="219456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966896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新增② 信道估计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3509696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用导频估计信道, 频域平滑降噪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187288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351880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6" name="Image 3" descr="D:\TDLTE\docs\ppt_build\icons\filter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032" y="4828032"/>
            <a:ext cx="219456" cy="21945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6809080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新增③ 均衡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6351880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MMSE 补偿信道, 恢复符号位置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9029471" y="4617720"/>
            <a:ext cx="2659304" cy="1417320"/>
          </a:xfrm>
          <a:prstGeom prst="roundRect">
            <a:avLst>
              <a:gd name="adj" fmla="val 516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9194063" y="4754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1" name="Image 4" descr="D:\TDLTE\docs\ppt_build\icons\swap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215" y="4828032"/>
            <a:ext cx="219456" cy="219456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9651263" y="4754880"/>
            <a:ext cx="1927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新增④ 软判决</a:t>
            </a:r>
            <a:endParaRPr lang="en-US" sz="1200" dirty="0"/>
          </a:p>
        </p:txBody>
      </p:sp>
      <p:sp>
        <p:nvSpPr>
          <p:cNvPr id="63" name="Text 56"/>
          <p:cNvSpPr/>
          <p:nvPr/>
        </p:nvSpPr>
        <p:spPr>
          <a:xfrm>
            <a:off x="9194063" y="5212080"/>
            <a:ext cx="2330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LLR 软信息喂给 Turbo 迭代译码</a:t>
            </a:r>
            <a:endParaRPr lang="en-US" sz="950" dirty="0"/>
          </a:p>
        </p:txBody>
      </p:sp>
      <p:sp>
        <p:nvSpPr>
          <p:cNvPr id="64" name="Text 57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sync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模块详解① 时频同步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syncLTE.m · 两级频偏搜索 + 互相关定时 · 硬件联调第一步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实现流程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粗频偏搜索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19751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±10kHz / 100Hz 步进, 每档去频偏后互相关取峰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9077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9077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细频偏搜索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23160" y="28895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±150Hz / 10Hz 步进, 精确定位频偏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38221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8221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定时对齐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23160" y="38039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互相关峰值滞后 → 循环移位对齐, 输出 rho/cfo/delay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7240" y="4892040"/>
            <a:ext cx="459685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为什么必须做: 硬件环回存在未知延迟与频偏, 跳过此步 OFDM 符号错位, 解调全乱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用已知发送信号 txIQ 做互相关, 不依赖 CP 相关 → 抗 DC/低频干扰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粗搜步进 100Hz 必须远小于相关主瓣宽度 1/T (≈1kHz), 否则错过峰值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rho = 归一化互相关, 衡量"收到的信号里有多少是我们发的"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硬件打通后实测 rho≈0.98~0.99, 排查阶段仅 0.3 → 判断链路的关键指标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syncLTE.m (TD_LTE_Main.m 中解调前调用)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模块详解② 信道估计与 MMSE 均衡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ChanEst.m + Equalize.m · 利用导频恢复信道影响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估计流程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199339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" y="19933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LS 估计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197510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在导频符号 3、10 处: H = rxGrid / 参考导频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86207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" y="286207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时域插值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23160" y="284378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线性插值扩展到全部 14 个符号, 前后用导频值外推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" y="37307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73075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频域平滑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423160" y="371246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movmean(窗 64) 沿子载波滑动平均, 压低估计噪声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459943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2A900"/>
          </a:solidFill>
          <a:ln w="6350">
            <a:solidFill>
              <a:srgbClr val="FFFFFF"/>
            </a:solidFill>
            <a:prstDash val="solid"/>
          </a:ln>
          <a:effectLst>
            <a:outerShdw blurRad="50800" dist="19050" dir="5400000" algn="bl" rotWithShape="0">
              <a:srgbClr val="9AA8B8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3816" y="459943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MMSE 均衡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423160" y="4581144"/>
            <a:ext cx="29509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rx·conj(H) / (|H|² + σ²), 噪声大自动收缩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信道估计目的: 补偿空中传播的幅度衰减与相位旋转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MMSE vs ZF: ZF 会放大噪声, MMSE 在噪声大时"少拉一点"更稳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噪声方差用导频残差 |rx−H·rs|² 的**中位数**估计 (抗坏子载波)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位置无导频 → 置 NaN 跳过, 各处口径一致防错位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Rx/ChanEst.m + Rx/Equalize.m + Rx/ExtractData.m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od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模块详解③ 软解调与 Turbo 译码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LLR 软判决 + Log-MAP 迭代译码 · 纠错核心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45493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软解调 (LLR)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45968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LLR(b) = (min|s−c₀|² − min|s−c₁|²) / σ²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596853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输出带置信度的软信息, 而非硬判决 0/1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软判决比硬判决带来约 2~4dB 增益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限幅 ±30 防止 Turbo 译码数值溢出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Rx/DemodulateSoft.m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95848" y="1325880"/>
            <a:ext cx="5592928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0168" y="14813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Turbo 译码 (Log-MAP 迭代)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70168" y="1993392"/>
            <a:ext cx="50442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SISO 译码器交替工作: SISO1 输出外信息 → 交织 → SISO2 先验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SISO2 输出外信息 → 解交织 → 下一次 SISO1 先验 (最大迭代 24 次)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交换的是"外信息" (extrinsic), 不是完整后验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Log-MAP 用 max* 保留修正项, 比 Max-Log-MAP 有 0.2~0.5dB 增益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码块 CRC24B 通过 → 提前终止迭代 (省算力)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代码: Rx/TurboDecode.m (BCJR 对数域实现)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系统联调与仿真验证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verify_chain.m: 无信道直通端到端验证 Tx→Rx 全链路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816645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5361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全链路验证结果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299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调制方式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86000" y="20299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 size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37560" y="2029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误码率 BER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97680" y="202996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CRC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74920" y="20299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245059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86000" y="245059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15840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37560" y="245059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97680" y="245059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74920" y="24505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通过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28712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16QAM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286000" y="287121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28336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37560" y="28712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297680" y="28712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74920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通过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724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86000" y="329184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55056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337560" y="329184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297680" y="329184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74920" y="3291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通过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77240" y="371246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 小TB(100)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86000" y="371246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filler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337560" y="37124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297680" y="371246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74920" y="37124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通过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766999" y="1371600"/>
            <a:ext cx="4921776" cy="2834640"/>
          </a:xfrm>
          <a:prstGeom prst="roundRect">
            <a:avLst>
              <a:gd name="adj" fmla="val 2581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041319" y="1600200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5" name="Image 1" descr="D:\TDLTE\docs\ppt_build\icons\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47" y="1709928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772839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验证结论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7059607" y="2286000"/>
            <a:ext cx="433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三种调制方式全链路 BER=0、CRC 校验通过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 TB 含 filler + 比特重复场景同样通过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/ Rx 模块实现正确，链路串通成功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502920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9" name="Text 35"/>
          <p:cNvSpPr/>
          <p:nvPr/>
        </p:nvSpPr>
        <p:spPr>
          <a:xfrm>
            <a:off x="502920" y="45262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联调方法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02920" y="498348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777240" y="5120640"/>
            <a:ext cx="106372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分模块替换验证：</a:t>
            </a: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将自编模块替换加密 .p 参考模块，运行主程序对比实验现象；逐模块替换、逐级调试，确保与参考实现行为一致后再替换下一模块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端到端验证：</a:t>
            </a: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自研脚本 verify_chain.m 固定随机种子，Tx 输出直通 Rx 输入，统计 BER 与 CRC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性能测试与优化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snr_floor_test.m: 定位各环节 SNR 门槛，逐环节优化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36921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5361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三环节对比测试 (AWGN)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299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31720" y="20299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20299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4871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全链路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31720" y="24871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txIQ+噪声 → 完整收端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24871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当前代码门槛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9443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理想信道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31720" y="29443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H=1 + 精确噪声方差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29443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隔离信道估计损耗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34015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纯Turbo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31720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编码→BPSK→软解调→译码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34015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隔离Turbo/速率匹配损耗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3886200"/>
            <a:ext cx="4820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 理论: 码率≈0.55 Turbo 在 0~4dB bit SNR 即可通过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19565" y="1371600"/>
            <a:ext cx="536921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593885" y="1517904"/>
            <a:ext cx="48205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实测门槛 (CRC=1 最低 bit SNR)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593885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纯Turbo (C)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428525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dB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593885" y="281635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+ 频域平滑 (A)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428525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 dB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93885" y="35295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理想信道 (B)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428525" y="35295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 dB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93885" y="3886200"/>
            <a:ext cx="4820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≈3.3 dB/子载波 · 全链路仅比纯Turbo高 0.5dB，接近理论极限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7091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091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优化措施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77240" y="53492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4" name="Image 1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431536"/>
            <a:ext cx="246888" cy="2468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325880" y="530352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频域平滑信道估计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1325880" y="5650992"/>
            <a:ext cx="431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 估计沿子载波滑动平均 (窗64), 显著降低低 SNR 下估计噪声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278728" y="53492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8" name="Image 2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24" y="5431536"/>
            <a:ext cx="246888" cy="2468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27368" y="530352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噪声方差估计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6827368" y="5650992"/>
            <a:ext cx="431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利用导频残差中位数估计, 保证 MMSE 均衡稳定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war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硬件联调与排障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XSRP 平台以太网环回: UDP 收发 + 时频同步 + 逐项排障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1185855" cy="1005840"/>
          </a:xfrm>
          <a:prstGeom prst="roundRect">
            <a:avLst>
              <a:gd name="adj" fmla="val 7273"/>
            </a:avLst>
          </a:prstGeom>
          <a:solidFill>
            <a:srgbClr val="E8F2F7"/>
          </a:solidFill>
          <a:ln w="12700">
            <a:solidFill>
              <a:srgbClr val="B8D5E4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1732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联调链路：</a:t>
            </a: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MATLAB Tx → UDP (端口 13344/13345) → XSRP 射频发射 → 空中/直连 → XSRP 接收 → UDP 回传 → syncLTE 同步 → Rx 解调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同步策略：</a:t>
            </a:r>
            <a:r>
              <a:rPr lang="en-US" sz="12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硬件存在未知延迟与频偏，利用已知发送信号做两级频偏搜索 + 互相关定时对齐后再解调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6060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6060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排障历程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063240"/>
            <a:ext cx="2090867" cy="21488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10610" y="3264408"/>
            <a:ext cx="475488" cy="47548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2" name="Image 1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707" y="335950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3200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7512" y="3931920"/>
            <a:ext cx="1761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收包修复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67512" y="4434840"/>
            <a:ext cx="176168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端口/防火墙问题, 122880 字节稳定收发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76667" y="3063240"/>
            <a:ext cx="2090867" cy="21488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84357" y="326440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2" descr="D:\TDLTE\docs\ppt_build\icons\war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454" y="335950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13827" y="3200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941259" y="3931920"/>
            <a:ext cx="1761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路解包修复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2941259" y="4434840"/>
            <a:ext cx="176168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I/Q 交织解包 + 字节序, 互相关 rho 0.3→0.8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050414" y="3063240"/>
            <a:ext cx="2090867" cy="21488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58104" y="326440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3" descr="D:\TDLTE\docs\ppt_build\icons\war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01" y="335950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7574" y="3200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215006" y="3931920"/>
            <a:ext cx="1761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削波问题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215006" y="4434840"/>
            <a:ext cx="176168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PAPR≈1.14 满幅削波 → 扫 txPeak 2047→50 找无削波工作点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324161" y="3063240"/>
            <a:ext cx="2090867" cy="21488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31851" y="326440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4" descr="D:\TDLTE\docs\ppt_build\icons\war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948" y="3359506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61321" y="3200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88753" y="3931920"/>
            <a:ext cx="1761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64QAM 门限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488753" y="4434840"/>
            <a:ext cx="176168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K=16 帧相干平均: rho 0.224→0.292, BER≈1e-4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9597908" y="3063240"/>
            <a:ext cx="2090867" cy="21488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05598" y="326440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6" name="Image 5" descr="D:\TDLTE\docs\ppt_build\icons\warn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695" y="3359506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735068" y="3200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762500" y="3931920"/>
            <a:ext cx="1761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EVM 实测定位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9762500" y="4434840"/>
            <a:ext cx="176168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每子载波 SNR≈-1.77dB → 判定为设备底噪地板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" y="548640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0B2B4A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算法链路仿真验证全部通过；射频环回受设备底噪/负载影响，OFDM 信号被淹没约 20dB，已定位根因并待标准实验环境终验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ro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开发过程回顾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阶段化推进: 原理 → 模块 → 链路 → 硬件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530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4"/>
          <p:cNvSpPr/>
          <p:nvPr/>
        </p:nvSpPr>
        <p:spPr>
          <a:xfrm>
            <a:off x="21090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8" name="Shape 5"/>
          <p:cNvSpPr/>
          <p:nvPr/>
        </p:nvSpPr>
        <p:spPr>
          <a:xfrm>
            <a:off x="13318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232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232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理解任务与协议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4415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 36.211/36.212/36.213, 梳理物理层链路流程与模块接口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246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34806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14" name="Shape 11"/>
          <p:cNvSpPr/>
          <p:nvPr/>
        </p:nvSpPr>
        <p:spPr>
          <a:xfrm>
            <a:off x="27034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948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948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链路实现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8131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路洋铭: 信源→CRC→码块分割→Turbo→速率匹配→级联→交织加扰→调制→导频→资源映射→OFDM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962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6"/>
          <p:cNvSpPr/>
          <p:nvPr/>
        </p:nvSpPr>
        <p:spPr>
          <a:xfrm>
            <a:off x="48522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20" name="Shape 17"/>
          <p:cNvSpPr/>
          <p:nvPr/>
        </p:nvSpPr>
        <p:spPr>
          <a:xfrm>
            <a:off x="40750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64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664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 链路实现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1847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吕坤炎: 同步→FFT→解资源映射→信道估计→均衡→解调→解扰→解交织→解速率匹配→Turbo译码→解CRC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9678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2"/>
          <p:cNvSpPr/>
          <p:nvPr/>
        </p:nvSpPr>
        <p:spPr>
          <a:xfrm>
            <a:off x="62238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26" name="Shape 23"/>
          <p:cNvSpPr/>
          <p:nvPr/>
        </p:nvSpPr>
        <p:spPr>
          <a:xfrm>
            <a:off x="54466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380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5380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链路串通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5563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分模块替换验证 + verify_chain 端到端验证, 三种调制 BER=0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3394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8"/>
          <p:cNvSpPr/>
          <p:nvPr/>
        </p:nvSpPr>
        <p:spPr>
          <a:xfrm>
            <a:off x="75954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32" name="Shape 29"/>
          <p:cNvSpPr/>
          <p:nvPr/>
        </p:nvSpPr>
        <p:spPr>
          <a:xfrm>
            <a:off x="68182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96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9096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279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snr_floor_test 定位损耗, 频域平滑+噪声方差估计, QPSK 门槛降到 ≈1dB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711032" y="1600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967064" y="1714500"/>
            <a:ext cx="1115568" cy="27432"/>
          </a:xfrm>
          <a:prstGeom prst="rect">
            <a:avLst/>
          </a:prstGeom>
          <a:solidFill>
            <a:srgbClr val="B8D5E4"/>
          </a:solidFill>
          <a:ln/>
        </p:spPr>
      </p:sp>
      <p:sp>
        <p:nvSpPr>
          <p:cNvPr id="38" name="Shape 35"/>
          <p:cNvSpPr/>
          <p:nvPr/>
        </p:nvSpPr>
        <p:spPr>
          <a:xfrm>
            <a:off x="81898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812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812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硬件联调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82995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XSRP 环回, UDP 收发, 同步算法, 逐项排障 (解包/削波/相干平均/EVM)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082632" y="1600200"/>
            <a:ext cx="256032" cy="256032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3" name="Shape 40"/>
          <p:cNvSpPr/>
          <p:nvPr/>
        </p:nvSpPr>
        <p:spPr>
          <a:xfrm>
            <a:off x="9561424" y="2103120"/>
            <a:ext cx="1298448" cy="301752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52864" y="2258568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阶段7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652864" y="2606040"/>
            <a:ext cx="1115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工具与收尾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9671152" y="3337560"/>
            <a:ext cx="10789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可视化界面 td_lte_visualizer, 排障报告整理, 多轮代码评审与优化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D:\TDLTE\docs\ppt_build\icons\bulb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" y="237744"/>
            <a:ext cx="1052748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61288" y="758952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成果回顾 · 收获 · 后续工作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6711513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95528" y="2011680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1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2088490"/>
            <a:ext cx="230429" cy="230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4168" y="1965960"/>
            <a:ext cx="56142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完整实现 TD-LTE 物理层 PUSCH 收发链路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44168" y="2313432"/>
            <a:ext cx="5614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12 个环节 + Rx 12 个环节, 全部依据 3GPP 36.211/36.212 实现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95528" y="2688336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2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276514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4168" y="2642616"/>
            <a:ext cx="56142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全链路验证通过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344168" y="2990088"/>
            <a:ext cx="5614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 / 16QAM / 64QAM 误码率 0、CRC 校验正确, 含小 TB 场景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95528" y="3364992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7" name="Image 3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3441802"/>
            <a:ext cx="230429" cy="2304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4168" y="3319272"/>
            <a:ext cx="56142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性能接近理论极限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344168" y="3666744"/>
            <a:ext cx="5614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QPSK 约 1dB bit SNR 即可通过 (≈3.3dB/子载波), 距纯 Turbo 门槛仅 0.5dB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95528" y="404164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4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4118458"/>
            <a:ext cx="230429" cy="23042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3995928"/>
            <a:ext cx="56142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硬件联调与排障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344168" y="4343400"/>
            <a:ext cx="5614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 收发稳定, 完成同步/解包/削波/相干平均等系列排障, 定位设备底噪根因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95528" y="4718304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5" name="Image 5" descr="D:\TDLTE\docs\ppt_build\icons\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4795114"/>
            <a:ext cx="230429" cy="23042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44168" y="4672584"/>
            <a:ext cx="56142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工具沉淀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344168" y="5020056"/>
            <a:ext cx="5614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可视化调试界面 td_lte_visualizer + 自动化验证/测试脚本 + 排障报告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661867" y="1325880"/>
            <a:ext cx="4026908" cy="2011680"/>
          </a:xfrm>
          <a:prstGeom prst="roundRect">
            <a:avLst>
              <a:gd name="adj" fmla="val 3636"/>
            </a:avLst>
          </a:prstGeom>
          <a:solidFill>
            <a:srgbClr val="0B2B4A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7890467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7890467" y="1901952"/>
            <a:ext cx="3569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 + 系统化搭建通信系统的能力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 LTE 物理层协议与实现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软硬件联调与排障实战经验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7661867" y="3520440"/>
            <a:ext cx="40269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9AA8B8">
                <a:alpha val="25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7890467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890467" y="4096512"/>
            <a:ext cx="356970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TD-LTE 实验环境完成硬件终验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支持更高阶调制与多天线扩展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尝试下行链路 (PDSCH) 实现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8735" y="6473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852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85216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852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852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85216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8521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A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 · 欢迎提问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路洋铭 · 吕坤炎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3184</Words>
  <Application>Microsoft Office PowerPoint</Application>
  <PresentationFormat>宽屏</PresentationFormat>
  <Paragraphs>556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基于软件无线电平台的TD-LTE物理层协议通信系统设计</dc:title>
  <dc:subject>PptxGenJS Presentation</dc:subject>
  <dc:creator>路洋铭 吕坤炎</dc:creator>
  <cp:lastModifiedBy>kunyan lv</cp:lastModifiedBy>
  <cp:revision>3</cp:revision>
  <dcterms:created xsi:type="dcterms:W3CDTF">2026-08-27T13:04:16Z</dcterms:created>
  <dcterms:modified xsi:type="dcterms:W3CDTF">2026-08-27T13:16:54Z</dcterms:modified>
</cp:coreProperties>
</file>