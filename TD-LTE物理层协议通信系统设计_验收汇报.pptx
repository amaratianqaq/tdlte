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开场: 各位老师好, 我们小组的题目是基于软件无线电平台的TD-LTE物理层协议通信系统设计。我是路洋铭, 主要负责发射链路; 这位是吕坤炎, 负责接收链路; 系统联调与测试验证由我们两人共同完成。下面由我代表小组进行汇报。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本次汇报分为九个部分: 背景与任务、总体设计、分工、收发链路实现、仿真验证、性能测试、硬件联调、总结。重点在实现与验证部分。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先介绍背景: TD-LTE物理层是4G通信的最底层, 负责比特流的无线传输。本项目在MATLAB中实现PUSCH结构的完整物理层收发链路, 并通过XSRP软件无线电平台做射频收发。任务书要求: 实现CRC、码块分割、Turbo编码、调制、导频等功能模块, 搭建完整系统, 最终做到CRC校验正确、误码率0。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系统分三层: 最上层是MATLAB算法层, 实现完整的发射与接收链路; 中间是以太网UDP传输IQ数据; 下层是XSRP平台, 完成数模转换、上变频、射频收发。关键参数: 100个RB共1200子载波, 2048点FFT, 每子帧14个OFDM符号, 导频在符号3和10, 支持三种调制方式。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分工: 路洋铭负责发射链路Tx, 覆盖信源到OFDM发射全部模块; 吕坤炎负责接收链路Rx, 覆盖同步、信道估计、均衡、Turbo译码; 链路串通、测试验证、硬件排障是两人共同完成的。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发射链路共11个模块: 信源生成随机比特, 添加CRC24A校验, 码块分割后每个码块做Turbo编码, 速率匹配适配信道容量, 级联后交织加扰, 再按QPSK/16QAM/64QAM调制, 同时生成导频序列, 一起做资源映射, 最后IFFT加CP生成时域IQ数据。三个关键模块: CRC24A按协议多项式计算; Turbo编码是双RSC并行级联, 交织器用QPP置换; 速率匹配通过重复或打孔适配资源, 打孔只丢校验比特。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接收链路与发射链路一一对应, 额外加入三个关键模块: 时频同步使用两级频偏搜索加互相关定时, 校正硬件引入的帧偏移和载波频偏; 信道估计利用导频做LS估计后频域平滑, 再按MMSE准则均衡; Turbo译码采用两个SISO译码器迭代交换外信息, 最大24次迭代。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联调验证: 采用分模块替换法, 把我们写的模块替换掉加密的参考.p文件, 逐步对比验证; 同时写了端到端验证脚本, 发射直通接收统计误码率。结果: QPSK、16QAM、64QAM三种调制全部BER=0、CRC通过, 小传输块含填充比特和重复的场景也通过。这说明Tx和Rx模块实现正确, 链路串通成功。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性能测试用三环节对比定位损耗: 全链路、理想信道、纯Turbo。实测QPSK全链路约1dB比特SNR即可CRC通过, 即约3.3dB每子载波SNR, 只比纯Turbo的理论门槛高0.5dB, 接近理论极限。主要优化是频域平滑信道估计和噪声方差估计。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硬件联调: MATLAB发射数据通过UDP送给XSRP平台, 射频发出去再收回来, 回传数据先做两级频偏搜索和互相关定时同步, 再进接收链路。排障历程: 先是UDP收包问题, 修复后稳定收发; 然后发现I路解包字节序问题, 修复后互相关从0.3提升到0.8; 接着是接收削波, 通过扫描发送峰值找到无削波工作点; 64QAM通过16帧相干平均把BER压到1e-4; 最后用EVM实测定位到设备底噪约-1.77dB每子载波, 判定信号被设备底噪淹没约20dB, 需要在标准TD-LTE实验环境下终验。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开发过程分七个阶段: 先读透三个3GPP协议理解原理; 然后两人并行实现Tx和Rx; 链路串通后做性能优化; 最后硬件联调排障, 并开发了可视化调试工具。整个过程多轮迭代, 从git记录看经历了二十多次提交。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总结: 完整实现了TD-LTE物理层收发链路, 三种调制全链路验证通过, 性能接近理论极限, 完成硬件联调和系统化排障。收获方面, 我们掌握了模块化系统化搭建通信系统的方法, 深入理解了LTE物理层协议。后续希望在标准实验环境下完成硬件终验, 并扩展下行链路。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汇报完毕, 谢谢各位老师, 欢迎批评指正!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image" Target="../media/image-12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" y="56692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566928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Shape 3"/>
          <p:cNvSpPr/>
          <p:nvPr/>
        </p:nvSpPr>
        <p:spPr>
          <a:xfrm>
            <a:off x="1572768" y="56692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1883664" y="56692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2194560" y="566928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8" name="Shape 6"/>
          <p:cNvSpPr/>
          <p:nvPr/>
        </p:nvSpPr>
        <p:spPr>
          <a:xfrm>
            <a:off x="2505456" y="56692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804672"/>
            <a:ext cx="2468880" cy="10973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87452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基于软件无线电平台的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31520" y="2542032"/>
            <a:ext cx="10698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TD-LTE 物理层协议通信系统设计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14400" y="3611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课程设计验收汇报 ——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017520" y="4709160"/>
            <a:ext cx="6126480" cy="960120"/>
          </a:xfrm>
          <a:prstGeom prst="roundRect">
            <a:avLst>
              <a:gd name="adj" fmla="val 11429"/>
            </a:avLst>
          </a:prstGeom>
          <a:solidFill>
            <a:srgbClr val="123B6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4818888"/>
            <a:ext cx="6126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汇报人：路洋铭 · 吕坤炎
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分工：发射链路（Tx）· 接收链路（Rx）· 系统联调与验证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14400" y="59893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 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57784" y="1170432"/>
            <a:ext cx="1005840" cy="2743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600200"/>
            <a:ext cx="685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600200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项目背景与任务需求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280160" y="2139696"/>
            <a:ext cx="4251960" cy="7315"/>
          </a:xfrm>
          <a:prstGeom prst="rect">
            <a:avLst/>
          </a:prstGeom>
          <a:solidFill>
            <a:srgbClr val="2C5683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2276856"/>
            <a:ext cx="685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276856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系统总体设计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280160" y="2816352"/>
            <a:ext cx="4251960" cy="7315"/>
          </a:xfrm>
          <a:prstGeom prst="rect">
            <a:avLst/>
          </a:prstGeom>
          <a:solidFill>
            <a:srgbClr val="2C5683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953512"/>
            <a:ext cx="685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953512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开发分工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280160" y="3493008"/>
            <a:ext cx="4251960" cy="7315"/>
          </a:xfrm>
          <a:prstGeom prst="rect">
            <a:avLst/>
          </a:prstGeom>
          <a:solidFill>
            <a:srgbClr val="2C5683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630168"/>
            <a:ext cx="685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630168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发射链路实现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280160" y="4169664"/>
            <a:ext cx="4251960" cy="7315"/>
          </a:xfrm>
          <a:prstGeom prst="rect">
            <a:avLst/>
          </a:prstGeom>
          <a:solidFill>
            <a:srgbClr val="2C5683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306824"/>
            <a:ext cx="685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4306824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接收链路实现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280160" y="4846320"/>
            <a:ext cx="4251960" cy="7315"/>
          </a:xfrm>
          <a:prstGeom prst="rect">
            <a:avLst/>
          </a:prstGeom>
          <a:solidFill>
            <a:srgbClr val="2C5683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1600200"/>
            <a:ext cx="685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949440" y="1600200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系统联调与仿真验证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949440" y="2139696"/>
            <a:ext cx="4251960" cy="7315"/>
          </a:xfrm>
          <a:prstGeom prst="rect">
            <a:avLst/>
          </a:prstGeom>
          <a:solidFill>
            <a:srgbClr val="2C5683"/>
          </a:solidFill>
          <a:ln/>
        </p:spPr>
      </p:sp>
      <p:sp>
        <p:nvSpPr>
          <p:cNvPr id="22" name="Text 20"/>
          <p:cNvSpPr/>
          <p:nvPr/>
        </p:nvSpPr>
        <p:spPr>
          <a:xfrm>
            <a:off x="6172200" y="2276856"/>
            <a:ext cx="685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949440" y="2276856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性能测试与优化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949440" y="2816352"/>
            <a:ext cx="4251960" cy="7315"/>
          </a:xfrm>
          <a:prstGeom prst="rect">
            <a:avLst/>
          </a:prstGeom>
          <a:solidFill>
            <a:srgbClr val="2C5683"/>
          </a:solidFill>
          <a:ln/>
        </p:spPr>
      </p:sp>
      <p:sp>
        <p:nvSpPr>
          <p:cNvPr id="25" name="Text 23"/>
          <p:cNvSpPr/>
          <p:nvPr/>
        </p:nvSpPr>
        <p:spPr>
          <a:xfrm>
            <a:off x="6172200" y="2953512"/>
            <a:ext cx="685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949440" y="2953512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硬件联调与排障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949440" y="3493008"/>
            <a:ext cx="4251960" cy="7315"/>
          </a:xfrm>
          <a:prstGeom prst="rect">
            <a:avLst/>
          </a:prstGeom>
          <a:solidFill>
            <a:srgbClr val="2C5683"/>
          </a:solidFill>
          <a:ln/>
        </p:spPr>
      </p:sp>
      <p:sp>
        <p:nvSpPr>
          <p:cNvPr id="28" name="Text 26"/>
          <p:cNvSpPr/>
          <p:nvPr/>
        </p:nvSpPr>
        <p:spPr>
          <a:xfrm>
            <a:off x="6172200" y="3630168"/>
            <a:ext cx="685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949440" y="3630168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949440" y="4169664"/>
            <a:ext cx="4251960" cy="7315"/>
          </a:xfrm>
          <a:prstGeom prst="rect">
            <a:avLst/>
          </a:prstGeom>
          <a:solidFill>
            <a:srgbClr val="2C5683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D:\TDLTE\docs\ppt_build\icons\targe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61288" y="237744"/>
            <a:ext cx="1052748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项目背景与任务需求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61288" y="758952"/>
            <a:ext cx="10527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了解任务: TD-LTE物理层链路 + XSRP软件无线电平台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536921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D:\TDLTE\docs\ppt_build\icons\tower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655064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57276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TD-LTE 物理层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95528" y="2212848"/>
            <a:ext cx="482057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4G 核心: 物理层承载无线信道上的比特流传输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技术: 调制解调、信道编码、多址接入、资源分配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本项目: 实现 PUSCH 结构完整物理层收发链路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19565" y="1325880"/>
            <a:ext cx="536921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93885" y="1554480"/>
            <a:ext cx="502920" cy="50292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13" name="Image 2" descr="D:\TDLTE\docs\ppt_build\icons\dish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469" y="165506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279685" y="157276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XSRP 软件无线电平台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6612173" y="2212848"/>
            <a:ext cx="482057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机箱 + 射频部分 + 基带部分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IQ 数据 DA/AD 转换、上变频、射频天线收发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以太网传输 IQ 数据 (30.72MHz 采样)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7" name="Text 12"/>
          <p:cNvSpPr/>
          <p:nvPr/>
        </p:nvSpPr>
        <p:spPr>
          <a:xfrm>
            <a:off x="502920" y="397764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任务要求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02920" y="4434840"/>
            <a:ext cx="11185855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777240" y="4572000"/>
            <a:ext cx="10637215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功能要求  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根据给定模块接口实现 CRC/码块分割/Turbo编码/调制/导频等功能模块，搭建完整通信系统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指标要求  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发射/接收频率 2380MHz 可设置；发射衰减 1~90dB；接收增益 1~40dB；QPSK/16QAM/64QAM 可切换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验收标准  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完整链路接收数据 CRC 校验正确、误码率为 0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368735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D:\TDLTE\docs\ppt_build\icons\diagra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61288" y="237744"/>
            <a:ext cx="1052748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系统总体设计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61288" y="758952"/>
            <a:ext cx="10527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软硬件总体架构: MATLAB 算法层 + XSRP 射频收发层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280160"/>
            <a:ext cx="8053816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算法实现层 (MATLAB)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181051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0B2B4A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8096" y="1810512"/>
            <a:ext cx="2761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发射链路 Tx (PUSCH)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840480" y="181051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877056" y="1810512"/>
            <a:ext cx="2761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接收链路 Rx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31520" y="2340864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信源→CRC→码块分割→Turbo→速率匹配→…→OFDM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同步→FFT→信道估计→均衡→Turbo译码→解CRC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383524" y="2926080"/>
            <a:ext cx="292608" cy="181417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502920" y="3291840"/>
            <a:ext cx="8053816" cy="548640"/>
          </a:xfrm>
          <a:prstGeom prst="roundRect">
            <a:avLst>
              <a:gd name="adj" fmla="val 13333"/>
            </a:avLst>
          </a:prstGeom>
          <a:solidFill>
            <a:srgbClr val="E8F2F7"/>
          </a:solidFill>
          <a:ln w="12700">
            <a:solidFill>
              <a:srgbClr val="B8D5E4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02920" y="3291840"/>
            <a:ext cx="8053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以太网 UDP 传输 · 采样率 30.72MHz · 每子帧 30720 样点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383524" y="3931920"/>
            <a:ext cx="292608" cy="181417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18" name="Shape 15"/>
          <p:cNvSpPr/>
          <p:nvPr/>
        </p:nvSpPr>
        <p:spPr>
          <a:xfrm>
            <a:off x="502920" y="4297680"/>
            <a:ext cx="8053816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152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XSRP 软件无线电平台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31520" y="4828032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0B2B4A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68096" y="4828032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 转换 + 上变频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743200" y="4828032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0B2B4A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2779776" y="4828032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射频发射 (2.38GHz)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754880" y="4828032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791456" y="4828032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射频接收 + 下变频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766560" y="4828032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803136" y="4828032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 转换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31520" y="537667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空中无线信道 (天线收发)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876776" y="1280160"/>
            <a:ext cx="2811999" cy="4480560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9059656" y="1389888"/>
            <a:ext cx="24462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关键参数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077944" y="184708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 数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955768" y="1847088"/>
            <a:ext cx="156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(20MHz)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077944" y="23225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子载波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9955768" y="2322576"/>
            <a:ext cx="156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1200 (15kHz)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9077944" y="27980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FFT 点数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9955768" y="2798064"/>
            <a:ext cx="156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2048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9077944" y="327355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OFDM符号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955768" y="3273552"/>
            <a:ext cx="156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14/子帧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9077944" y="37490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导频符号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955768" y="3749040"/>
            <a:ext cx="156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3、10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9077944" y="42245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调制方式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9955768" y="4224528"/>
            <a:ext cx="156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QPSK/16QAM/64QAM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9077944" y="47000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载波频率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955768" y="4700016"/>
            <a:ext cx="156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2380 MHz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9077944" y="51755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TB size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955768" y="5175504"/>
            <a:ext cx="156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15840/28336/55056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11368735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D:\TDLTE\docs\ppt_build\icons\users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61288" y="237744"/>
            <a:ext cx="1052748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开发分工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61288" y="758952"/>
            <a:ext cx="10527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 / Rx 双链路并行开发，联调验证共同完成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3467615" cy="4206240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0B2B4A"/>
          </a:solidFill>
          <a:ln/>
        </p:spPr>
      </p:sp>
      <p:pic>
        <p:nvPicPr>
          <p:cNvPr id="8" name="Image 1" descr="D:\TDLTE\docs\ppt_build\icons\tower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773936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468880"/>
            <a:ext cx="2827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路洋铭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2926080"/>
            <a:ext cx="2827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发射链路 Tx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22960" y="3401568"/>
            <a:ext cx="282753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信源生成与 CRC 添加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码块分割 + Turbo 编码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速率匹配与码块级联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加扰、调制、导频生成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资源映射与 OFDM 发射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362040" y="1371600"/>
            <a:ext cx="3467615" cy="4206240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682080" y="16459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4" name="Image 2" descr="D:\TDLTE\docs\ppt_build\icons\chi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0096" y="1773936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82080" y="2468880"/>
            <a:ext cx="2827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吕坤炎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4682080" y="2926080"/>
            <a:ext cx="2827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接收链路 Rx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682080" y="3401568"/>
            <a:ext cx="282753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时频同步 (频偏/定时)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OFDM 解调与解资源映射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信道估计与 MMSE 均衡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解调、解扰、解交织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Turbo 译码与 CRC 校验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221160" y="1371600"/>
            <a:ext cx="3467615" cy="4206240"/>
          </a:xfrm>
          <a:prstGeom prst="roundRect">
            <a:avLst>
              <a:gd name="adj" fmla="val 2110"/>
            </a:avLst>
          </a:prstGeom>
          <a:solidFill>
            <a:srgbClr val="0B2B4A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541200" y="1645920"/>
            <a:ext cx="640080" cy="64008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20" name="Image 3" descr="D:\TDLTE\docs\ppt_build\icons\user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9216" y="177393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541200" y="2468880"/>
            <a:ext cx="2827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共同完成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8541200" y="2926080"/>
            <a:ext cx="2827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链路串通 · 测试验证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541200" y="3401568"/>
            <a:ext cx="282753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全链路串通与联调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误码率/SNR 性能测试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XSRP 硬件排障与优化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可视化调试工具开发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11368735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D:\TDLTE\docs\ppt_build\icons\tower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61288" y="237744"/>
            <a:ext cx="1052748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发射链路实现 (Tx)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61288" y="758952"/>
            <a:ext cx="10527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路洋铭 · 依据 3GPP TS 36.211 / 36.212 实现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611984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0B2B4A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2648560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信源生成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608680" y="175564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9" name="Shape 6"/>
          <p:cNvSpPr/>
          <p:nvPr/>
        </p:nvSpPr>
        <p:spPr>
          <a:xfrm>
            <a:off x="3818992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23B6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855568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添加CRC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815688" y="175564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12" name="Shape 9"/>
          <p:cNvSpPr/>
          <p:nvPr/>
        </p:nvSpPr>
        <p:spPr>
          <a:xfrm>
            <a:off x="5026000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0B2B4A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062576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码块分割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022696" y="175564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233008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23B6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269584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Turbo编码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229704" y="175564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440016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0B2B4A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476592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速率匹配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436712" y="175564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647024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23B6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683600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码块级联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215488" y="278892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0B2B4A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3252064" y="278892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交织加扰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12184" y="299008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26" name="Shape 23"/>
          <p:cNvSpPr/>
          <p:nvPr/>
        </p:nvSpPr>
        <p:spPr>
          <a:xfrm>
            <a:off x="4422496" y="278892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23B6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459072" y="278892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调制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419192" y="299008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29" name="Shape 26"/>
          <p:cNvSpPr/>
          <p:nvPr/>
        </p:nvSpPr>
        <p:spPr>
          <a:xfrm>
            <a:off x="5629504" y="278892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0B2B4A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5666080" y="278892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导频生成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626200" y="299008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32" name="Shape 29"/>
          <p:cNvSpPr/>
          <p:nvPr/>
        </p:nvSpPr>
        <p:spPr>
          <a:xfrm>
            <a:off x="6836512" y="278892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23B6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73088" y="278892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资源映射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833208" y="299008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8043520" y="278892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0B2B4A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8080096" y="278892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OFDM+CP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02920" y="37033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8" name="Text 35"/>
          <p:cNvSpPr/>
          <p:nvPr/>
        </p:nvSpPr>
        <p:spPr>
          <a:xfrm>
            <a:off x="502920" y="370332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关键模块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02920" y="416052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58952" y="43891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41" name="Image 1" descr="D:\TDLTE\docs\ppt_build\icons\che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4480560"/>
            <a:ext cx="274320" cy="274320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1371600" y="4407408"/>
            <a:ext cx="2570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CRC 校验 (CRC24A)</a:t>
            </a:r>
            <a:endParaRPr lang="en-US" sz="1400" dirty="0"/>
          </a:p>
        </p:txBody>
      </p:sp>
      <p:sp>
        <p:nvSpPr>
          <p:cNvPr id="43" name="Text 39"/>
          <p:cNvSpPr/>
          <p:nvPr/>
        </p:nvSpPr>
        <p:spPr>
          <a:xfrm>
            <a:off x="758952" y="4956048"/>
            <a:ext cx="306415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36.212 §5.1.1: 生成多项式 gCRC24A, 获取多项式指数系统后按模2除法计算 24 位校验位, 附在信息后构成可整除序列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4307738" y="416052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45" name="Shape 41"/>
          <p:cNvSpPr/>
          <p:nvPr/>
        </p:nvSpPr>
        <p:spPr>
          <a:xfrm>
            <a:off x="4563770" y="43891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46" name="Image 2" descr="D:\TDLTE\docs\ppt_build\icons\cod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210" y="4480560"/>
            <a:ext cx="274320" cy="274320"/>
          </a:xfrm>
          <a:prstGeom prst="rect">
            <a:avLst/>
          </a:prstGeom>
        </p:spPr>
      </p:pic>
      <p:sp>
        <p:nvSpPr>
          <p:cNvPr id="47" name="Text 42"/>
          <p:cNvSpPr/>
          <p:nvPr/>
        </p:nvSpPr>
        <p:spPr>
          <a:xfrm>
            <a:off x="5176418" y="4407408"/>
            <a:ext cx="2570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Turbo 编码 (PCCC)</a:t>
            </a:r>
            <a:endParaRPr lang="en-US" sz="1400" dirty="0"/>
          </a:p>
        </p:txBody>
      </p:sp>
      <p:sp>
        <p:nvSpPr>
          <p:cNvPr id="48" name="Text 43"/>
          <p:cNvSpPr/>
          <p:nvPr/>
        </p:nvSpPr>
        <p:spPr>
          <a:xfrm>
            <a:off x="4563770" y="4956048"/>
            <a:ext cx="306415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36.212 §5.1.3.2: 两个 8 状态 RSC 子编码器 + 码内交织器, 编码速率 1/3; 交织器采用 QPP 二次置换多项式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8112557" y="416052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50" name="Shape 45"/>
          <p:cNvSpPr/>
          <p:nvPr/>
        </p:nvSpPr>
        <p:spPr>
          <a:xfrm>
            <a:off x="8368589" y="43891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51" name="Image 3" descr="D:\TDLTE\docs\ppt_build\icons\cog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0029" y="4480560"/>
            <a:ext cx="274320" cy="274320"/>
          </a:xfrm>
          <a:prstGeom prst="rect">
            <a:avLst/>
          </a:prstGeom>
        </p:spPr>
      </p:pic>
      <p:sp>
        <p:nvSpPr>
          <p:cNvPr id="52" name="Text 46"/>
          <p:cNvSpPr/>
          <p:nvPr/>
        </p:nvSpPr>
        <p:spPr>
          <a:xfrm>
            <a:off x="8981237" y="4407408"/>
            <a:ext cx="2570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速率匹配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368589" y="4956048"/>
            <a:ext cx="306415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子块交织 + 比特收集; 输入少于输出则循环重复, 多于输出则按优先级打孔 (只丢校验比特, 不丢系统比特)</a:t>
            </a:r>
            <a:endParaRPr lang="en-US" sz="1050" dirty="0"/>
          </a:p>
        </p:txBody>
      </p:sp>
      <p:sp>
        <p:nvSpPr>
          <p:cNvPr id="54" name="Text 48"/>
          <p:cNvSpPr/>
          <p:nvPr/>
        </p:nvSpPr>
        <p:spPr>
          <a:xfrm>
            <a:off x="11368735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D:\TDLTE\docs\ppt_build\icons\chi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61288" y="237744"/>
            <a:ext cx="1052748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接收链路实现 (Rx)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61288" y="758952"/>
            <a:ext cx="10527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吕坤炎 · 与发射链路一一对应，加入同步/信道估计/均衡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611984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2648560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时频同步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608680" y="175564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9" name="Shape 6"/>
          <p:cNvSpPr/>
          <p:nvPr/>
        </p:nvSpPr>
        <p:spPr>
          <a:xfrm>
            <a:off x="3818992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2A86A8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855568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去CP+FFT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815688" y="175564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12" name="Shape 9"/>
          <p:cNvSpPr/>
          <p:nvPr/>
        </p:nvSpPr>
        <p:spPr>
          <a:xfrm>
            <a:off x="5026000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062576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解资源映射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022696" y="175564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233008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2A86A8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269584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信道估计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229704" y="175564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440016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476592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MMSE均衡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436712" y="175564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647024" y="15544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2A86A8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683600" y="155448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软解调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215488" y="278892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3252064" y="278892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解扰解交织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12184" y="299008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26" name="Shape 23"/>
          <p:cNvSpPr/>
          <p:nvPr/>
        </p:nvSpPr>
        <p:spPr>
          <a:xfrm>
            <a:off x="4422496" y="278892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2A86A8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459072" y="278892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解速率匹配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419192" y="299008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29" name="Shape 26"/>
          <p:cNvSpPr/>
          <p:nvPr/>
        </p:nvSpPr>
        <p:spPr>
          <a:xfrm>
            <a:off x="5629504" y="278892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5666080" y="278892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Turbo译码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626200" y="299008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32" name="Shape 29"/>
          <p:cNvSpPr/>
          <p:nvPr/>
        </p:nvSpPr>
        <p:spPr>
          <a:xfrm>
            <a:off x="6836512" y="278892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2A86A8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73088" y="278892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码块汇聚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833208" y="2990088"/>
            <a:ext cx="146304" cy="90708"/>
          </a:xfrm>
          <a:prstGeom prst="rightArrow">
            <a:avLst/>
          </a:prstGeom>
          <a:solidFill>
            <a:srgbClr val="F2A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8043520" y="278892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9AA8B8">
                <a:alpha val="2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8080096" y="2788920"/>
            <a:ext cx="8595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解CRC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02920" y="37033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8" name="Text 35"/>
          <p:cNvSpPr/>
          <p:nvPr/>
        </p:nvSpPr>
        <p:spPr>
          <a:xfrm>
            <a:off x="502920" y="370332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关键模块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02920" y="416052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58952" y="4389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1" name="Image 1" descr="D:\TDLTE\docs\ppt_build\icons\sync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4480560"/>
            <a:ext cx="274320" cy="274320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1371600" y="4407408"/>
            <a:ext cx="2570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时频同步 syncLTE</a:t>
            </a:r>
            <a:endParaRPr lang="en-US" sz="1400" dirty="0"/>
          </a:p>
        </p:txBody>
      </p:sp>
      <p:sp>
        <p:nvSpPr>
          <p:cNvPr id="43" name="Text 39"/>
          <p:cNvSpPr/>
          <p:nvPr/>
        </p:nvSpPr>
        <p:spPr>
          <a:xfrm>
            <a:off x="758952" y="4956048"/>
            <a:ext cx="306415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两级频偏搜索 (粗 ±10kHz/100Hz → 细 ±150Hz/10Hz) + 与已知发送信号的互相关定时, 校正帧偏移与载波频偏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4307738" y="416052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45" name="Shape 41"/>
          <p:cNvSpPr/>
          <p:nvPr/>
        </p:nvSpPr>
        <p:spPr>
          <a:xfrm>
            <a:off x="4563770" y="4389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6" name="Image 2" descr="D:\TDLTE\docs\ppt_build\icons\wav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210" y="4480560"/>
            <a:ext cx="274320" cy="274320"/>
          </a:xfrm>
          <a:prstGeom prst="rect">
            <a:avLst/>
          </a:prstGeom>
        </p:spPr>
      </p:pic>
      <p:sp>
        <p:nvSpPr>
          <p:cNvPr id="47" name="Text 42"/>
          <p:cNvSpPr/>
          <p:nvPr/>
        </p:nvSpPr>
        <p:spPr>
          <a:xfrm>
            <a:off x="5176418" y="4407408"/>
            <a:ext cx="2570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信道估计 + MMSE 均衡</a:t>
            </a:r>
            <a:endParaRPr lang="en-US" sz="1400" dirty="0"/>
          </a:p>
        </p:txBody>
      </p:sp>
      <p:sp>
        <p:nvSpPr>
          <p:cNvPr id="48" name="Text 43"/>
          <p:cNvSpPr/>
          <p:nvPr/>
        </p:nvSpPr>
        <p:spPr>
          <a:xfrm>
            <a:off x="4563770" y="4956048"/>
            <a:ext cx="306415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利用导频符号做 LS 估计, 沿子载波频域平滑降噪 (窗 64); 噪声方差估计后按 MMSE 准则均衡, 提取数据符号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8112557" y="416052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50" name="Shape 45"/>
          <p:cNvSpPr/>
          <p:nvPr/>
        </p:nvSpPr>
        <p:spPr>
          <a:xfrm>
            <a:off x="8368589" y="4389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1" name="Image 3" descr="D:\TDLTE\docs\ppt_build\icons\rout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0029" y="4480560"/>
            <a:ext cx="274320" cy="274320"/>
          </a:xfrm>
          <a:prstGeom prst="rect">
            <a:avLst/>
          </a:prstGeom>
        </p:spPr>
      </p:pic>
      <p:sp>
        <p:nvSpPr>
          <p:cNvPr id="52" name="Text 46"/>
          <p:cNvSpPr/>
          <p:nvPr/>
        </p:nvSpPr>
        <p:spPr>
          <a:xfrm>
            <a:off x="8981237" y="4407408"/>
            <a:ext cx="2570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Turbo 译码 (迭代)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368589" y="4956048"/>
            <a:ext cx="306415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 SISO 译码器迭代交换外信息, LLR 软输入软输出, 最大迭代 24 次, 逐步逼近最大似然译码</a:t>
            </a:r>
            <a:endParaRPr lang="en-US" sz="1050" dirty="0"/>
          </a:p>
        </p:txBody>
      </p:sp>
      <p:sp>
        <p:nvSpPr>
          <p:cNvPr id="54" name="Text 48"/>
          <p:cNvSpPr/>
          <p:nvPr/>
        </p:nvSpPr>
        <p:spPr>
          <a:xfrm>
            <a:off x="11368735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D:\TDLTE\docs\ppt_build\icons\che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61288" y="237744"/>
            <a:ext cx="1052748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系统联调与仿真验证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61288" y="758952"/>
            <a:ext cx="10527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verify_chain.m: 无信道直通端到端验证 Tx→Rx 全链路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5816645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153619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全链路验证结果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02996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调制方式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286000" y="202996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TB size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337560" y="2029968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误码率 BER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297680" y="2029968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CRC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74920" y="202996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77240" y="2450592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QPSK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286000" y="245059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15840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337560" y="245059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297680" y="2450592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74920" y="245059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通过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77240" y="2871216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16QAM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286000" y="287121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28336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337560" y="2871216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297680" y="2871216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74920" y="287121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通过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77240" y="329184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64QAM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2286000" y="329184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55056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337560" y="329184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4297680" y="329184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074920" y="329184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通过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777240" y="3712464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QPSK 小TB(100)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86000" y="371246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 filler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3337560" y="3712464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4297680" y="3712464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074920" y="371246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通过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6766999" y="1371600"/>
            <a:ext cx="4921776" cy="2834640"/>
          </a:xfrm>
          <a:prstGeom prst="roundRect">
            <a:avLst>
              <a:gd name="adj" fmla="val 2581"/>
            </a:avLst>
          </a:prstGeom>
          <a:solidFill>
            <a:srgbClr val="E8F2F7"/>
          </a:solidFill>
          <a:ln w="12700">
            <a:solidFill>
              <a:srgbClr val="B8D5E4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041319" y="1600200"/>
            <a:ext cx="548640" cy="54864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35" name="Image 1" descr="D:\TDLTE\docs\ppt_build\icons\che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047" y="1709928"/>
            <a:ext cx="329184" cy="32918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7772839" y="162763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验证结论</a:t>
            </a:r>
            <a:endParaRPr lang="en-US" sz="1700" dirty="0"/>
          </a:p>
        </p:txBody>
      </p:sp>
      <p:sp>
        <p:nvSpPr>
          <p:cNvPr id="37" name="Text 33"/>
          <p:cNvSpPr/>
          <p:nvPr/>
        </p:nvSpPr>
        <p:spPr>
          <a:xfrm>
            <a:off x="7059607" y="2286000"/>
            <a:ext cx="433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三种调制方式全链路 BER=0、CRC 校验通过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 TB 含 filler + 比特重复场景同样通过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 / Rx 模块实现正确，链路串通成功</a:t>
            </a:r>
            <a:endParaRPr lang="en-US" sz="1250" dirty="0"/>
          </a:p>
        </p:txBody>
      </p:sp>
      <p:sp>
        <p:nvSpPr>
          <p:cNvPr id="38" name="Shape 34"/>
          <p:cNvSpPr/>
          <p:nvPr/>
        </p:nvSpPr>
        <p:spPr>
          <a:xfrm>
            <a:off x="502920" y="45262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52628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联调方法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502920" y="4983480"/>
            <a:ext cx="11185855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41" name="Text 37"/>
          <p:cNvSpPr/>
          <p:nvPr/>
        </p:nvSpPr>
        <p:spPr>
          <a:xfrm>
            <a:off x="777240" y="5120640"/>
            <a:ext cx="1063721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分模块替换验证：</a:t>
            </a:r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将自编模块替换加密 .p 参考模块，运行主程序对比实验现象；逐模块替换、逐级调试，确保与参考实现行为一致后再替换下一模块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端到端验证：</a:t>
            </a:r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自研脚本 verify_chain.m 固定随机种子，Tx 输出直通 Rx 输入，统计 BER 与 CRC</a:t>
            </a:r>
            <a:endParaRPr lang="en-US" sz="1250" dirty="0"/>
          </a:p>
        </p:txBody>
      </p:sp>
      <p:sp>
        <p:nvSpPr>
          <p:cNvPr id="42" name="Text 38"/>
          <p:cNvSpPr/>
          <p:nvPr/>
        </p:nvSpPr>
        <p:spPr>
          <a:xfrm>
            <a:off x="11368735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D:\TDLTE\docs\ppt_build\icons\char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61288" y="237744"/>
            <a:ext cx="1052748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性能测试与优化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61288" y="758952"/>
            <a:ext cx="10527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snr_floor_test.m: 定位各环节 SNR 门槛，逐环节优化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536921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15361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三环节对比测试 (AWGN)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02996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环节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331720" y="202996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800600" y="202996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作用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248716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全链路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331720" y="248716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txIQ+噪声 → 完整收端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800600" y="248716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当前代码门槛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77240" y="294436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理想信道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31720" y="294436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H=1 + 精确噪声方差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800600" y="294436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隔离信道估计损耗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77240" y="340156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纯Turbo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31720" y="340156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编码→BPSK→软解调→译码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800600" y="340156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隔离Turbo/速率匹配损耗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7240" y="3886200"/>
            <a:ext cx="48205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QPSK 理论: 码率≈0.55 Turbo 在 0~4dB bit SNR 即可通过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319565" y="1371600"/>
            <a:ext cx="536921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593885" y="1517904"/>
            <a:ext cx="48205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实测门槛 (CRC=1 最低 bit SNR)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593885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纯Turbo (C)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428525" y="21031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 dB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593885" y="281635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 + 频域平滑 (A)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428525" y="281635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≈1 dB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593885" y="352958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理想信道 (B)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9428525" y="352958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≈1 dB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593885" y="3886200"/>
            <a:ext cx="48205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≈3.3 dB/子载波 · 全链路仅比纯Turbo高 0.5dB，接近理论极限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470916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470916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优化措施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02920" y="5166360"/>
            <a:ext cx="11185855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777240" y="5349240"/>
            <a:ext cx="411480" cy="41148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34" name="Image 1" descr="D:\TDLTE\docs\ppt_build\icons\che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5431536"/>
            <a:ext cx="246888" cy="24688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1325880" y="5303520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频域平滑信道估计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1325880" y="5650992"/>
            <a:ext cx="43127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 估计沿子载波滑动平均 (窗64), 显著降低低 SNR 下估计噪声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6278728" y="5349240"/>
            <a:ext cx="411480" cy="41148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38" name="Image 2" descr="D:\TDLTE\docs\ppt_build\icons\che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024" y="5431536"/>
            <a:ext cx="246888" cy="246888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827368" y="5303520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噪声方差估计</a:t>
            </a:r>
            <a:endParaRPr lang="en-US" sz="1250" dirty="0"/>
          </a:p>
        </p:txBody>
      </p:sp>
      <p:sp>
        <p:nvSpPr>
          <p:cNvPr id="40" name="Text 35"/>
          <p:cNvSpPr/>
          <p:nvPr/>
        </p:nvSpPr>
        <p:spPr>
          <a:xfrm>
            <a:off x="6827368" y="5650992"/>
            <a:ext cx="43127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利用导频残差中位数估计, 保证 MMSE 均衡稳定</a:t>
            </a:r>
            <a:endParaRPr lang="en-US" sz="1050" dirty="0"/>
          </a:p>
        </p:txBody>
      </p:sp>
      <p:sp>
        <p:nvSpPr>
          <p:cNvPr id="41" name="Text 36"/>
          <p:cNvSpPr/>
          <p:nvPr/>
        </p:nvSpPr>
        <p:spPr>
          <a:xfrm>
            <a:off x="11368735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D:\TDLTE\docs\ppt_build\icons\war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61288" y="237744"/>
            <a:ext cx="1052748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硬件联调与排障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61288" y="758952"/>
            <a:ext cx="10527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XSRP 平台以太网环回: UDP 收发 + 时频同步 + 逐项排障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280160"/>
            <a:ext cx="11185855" cy="1005840"/>
          </a:xfrm>
          <a:prstGeom prst="roundRect">
            <a:avLst>
              <a:gd name="adj" fmla="val 7273"/>
            </a:avLst>
          </a:prstGeom>
          <a:solidFill>
            <a:srgbClr val="E8F2F7"/>
          </a:solidFill>
          <a:ln w="12700">
            <a:solidFill>
              <a:srgbClr val="B8D5E4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141732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联调链路：</a:t>
            </a:r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MATLAB Tx → UDP (端口 13344/13345) → XSRP 射频发射 → 空中/直连 → XSRP 接收 → UDP 回传 → syncLTE 同步 → Rx 解调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同步策略：</a:t>
            </a:r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硬件存在未知延迟与频偏，利用已知发送信号做两级频偏搜索 + 互相关定时对齐后再解调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260604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260604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排障历程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3063240"/>
            <a:ext cx="2090867" cy="214884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10610" y="3264408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12" name="Image 1" descr="D:\TDLTE\docs\ppt_build\icons\che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707" y="3359506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" y="320040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67512" y="3931920"/>
            <a:ext cx="1761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UDP 收包修复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67512" y="4434840"/>
            <a:ext cx="1761683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端口/防火墙问题, 122880 字节稳定收发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2776667" y="3063240"/>
            <a:ext cx="2090867" cy="214884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584357" y="3264408"/>
            <a:ext cx="475488" cy="47548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8" name="Image 2" descr="D:\TDLTE\docs\ppt_build\icons\warn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454" y="3359506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913827" y="320040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2941259" y="3931920"/>
            <a:ext cx="1761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路解包修复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2941259" y="4434840"/>
            <a:ext cx="1761683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I/Q 交织解包 + 字节序, 互相关 rho 0.3→0.8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5050414" y="3063240"/>
            <a:ext cx="2090867" cy="214884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858104" y="3264408"/>
            <a:ext cx="475488" cy="47548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4" name="Image 3" descr="D:\TDLTE\docs\ppt_build\icons\warn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3201" y="3359506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187574" y="320040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5215006" y="3931920"/>
            <a:ext cx="1761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RX 削波问题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5215006" y="4434840"/>
            <a:ext cx="1761683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PAPR≈1.14 满幅削波 → 扫 txPeak 2047→50 找无削波工作点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7324161" y="3063240"/>
            <a:ext cx="2090867" cy="214884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131851" y="3264408"/>
            <a:ext cx="475488" cy="47548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30" name="Image 4" descr="D:\TDLTE\docs\ppt_build\icons\warn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6948" y="3359506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461321" y="320040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7488753" y="3931920"/>
            <a:ext cx="1761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64QAM 门限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7488753" y="4434840"/>
            <a:ext cx="1761683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K=16 帧相干平均: rho 0.224→0.292, BER≈1e-4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9597908" y="3063240"/>
            <a:ext cx="2090867" cy="214884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10405598" y="3264408"/>
            <a:ext cx="475488" cy="47548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36" name="Image 5" descr="D:\TDLTE\docs\ppt_build\icons\warn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695" y="3359506"/>
            <a:ext cx="285293" cy="285293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735068" y="320040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9762500" y="3931920"/>
            <a:ext cx="1761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EVM 实测定位</a:t>
            </a:r>
            <a:endParaRPr lang="en-US" sz="1250" dirty="0"/>
          </a:p>
        </p:txBody>
      </p:sp>
      <p:sp>
        <p:nvSpPr>
          <p:cNvPr id="39" name="Text 31"/>
          <p:cNvSpPr/>
          <p:nvPr/>
        </p:nvSpPr>
        <p:spPr>
          <a:xfrm>
            <a:off x="9762500" y="4434840"/>
            <a:ext cx="1761683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每子载波 SNR≈-1.77dB → 判定为设备底噪地板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502920" y="5486400"/>
            <a:ext cx="11185855" cy="777240"/>
          </a:xfrm>
          <a:prstGeom prst="roundRect">
            <a:avLst>
              <a:gd name="adj" fmla="val 9412"/>
            </a:avLst>
          </a:prstGeom>
          <a:solidFill>
            <a:srgbClr val="0B2B4A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41" name="Text 33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算法链路仿真验证全部通过；射频环回受设备底噪/负载影响，OFDM 信号被淹没约 20dB，已定位根因并待标准实验环境终验</a:t>
            </a:r>
            <a:endParaRPr lang="en-US" sz="1250" dirty="0"/>
          </a:p>
        </p:txBody>
      </p:sp>
      <p:sp>
        <p:nvSpPr>
          <p:cNvPr id="42" name="Text 34"/>
          <p:cNvSpPr/>
          <p:nvPr/>
        </p:nvSpPr>
        <p:spPr>
          <a:xfrm>
            <a:off x="11368735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D:\TDLTE\docs\ppt_build\icons\rout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61288" y="237744"/>
            <a:ext cx="1052748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开发过程回顾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61288" y="758952"/>
            <a:ext cx="10527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阶段化推进: 原理 → 模块 → 链路 → 硬件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1853032" y="1600200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Shape 4"/>
          <p:cNvSpPr/>
          <p:nvPr/>
        </p:nvSpPr>
        <p:spPr>
          <a:xfrm>
            <a:off x="2109064" y="1714500"/>
            <a:ext cx="1115568" cy="27432"/>
          </a:xfrm>
          <a:prstGeom prst="rect">
            <a:avLst/>
          </a:prstGeom>
          <a:solidFill>
            <a:srgbClr val="B8D5E4"/>
          </a:solidFill>
          <a:ln/>
        </p:spPr>
      </p:sp>
      <p:sp>
        <p:nvSpPr>
          <p:cNvPr id="8" name="Shape 5"/>
          <p:cNvSpPr/>
          <p:nvPr/>
        </p:nvSpPr>
        <p:spPr>
          <a:xfrm>
            <a:off x="1331824" y="2103120"/>
            <a:ext cx="1298448" cy="3017520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23264" y="2258568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423264" y="2606040"/>
            <a:ext cx="1115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理解任务与协议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441552" y="3337560"/>
            <a:ext cx="10789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 36.211/36.212/36.213, 梳理物理层链路流程与模块接口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24632" y="1600200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Shape 10"/>
          <p:cNvSpPr/>
          <p:nvPr/>
        </p:nvSpPr>
        <p:spPr>
          <a:xfrm>
            <a:off x="3480664" y="1714500"/>
            <a:ext cx="1115568" cy="27432"/>
          </a:xfrm>
          <a:prstGeom prst="rect">
            <a:avLst/>
          </a:prstGeom>
          <a:solidFill>
            <a:srgbClr val="B8D5E4"/>
          </a:solidFill>
          <a:ln/>
        </p:spPr>
      </p:sp>
      <p:sp>
        <p:nvSpPr>
          <p:cNvPr id="14" name="Shape 11"/>
          <p:cNvSpPr/>
          <p:nvPr/>
        </p:nvSpPr>
        <p:spPr>
          <a:xfrm>
            <a:off x="2703424" y="2103120"/>
            <a:ext cx="1298448" cy="3017520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94864" y="2258568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794864" y="2606040"/>
            <a:ext cx="1115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 链路实现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813152" y="3337560"/>
            <a:ext cx="10789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路洋铭: 信源→CRC→码块分割→Turbo→速率匹配→级联→交织加扰→调制→导频→资源映射→OFDM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96232" y="1600200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Shape 16"/>
          <p:cNvSpPr/>
          <p:nvPr/>
        </p:nvSpPr>
        <p:spPr>
          <a:xfrm>
            <a:off x="4852264" y="1714500"/>
            <a:ext cx="1115568" cy="27432"/>
          </a:xfrm>
          <a:prstGeom prst="rect">
            <a:avLst/>
          </a:prstGeom>
          <a:solidFill>
            <a:srgbClr val="B8D5E4"/>
          </a:solidFill>
          <a:ln/>
        </p:spPr>
      </p:sp>
      <p:sp>
        <p:nvSpPr>
          <p:cNvPr id="20" name="Shape 17"/>
          <p:cNvSpPr/>
          <p:nvPr/>
        </p:nvSpPr>
        <p:spPr>
          <a:xfrm>
            <a:off x="4075024" y="2103120"/>
            <a:ext cx="1298448" cy="3017520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66464" y="2258568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166464" y="2606040"/>
            <a:ext cx="1115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Rx 链路实现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184752" y="3337560"/>
            <a:ext cx="10789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吕坤炎: 同步→FFT→解资源映射→信道估计→均衡→解调→解扰→解交织→解速率匹配→Turbo译码→解CRC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967832" y="1600200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Shape 22"/>
          <p:cNvSpPr/>
          <p:nvPr/>
        </p:nvSpPr>
        <p:spPr>
          <a:xfrm>
            <a:off x="6223864" y="1714500"/>
            <a:ext cx="1115568" cy="27432"/>
          </a:xfrm>
          <a:prstGeom prst="rect">
            <a:avLst/>
          </a:prstGeom>
          <a:solidFill>
            <a:srgbClr val="B8D5E4"/>
          </a:solidFill>
          <a:ln/>
        </p:spPr>
      </p:sp>
      <p:sp>
        <p:nvSpPr>
          <p:cNvPr id="26" name="Shape 23"/>
          <p:cNvSpPr/>
          <p:nvPr/>
        </p:nvSpPr>
        <p:spPr>
          <a:xfrm>
            <a:off x="5446624" y="2103120"/>
            <a:ext cx="1298448" cy="3017520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538064" y="2258568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538064" y="2606040"/>
            <a:ext cx="1115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链路串通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5556352" y="3337560"/>
            <a:ext cx="10789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分模块替换验证 + verify_chain 端到端验证, 三种调制 BER=0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7339432" y="1600200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Shape 28"/>
          <p:cNvSpPr/>
          <p:nvPr/>
        </p:nvSpPr>
        <p:spPr>
          <a:xfrm>
            <a:off x="7595464" y="1714500"/>
            <a:ext cx="1115568" cy="27432"/>
          </a:xfrm>
          <a:prstGeom prst="rect">
            <a:avLst/>
          </a:prstGeom>
          <a:solidFill>
            <a:srgbClr val="B8D5E4"/>
          </a:solidFill>
          <a:ln/>
        </p:spPr>
      </p:sp>
      <p:sp>
        <p:nvSpPr>
          <p:cNvPr id="32" name="Shape 29"/>
          <p:cNvSpPr/>
          <p:nvPr/>
        </p:nvSpPr>
        <p:spPr>
          <a:xfrm>
            <a:off x="6818224" y="2103120"/>
            <a:ext cx="1298448" cy="3017520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09664" y="2258568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阶段5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909664" y="2606040"/>
            <a:ext cx="1115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性能优化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27952" y="3337560"/>
            <a:ext cx="10789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snr_floor_test 定位损耗, 频域平滑+噪声方差估计, QPSK 门槛降到 ≈1dB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8711032" y="1600200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7" name="Shape 34"/>
          <p:cNvSpPr/>
          <p:nvPr/>
        </p:nvSpPr>
        <p:spPr>
          <a:xfrm>
            <a:off x="8967064" y="1714500"/>
            <a:ext cx="1115568" cy="27432"/>
          </a:xfrm>
          <a:prstGeom prst="rect">
            <a:avLst/>
          </a:prstGeom>
          <a:solidFill>
            <a:srgbClr val="B8D5E4"/>
          </a:solidFill>
          <a:ln/>
        </p:spPr>
      </p:sp>
      <p:sp>
        <p:nvSpPr>
          <p:cNvPr id="38" name="Shape 35"/>
          <p:cNvSpPr/>
          <p:nvPr/>
        </p:nvSpPr>
        <p:spPr>
          <a:xfrm>
            <a:off x="8189824" y="2103120"/>
            <a:ext cx="1298448" cy="3017520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281264" y="2258568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阶段6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8281264" y="2606040"/>
            <a:ext cx="1115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硬件联调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8299552" y="3337560"/>
            <a:ext cx="10789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XSRP 环回, UDP 收发, 同步算法, 逐项排障 (解包/削波/相干平均/EVM)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10082632" y="1600200"/>
            <a:ext cx="256032" cy="256032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43" name="Shape 40"/>
          <p:cNvSpPr/>
          <p:nvPr/>
        </p:nvSpPr>
        <p:spPr>
          <a:xfrm>
            <a:off x="9561424" y="2103120"/>
            <a:ext cx="1298448" cy="3017520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652864" y="2258568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阶段7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652864" y="2606040"/>
            <a:ext cx="1115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工具与收尾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9671152" y="3337560"/>
            <a:ext cx="10789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可视化界面 td_lte_visualizer, 排障报告整理, 多轮代码评审与优化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11368735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D:\TDLTE\docs\ppt_build\icons\bulb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61288" y="237744"/>
            <a:ext cx="1052748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61288" y="758952"/>
            <a:ext cx="105274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成果回顾 · 收获 · 后续工作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6711513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14630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项目成果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95528" y="2011680"/>
            <a:ext cx="384048" cy="384048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9" name="Image 1" descr="D:\TDLTE\docs\ppt_build\icons\che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338" y="2088490"/>
            <a:ext cx="230429" cy="23042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44168" y="1965960"/>
            <a:ext cx="561423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完整实现 TD-LTE 物理层 PUSCH 收发链路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1344168" y="2313432"/>
            <a:ext cx="561423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 11 个模块 + Rx 11 个模块, 全部依据 3GPP 36.211/36.212 实现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95528" y="2688336"/>
            <a:ext cx="384048" cy="384048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13" name="Image 2" descr="D:\TDLTE\docs\ppt_build\icons\che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338" y="2765146"/>
            <a:ext cx="230429" cy="23042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44168" y="2642616"/>
            <a:ext cx="561423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全链路验证通过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344168" y="2990088"/>
            <a:ext cx="561423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QPSK / 16QAM / 64QAM 误码率 0、CRC 校验正确, 含小 TB 场景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95528" y="3364992"/>
            <a:ext cx="384048" cy="384048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17" name="Image 3" descr="D:\TDLTE\docs\ppt_build\icons\check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338" y="3441802"/>
            <a:ext cx="230429" cy="23042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44168" y="3319272"/>
            <a:ext cx="561423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性能接近理论极限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1344168" y="3666744"/>
            <a:ext cx="561423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QPSK 约 1dB bit SNR 即可通过 (≈3.3dB/子载波), 距纯 Turbo 门槛仅 0.5dB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795528" y="4041648"/>
            <a:ext cx="384048" cy="384048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21" name="Image 4" descr="D:\TDLTE\docs\ppt_build\icons\check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338" y="4118458"/>
            <a:ext cx="230429" cy="230429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44168" y="3995928"/>
            <a:ext cx="561423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硬件联调与排障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1344168" y="4343400"/>
            <a:ext cx="561423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UDP 收发稳定, 完成同步/解包/削波/相干平均等系列排障, 定位设备底噪根因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795528" y="4718304"/>
            <a:ext cx="384048" cy="384048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25" name="Image 5" descr="D:\TDLTE\docs\ppt_build\icons\check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338" y="4795114"/>
            <a:ext cx="230429" cy="230429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344168" y="4672584"/>
            <a:ext cx="561423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工具沉淀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1344168" y="5020056"/>
            <a:ext cx="561423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可视化调试界面 td_lte_visualizer + 自动化验证/测试脚本 + 排障报告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7661867" y="1325880"/>
            <a:ext cx="4026908" cy="2011680"/>
          </a:xfrm>
          <a:prstGeom prst="roundRect">
            <a:avLst>
              <a:gd name="adj" fmla="val 3636"/>
            </a:avLst>
          </a:prstGeom>
          <a:solidFill>
            <a:srgbClr val="0B2B4A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29" name="Text 21"/>
          <p:cNvSpPr/>
          <p:nvPr/>
        </p:nvSpPr>
        <p:spPr>
          <a:xfrm>
            <a:off x="7890467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收获</a:t>
            </a:r>
            <a:endParaRPr lang="en-US" sz="1500" dirty="0"/>
          </a:p>
        </p:txBody>
      </p:sp>
      <p:sp>
        <p:nvSpPr>
          <p:cNvPr id="30" name="Text 22"/>
          <p:cNvSpPr/>
          <p:nvPr/>
        </p:nvSpPr>
        <p:spPr>
          <a:xfrm>
            <a:off x="7890467" y="1901952"/>
            <a:ext cx="356970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 + 系统化搭建通信系统的能力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深入理解 LTE 物理层协议与实现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软硬件联调与排障实战经验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7661867" y="3520440"/>
            <a:ext cx="402690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8">
                <a:alpha val="25000"/>
              </a:srgbClr>
            </a:outerShdw>
          </a:effectLst>
        </p:spPr>
      </p:sp>
      <p:sp>
        <p:nvSpPr>
          <p:cNvPr id="32" name="Text 24"/>
          <p:cNvSpPr/>
          <p:nvPr/>
        </p:nvSpPr>
        <p:spPr>
          <a:xfrm>
            <a:off x="7890467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7890467" y="4096512"/>
            <a:ext cx="356970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TD-LTE 实验环境完成硬件终验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支持更高阶调制与多天线扩展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尝试下行链路 (PDSCH) 实现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368735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85216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" y="585216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5852160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Shape 3"/>
          <p:cNvSpPr/>
          <p:nvPr/>
        </p:nvSpPr>
        <p:spPr>
          <a:xfrm>
            <a:off x="1572768" y="585216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1883664" y="585216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2194560" y="5852160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8" name="Shape 6"/>
          <p:cNvSpPr/>
          <p:nvPr/>
        </p:nvSpPr>
        <p:spPr>
          <a:xfrm>
            <a:off x="2505456" y="585216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3774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恳请各位老师批评指正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 · 欢迎提问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路洋铭 · 吕坤炎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基于软件无线电平台的TD-LTE物理层协议通信系统设计</dc:title>
  <dc:subject>PptxGenJS Presentation</dc:subject>
  <dc:creator>路洋铭 吕坤炎</dc:creator>
  <cp:lastModifiedBy>路洋铭 吕坤炎</cp:lastModifiedBy>
  <cp:revision>1</cp:revision>
  <dcterms:created xsi:type="dcterms:W3CDTF">2026-08-27T12:39:15Z</dcterms:created>
  <dcterms:modified xsi:type="dcterms:W3CDTF">2026-08-27T12:39:15Z</dcterms:modified>
</cp:coreProperties>
</file>